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C67C70-95DA-429D-0245-EE447854EE29}" v="40" dt="2026-09-10T06:37:57.7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3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6B5E"/>
                </a:solidFill>
                <a:latin typeface="Consolas"/>
              </a:rPr>
              <a:t>MOMENTS &amp; MEMORIES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891746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200" b="0">
                <a:solidFill>
                  <a:srgbClr val="FFFFFF"/>
                </a:solidFill>
                <a:latin typeface="Georgia"/>
              </a:rPr>
              <a:t>The road to $1,000,000 a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32304"/>
            <a:ext cx="6959973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400" b="0">
                <a:solidFill>
                  <a:srgbClr val="C3CAD6"/>
                </a:solidFill>
                <a:latin typeface="Calibri"/>
              </a:rPr>
              <a:t>The objective is one million dollars of recurring revenue every month — $12 million a year. This is what that requires, how we get there stage by stage, and what it costs to build.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438144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6B5E"/>
                </a:solidFill>
                <a:latin typeface="Consolas"/>
              </a:rPr>
              <a:t>WHAT $1,000,000 A MONTH IS MADE OF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749039"/>
            <a:ext cx="2526715" cy="1042415"/>
          </a:xfrm>
          <a:prstGeom prst="rect">
            <a:avLst/>
          </a:prstGeom>
          <a:solidFill>
            <a:srgbClr val="2C3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3913632"/>
            <a:ext cx="2234107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Georgia"/>
              </a:rPr>
              <a:t>1,360,000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370832"/>
            <a:ext cx="223410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949DAC"/>
                </a:solidFill>
                <a:latin typeface="Consolas"/>
              </a:rPr>
              <a:t>monthly active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1659" y="4151376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6B5E"/>
                </a:solidFill>
                <a:latin typeface="Calibri"/>
              </a:rPr>
              <a:t>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41115" y="3749039"/>
            <a:ext cx="2526715" cy="1042415"/>
          </a:xfrm>
          <a:prstGeom prst="rect">
            <a:avLst/>
          </a:prstGeom>
          <a:solidFill>
            <a:srgbClr val="2C3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87419" y="3913632"/>
            <a:ext cx="2234107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Georgia"/>
              </a:rPr>
              <a:t>136,000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7419" y="4370832"/>
            <a:ext cx="223410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949DAC"/>
                </a:solidFill>
                <a:latin typeface="Consolas"/>
              </a:rPr>
              <a:t>paying subscribers · 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4407" y="4151376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6B5E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3863" y="3749039"/>
            <a:ext cx="2526715" cy="1042415"/>
          </a:xfrm>
          <a:prstGeom prst="rect">
            <a:avLst/>
          </a:prstGeom>
          <a:solidFill>
            <a:srgbClr val="2C3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70167" y="3913632"/>
            <a:ext cx="2234107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Georgia"/>
              </a:rPr>
              <a:t>$7.35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4370832"/>
            <a:ext cx="223410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949DAC"/>
                </a:solidFill>
                <a:latin typeface="Consolas"/>
              </a:rPr>
              <a:t>net revenue each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87155" y="4151376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6B5E"/>
                </a:solidFill>
                <a:latin typeface="Calibri"/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611" y="3749039"/>
            <a:ext cx="2526715" cy="1042415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52915" y="3913632"/>
            <a:ext cx="2234107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Georgia"/>
              </a:rPr>
              <a:t>$1,000,000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2915" y="4370832"/>
            <a:ext cx="223410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FFFFFF"/>
                </a:solidFill>
                <a:latin typeface="Consolas"/>
              </a:rPr>
              <a:t>every 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084064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6B5E"/>
                </a:solidFill>
                <a:latin typeface="Consolas"/>
              </a:rPr>
              <a:t>AND IF CONVERSION LANDS DIFFERENTLY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376672"/>
            <a:ext cx="7132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Georgia"/>
              </a:rPr>
              <a:t>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5449824"/>
            <a:ext cx="1719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949DAC"/>
                </a:solidFill>
                <a:latin typeface="Consolas"/>
              </a:rPr>
              <a:t>2.27M users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47287" y="5376672"/>
            <a:ext cx="7132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Georgia"/>
              </a:rPr>
              <a:t>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97096" y="5449824"/>
            <a:ext cx="1719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949DAC"/>
                </a:solidFill>
                <a:latin typeface="Consolas"/>
              </a:rPr>
              <a:t>1.70M users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7" y="5376672"/>
            <a:ext cx="7132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FF6B5E"/>
                </a:solidFill>
                <a:latin typeface="Georgia"/>
              </a:rPr>
              <a:t>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5449824"/>
            <a:ext cx="1719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FF6B5E"/>
                </a:solidFill>
                <a:latin typeface="Consolas"/>
              </a:rPr>
              <a:t>1.36M users · the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25128" y="5376672"/>
            <a:ext cx="7132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Georgia"/>
              </a:rPr>
              <a:t>12%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74936" y="5449824"/>
            <a:ext cx="1719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949DAC"/>
                </a:solidFill>
                <a:latin typeface="Consolas"/>
              </a:rPr>
              <a:t>1.13M users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998464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748092"/>
                </a:solidFill>
                <a:latin typeface="Consolas"/>
              </a:rPr>
              <a:t>All figures in US dollars · prepared for client review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F3327"/>
                </a:solidFill>
                <a:latin typeface="Consolas"/>
              </a:rPr>
              <a:t>THE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600" b="0">
                <a:solidFill>
                  <a:srgbClr val="10131A"/>
                </a:solidFill>
                <a:latin typeface="Georgia"/>
              </a:rPr>
              <a:t>One server today. A global platform at $1M a month.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978746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Six stages. We move to the next one only when the current one has reached a real limit — and never by rebuilding. The same components grow the whole way.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19072"/>
            <a:ext cx="822960" cy="32004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entagon 5"/>
          <p:cNvSpPr/>
          <p:nvPr/>
        </p:nvSpPr>
        <p:spPr>
          <a:xfrm>
            <a:off x="658368" y="1920239"/>
            <a:ext cx="1867357" cy="731520"/>
          </a:xfrm>
          <a:prstGeom prst="homePlate">
            <a:avLst/>
          </a:prstGeom>
          <a:solidFill>
            <a:srgbClr val="5C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182880" bIns="18288" rtlCol="0" anchor="ctr"/>
          <a:lstStyle/>
          <a:p>
            <a:pPr algn="ctr">
              <a:lnSpc>
                <a:spcPct val="102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1
One server</a:t>
            </a:r>
          </a:p>
        </p:txBody>
      </p:sp>
      <p:sp>
        <p:nvSpPr>
          <p:cNvPr id="7" name="Pentagon 6"/>
          <p:cNvSpPr/>
          <p:nvPr/>
        </p:nvSpPr>
        <p:spPr>
          <a:xfrm>
            <a:off x="2470861" y="1920239"/>
            <a:ext cx="1867357" cy="731520"/>
          </a:xfrm>
          <a:prstGeom prst="homePlate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182880" bIns="18288" rtlCol="0" anchor="ctr"/>
          <a:lstStyle/>
          <a:p>
            <a:pPr algn="ctr">
              <a:lnSpc>
                <a:spcPct val="102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2
Managed cloud</a:t>
            </a:r>
          </a:p>
        </p:txBody>
      </p:sp>
      <p:sp>
        <p:nvSpPr>
          <p:cNvPr id="8" name="Pentagon 7"/>
          <p:cNvSpPr/>
          <p:nvPr/>
        </p:nvSpPr>
        <p:spPr>
          <a:xfrm>
            <a:off x="4283354" y="1920239"/>
            <a:ext cx="1867357" cy="731520"/>
          </a:xfrm>
          <a:prstGeom prst="homePlate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182880" bIns="18288" rtlCol="0" anchor="ctr"/>
          <a:lstStyle/>
          <a:p>
            <a:pPr algn="ctr">
              <a:lnSpc>
                <a:spcPct val="102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3
High availability</a:t>
            </a:r>
          </a:p>
        </p:txBody>
      </p:sp>
      <p:sp>
        <p:nvSpPr>
          <p:cNvPr id="9" name="Pentagon 8"/>
          <p:cNvSpPr/>
          <p:nvPr/>
        </p:nvSpPr>
        <p:spPr>
          <a:xfrm>
            <a:off x="6095847" y="1920239"/>
            <a:ext cx="1867357" cy="731520"/>
          </a:xfrm>
          <a:prstGeom prst="homePlate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182880" bIns="18288" rtlCol="0" anchor="ctr"/>
          <a:lstStyle/>
          <a:p>
            <a:pPr algn="ctr">
              <a:lnSpc>
                <a:spcPct val="102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4
Two regions</a:t>
            </a:r>
          </a:p>
        </p:txBody>
      </p:sp>
      <p:sp>
        <p:nvSpPr>
          <p:cNvPr id="10" name="Pentagon 9"/>
          <p:cNvSpPr/>
          <p:nvPr/>
        </p:nvSpPr>
        <p:spPr>
          <a:xfrm>
            <a:off x="7908340" y="1920239"/>
            <a:ext cx="1867357" cy="731520"/>
          </a:xfrm>
          <a:prstGeom prst="homePlate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182880" bIns="18288" rtlCol="0" anchor="ctr"/>
          <a:lstStyle/>
          <a:p>
            <a:pPr algn="ctr">
              <a:lnSpc>
                <a:spcPct val="102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5
Three regions</a:t>
            </a:r>
          </a:p>
        </p:txBody>
      </p:sp>
      <p:sp>
        <p:nvSpPr>
          <p:cNvPr id="11" name="Pentagon 10"/>
          <p:cNvSpPr/>
          <p:nvPr/>
        </p:nvSpPr>
        <p:spPr>
          <a:xfrm>
            <a:off x="9720834" y="1920239"/>
            <a:ext cx="1867357" cy="731520"/>
          </a:xfrm>
          <a:prstGeom prst="homePlate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182880" bIns="18288" rtlCol="0" anchor="ctr"/>
          <a:lstStyle/>
          <a:p>
            <a:pPr algn="ctr">
              <a:lnSpc>
                <a:spcPct val="102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6
$1M a month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2834639"/>
          <a:ext cx="10625328" cy="2359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3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Infrastructure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Users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Subscribers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Revenue / month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Infra cost / month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Infra % of revenue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13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131A"/>
                          </a:solidFill>
                          <a:latin typeface="Calibri"/>
                        </a:rPr>
                        <a:t>One virtual server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1,000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30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$220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$40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18%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13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131A"/>
                          </a:solidFill>
                          <a:latin typeface="Calibri"/>
                        </a:rPr>
                        <a:t>Managed cloud, one zone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10,000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500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$3,675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$799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22%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13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131A"/>
                          </a:solidFill>
                          <a:latin typeface="Calibri"/>
                        </a:rPr>
                        <a:t>Multi-zone, one region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100,000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8,000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$58,800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$8,958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15%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13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131A"/>
                          </a:solidFill>
                          <a:latin typeface="Calibri"/>
                        </a:rPr>
                        <a:t>Two regions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500,000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47,500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$349,125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$58,770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17%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13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131A"/>
                          </a:solidFill>
                          <a:latin typeface="Calibri"/>
                        </a:rPr>
                        <a:t>Three regions, global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1,000,000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100,000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$735,000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$131,842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0131A"/>
                          </a:solidFill>
                          <a:latin typeface="Consolas"/>
                        </a:rPr>
                        <a:t>18%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013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0131A"/>
                          </a:solidFill>
                          <a:latin typeface="Calibri"/>
                        </a:rPr>
                        <a:t>Three regions, scaled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0131A"/>
                          </a:solidFill>
                          <a:latin typeface="Consolas"/>
                        </a:rPr>
                        <a:t>1,360,000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0131A"/>
                          </a:solidFill>
                          <a:latin typeface="Consolas"/>
                        </a:rPr>
                        <a:t>136,000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0131A"/>
                          </a:solidFill>
                          <a:latin typeface="Consolas"/>
                        </a:rPr>
                        <a:t>$1,000,000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0131A"/>
                          </a:solidFill>
                          <a:latin typeface="Consolas"/>
                        </a:rPr>
                        <a:t>$222,673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0131A"/>
                          </a:solidFill>
                          <a:latin typeface="Consolas"/>
                        </a:rPr>
                        <a:t>22%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58368" y="5266944"/>
            <a:ext cx="10874959" cy="822960"/>
          </a:xfrm>
          <a:prstGeom prst="rect">
            <a:avLst/>
          </a:prstGeom>
          <a:solidFill>
            <a:srgbClr val="E6F2F0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5266944"/>
            <a:ext cx="41148" cy="822960"/>
          </a:xfrm>
          <a:prstGeom prst="rect">
            <a:avLst/>
          </a:prstGeom>
          <a:solidFill>
            <a:srgbClr val="0E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5394959"/>
            <a:ext cx="1047262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E6A60"/>
                </a:solidFill>
                <a:latin typeface="Consolas"/>
              </a:rPr>
              <a:t>THE POINT OF THIS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5650992"/>
            <a:ext cx="1047262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38414F"/>
                </a:solidFill>
                <a:latin typeface="Calibri"/>
              </a:rPr>
              <a:t>Infrastructure never exceeds 22% of revenue at any stage — and it is only $40 a month while the product is still unproven. What we spend follows what we earn, because every layer is billed on use rather than bought in advance.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19088"/>
            <a:ext cx="869996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The six stages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5C6675"/>
                </a:solidFill>
                <a:latin typeface="Consolas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F3327"/>
                </a:solidFill>
                <a:latin typeface="Consolas"/>
              </a:rPr>
              <a:t>STAGES 1 AND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600" b="0">
                <a:solidFill>
                  <a:srgbClr val="10131A"/>
                </a:solidFill>
                <a:latin typeface="Georgia"/>
              </a:rPr>
              <a:t>Prove it on one server. Then hand the hard parts over.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978746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Stage 1 costs less than a phone contract. Stage 2 removes the single point of failure — and moves no data to do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19072"/>
            <a:ext cx="822960" cy="32004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920239"/>
            <a:ext cx="5254599" cy="39136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920239"/>
            <a:ext cx="5254599" cy="438912"/>
          </a:xfrm>
          <a:prstGeom prst="rect">
            <a:avLst/>
          </a:prstGeom>
          <a:solidFill>
            <a:srgbClr val="5C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029967"/>
            <a:ext cx="485226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nsolas"/>
              </a:rPr>
              <a:t>STAGE 1  ·  ONE SERVER  ·  0 TO 1,000 USERS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59" y="2487168"/>
          <a:ext cx="4919472" cy="19751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29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What runs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App, workers and database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1 server, 4 vCPU / 8 GB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$24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Photos, video and voice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Cloudflare object storage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$11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Second copy of originals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Backblaze, another vendor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$4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CDN, SSL, DDoS shield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Cloudflare, free plan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Cloudflare, at cost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0131A"/>
                          </a:solidFill>
                          <a:latin typeface="Calibri"/>
                        </a:rPr>
                        <a:t>Total per month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0131A"/>
                          </a:solidFill>
                          <a:latin typeface="Consolas"/>
                        </a:rPr>
                        <a:t>$40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59" y="4773168"/>
            <a:ext cx="4888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WHY WE DO NOT STAY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5047488"/>
            <a:ext cx="4888839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00" b="0">
                <a:solidFill>
                  <a:srgbClr val="38414F"/>
                </a:solidFill>
                <a:latin typeface="Calibri"/>
              </a:rPr>
              <a:t>One machine is one power cut. No failover, no zero-downtime release, and backups are a manual habit. Acceptable while we are proving people want this — not while holding a promise to deliver twenty years from now.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1920239"/>
            <a:ext cx="5254599" cy="39136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78727" y="1920239"/>
            <a:ext cx="5254599" cy="438912"/>
          </a:xfrm>
          <a:prstGeom prst="rect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1607" y="2029967"/>
            <a:ext cx="485226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nsolas"/>
              </a:rPr>
              <a:t>STAGE 2  ·  MANAGED CLOUD  ·  TO 10,000 USERS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43319" y="2487168"/>
          <a:ext cx="4919471" cy="2217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What changes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App and workers become containers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AWS, autoscaled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$43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Video processing, interruptible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AWS spot capacity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$37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Database becomes managed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AWS Aurora MySQL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$180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Traffic entry and health checks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AWS load balancer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$62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Storage — unchanged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the same two buckets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$272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Firewall and bot filtering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Cloudflare Pro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$25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Monitoring, analytics, CI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still on free tiers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0131A"/>
                          </a:solidFill>
                          <a:latin typeface="Calibri"/>
                        </a:rPr>
                        <a:t>Total per month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0131A"/>
                          </a:solidFill>
                          <a:latin typeface="Consolas"/>
                        </a:rPr>
                        <a:t>$799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443319" y="4773168"/>
            <a:ext cx="4888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E6A60"/>
                </a:solidFill>
                <a:latin typeface="Consolas"/>
              </a:rPr>
              <a:t>WHAT IT BUYS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3319" y="5047488"/>
            <a:ext cx="4888839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00" b="0">
                <a:solidFill>
                  <a:srgbClr val="38414F"/>
                </a:solidFill>
                <a:latin typeface="Calibri"/>
              </a:rPr>
              <a:t>Continuous backups with point-in-time recovery, capacity that follows demand, and releases that roll back in seconds. The storage buckets never move — so there is no data migration here, or at any later stage.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19088"/>
            <a:ext cx="869996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One server to managed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5C6675"/>
                </a:solidFill>
                <a:latin typeface="Consolas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F3327"/>
                </a:solidFill>
                <a:latin typeface="Consolas"/>
              </a:rPr>
              <a:t>STAGES 3 AND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600" b="0">
                <a:solidFill>
                  <a:srgbClr val="10131A"/>
                </a:solidFill>
                <a:latin typeface="Georgia"/>
              </a:rPr>
              <a:t>Survive a datacentre. Then cross an ocean.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978746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Stage 3 removes the datacentre as a single point of failure. Stage 4 puts the application near the customer instead of near 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19072"/>
            <a:ext cx="822960" cy="32004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920239"/>
            <a:ext cx="5254599" cy="39136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920239"/>
            <a:ext cx="5254599" cy="438912"/>
          </a:xfrm>
          <a:prstGeom prst="rect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029967"/>
            <a:ext cx="485226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nsolas"/>
              </a:rPr>
              <a:t>STAGE 3  ·  HIGH AVAILABILITY  ·  TO 100,000 USERS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59" y="2487168"/>
          <a:ext cx="4919472" cy="2217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7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What we add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Containers across three zones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a whole zone can fail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$1,000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A database read replica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reads outgrow one node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$770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Database capacity, 4x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more concurrent writing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incl.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Private networking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nothing public but the edge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$60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Storage — now 270 TB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the archive is growing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$5,338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Cloudflare Business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higher limits, better routing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$330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Paid monitoring and AI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free tiers outgrown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$1,460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0131A"/>
                          </a:solidFill>
                          <a:latin typeface="Calibri"/>
                        </a:rPr>
                        <a:t>Total per month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0131A"/>
                          </a:solidFill>
                          <a:latin typeface="Consolas"/>
                        </a:rPr>
                        <a:t>$8,958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59" y="4773168"/>
            <a:ext cx="4888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E6A60"/>
                </a:solidFill>
                <a:latin typeface="Consolas"/>
              </a:rPr>
              <a:t>WHERE THE MONEY STANDS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5047488"/>
            <a:ext cx="4888839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00" b="0">
                <a:solidFill>
                  <a:srgbClr val="38414F"/>
                </a:solidFill>
                <a:latin typeface="Calibri"/>
              </a:rPr>
              <a:t>8,000 subscribers paying $58,800 a month against $8,958 of infrastructure. This is the first stage where the platform comfortably pays for itself. What it does not yet pay for is the team building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1920239"/>
            <a:ext cx="5254599" cy="39136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78727" y="1920239"/>
            <a:ext cx="5254599" cy="438912"/>
          </a:xfrm>
          <a:prstGeom prst="rect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1607" y="2029967"/>
            <a:ext cx="485226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nsolas"/>
              </a:rPr>
              <a:t>STAGE 4  ·  TWO REGIONS  ·  TO 500,000 USERS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43319" y="2487168"/>
          <a:ext cx="4919472" cy="2176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7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What we add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A second region, in the US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300 ms writes become 40 ms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$2,700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Cross-region read replica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reads served locally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incl.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Geographic traffic steering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users meet the nearer region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$50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Storage — now 2.19 PB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by far the largest line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$41,377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Analytics warehouse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reporting off the live database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$100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Compute, database, CDN, AI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scaled with the user base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$14,543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0131A"/>
                          </a:solidFill>
                          <a:latin typeface="Calibri"/>
                        </a:rPr>
                        <a:t>Total per month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0131A"/>
                          </a:solidFill>
                          <a:latin typeface="Consolas"/>
                        </a:rPr>
                        <a:t>$58,770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443319" y="4773168"/>
            <a:ext cx="4888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ONE WRITER, MANY READERS — DELIBERATELY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3319" y="5047488"/>
            <a:ext cx="4888839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00" b="0">
                <a:solidFill>
                  <a:srgbClr val="38414F"/>
                </a:solidFill>
                <a:latin typeface="Calibri"/>
              </a:rPr>
              <a:t>Reads happen in the customer’s region; every write still goes to one database. That is what keeps a sealed message and its delivery schedule inside a single transaction — the guarantee the whole product rests 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19088"/>
            <a:ext cx="869996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High availability to two regions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5C6675"/>
                </a:solidFill>
                <a:latin typeface="Consolas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F3327"/>
                </a:solidFill>
                <a:latin typeface="Consolas"/>
              </a:rPr>
              <a:t>STAGES 5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600" b="0">
                <a:solidFill>
                  <a:srgbClr val="10131A"/>
                </a:solidFill>
                <a:latin typeface="Georgia"/>
              </a:rPr>
              <a:t>The global platform, and its shape at $1M a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978746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Nothing new is introduced in the last two stages. It is the same three-region system, holding more and serving more.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19072"/>
            <a:ext cx="822960" cy="32004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920239"/>
          <a:ext cx="8503920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Stage 5 · 1,000,000 users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Stage 6 · 1,360,000 users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Regions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3 — Asia, Americas, Europe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3 — unchanged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Application containers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36 average, 72 at peak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49 average, 98 at peak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Video processing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86 average, 258 at peak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117 average, 351 at peak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 writer, 3 read replicas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 writer, 3 read replicas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Stored media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5.32 PB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9.63 PB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Delivered each month</a:t>
                      </a:r>
                    </a:p>
                  </a:txBody>
                  <a:tcPr marL="82296" marR="82296" marT="18288" marB="18288" anchor="ctr">
                    <a:solidFill>
                      <a:srgbClr val="FDF3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300 TB — no charge</a:t>
                      </a:r>
                    </a:p>
                  </a:txBody>
                  <a:tcPr marL="82296" marR="82296" marT="18288" marB="18288" anchor="ctr">
                    <a:solidFill>
                      <a:srgbClr val="FDF3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410 TB — no charge</a:t>
                      </a:r>
                    </a:p>
                  </a:txBody>
                  <a:tcPr marL="82296" marR="82296" marT="18288" marB="18288" anchor="ctr">
                    <a:solidFill>
                      <a:srgbClr val="FD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Storage cost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$96,514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$174,563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Everything else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$35,328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$48,110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Infrastructure per month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$131,842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$222,673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Subscribers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100,000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136,000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Revenue per month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$735,000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$1,000,000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345168" y="1920239"/>
            <a:ext cx="2188159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28048" y="2066543"/>
            <a:ext cx="182239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5C6675"/>
                </a:solidFill>
                <a:latin typeface="Consolas"/>
              </a:rPr>
              <a:t>GROSS MARGIN AT $1M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8048" y="2313432"/>
            <a:ext cx="1822399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>
                <a:solidFill>
                  <a:srgbClr val="0E6A60"/>
                </a:solidFill>
                <a:latin typeface="Georgia"/>
              </a:rPr>
              <a:t>72%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8048" y="2788920"/>
            <a:ext cx="1822399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8414F"/>
                </a:solidFill>
                <a:latin typeface="Calibri"/>
              </a:rPr>
              <a:t>After infrastructure and card fees, across the whole business.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45168" y="3401568"/>
            <a:ext cx="2188159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345168" y="3401568"/>
            <a:ext cx="41148" cy="1188720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46336" y="3529584"/>
            <a:ext cx="178582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STORAGE IS THE BUSINESS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6336" y="3785615"/>
            <a:ext cx="1785823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38414F"/>
                </a:solidFill>
                <a:latin typeface="Calibri"/>
              </a:rPr>
              <a:t>78% of the bill at stage 6, and the one cost that never falls — in an archive, nothing is ever deleted.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45168" y="4718304"/>
            <a:ext cx="2188159" cy="1115568"/>
          </a:xfrm>
          <a:prstGeom prst="rect">
            <a:avLst/>
          </a:prstGeom>
          <a:solidFill>
            <a:srgbClr val="E6F2F0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345168" y="4718304"/>
            <a:ext cx="41148" cy="1115568"/>
          </a:xfrm>
          <a:prstGeom prst="rect">
            <a:avLst/>
          </a:prstGeom>
          <a:solidFill>
            <a:srgbClr val="0E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46336" y="4846320"/>
            <a:ext cx="178582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E6A60"/>
                </a:solidFill>
                <a:latin typeface="Consolas"/>
              </a:rPr>
              <a:t>BANDWIDTH STAYS FREE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46336" y="5102352"/>
            <a:ext cx="1785823" cy="603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38414F"/>
                </a:solidFill>
                <a:latin typeface="Calibri"/>
              </a:rPr>
              <a:t>410 TB a month leaves at no charge. Elsewhere that alone is ~$37,000 a month.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869996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The global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5C6675"/>
                </a:solidFill>
                <a:latin typeface="Consolas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F3327"/>
                </a:solidFill>
                <a:latin typeface="Consolas"/>
              </a:rPr>
              <a:t>WHAT WE CHARGE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600" b="0">
                <a:solidFill>
                  <a:srgbClr val="10131A"/>
                </a:solidFill>
                <a:latin typeface="Georgia"/>
              </a:rPr>
              <a:t>One free plan, two paid plans, all in dollars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978746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The free plan is limited by how far ahead a message can be scheduled — never by how much somebody creates. That is what turns a free user into a subscriber.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19072"/>
            <a:ext cx="822960" cy="32004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920239"/>
          <a:ext cx="8814816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Premium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Per month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$0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$7.99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$14.99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Per year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$63.99  ·  save 33%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$119.99  ·  save 33%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Storage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10 GB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250 GB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 TB shared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Memories created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unlimited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unlimited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unlimited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Messages waiting to be sent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unlimited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unlimited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How far ahead you can schedule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12 months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no limit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no limit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Delivery channels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app + email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+ SMS, WhatsApp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+ backup contact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People on the plan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754587" y="1920238"/>
            <a:ext cx="1980446" cy="1506699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765792" y="1920239"/>
            <a:ext cx="41148" cy="1517904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66960" y="2048255"/>
            <a:ext cx="13651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WHAT MAKES PEOPLE PAY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2271157"/>
            <a:ext cx="1420416" cy="11664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dirty="0">
                <a:solidFill>
                  <a:srgbClr val="38414F"/>
                </a:solidFill>
                <a:latin typeface="Calibri"/>
              </a:rPr>
              <a:t>“This one needs to wait until 2046.” The free plan runs out of time, not space — exactly when somebody most wants to reach far into the future.</a:t>
            </a:r>
            <a:endParaRPr lang="en-US" sz="1000" b="0">
              <a:solidFill>
                <a:srgbClr val="38414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754587" y="3566159"/>
            <a:ext cx="1980446" cy="1503110"/>
          </a:xfrm>
          <a:prstGeom prst="rect">
            <a:avLst/>
          </a:prstGeom>
          <a:solidFill>
            <a:srgbClr val="E6F2F0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765792" y="3566159"/>
            <a:ext cx="41148" cy="1335024"/>
          </a:xfrm>
          <a:prstGeom prst="rect">
            <a:avLst/>
          </a:prstGeom>
          <a:solidFill>
            <a:srgbClr val="0E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60" y="3694175"/>
            <a:ext cx="13651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E6A60"/>
                </a:solidFill>
                <a:latin typeface="Consolas"/>
              </a:rPr>
              <a:t>PUSH ANNUAL BILLING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3905385"/>
            <a:ext cx="1768610" cy="10664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38414F"/>
                </a:solidFill>
                <a:latin typeface="Calibri"/>
              </a:rPr>
              <a:t>Card fees take 6.7% of a $7.99 monthly charge, but only 3.4% of a $63.99 annual one — worth more than a point of margin.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919471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FROM LIST PRICE TO WHAT WE ACTUALLY RECEIVE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212079"/>
            <a:ext cx="2554147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5303519"/>
            <a:ext cx="226153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10131A"/>
                </a:solidFill>
                <a:latin typeface="Georgia"/>
              </a:rPr>
              <a:t>$7.99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678423"/>
            <a:ext cx="22615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Premium, monthly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1659" y="5449823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6B5E"/>
                </a:solidFill>
                <a:latin typeface="Calibri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31971" y="5212079"/>
            <a:ext cx="2554147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78275" y="5303519"/>
            <a:ext cx="226153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10131A"/>
                </a:solidFill>
                <a:latin typeface="Georgia"/>
              </a:rPr>
              <a:t>$7.06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78275" y="5678423"/>
            <a:ext cx="22615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35% choose annual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95263" y="5449823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6B5E"/>
                </a:solidFill>
                <a:latin typeface="Calibri"/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5575" y="5212079"/>
            <a:ext cx="2554147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1879" y="5303519"/>
            <a:ext cx="226153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10131A"/>
                </a:solidFill>
                <a:latin typeface="Georgia"/>
              </a:rPr>
              <a:t>$7.99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1879" y="5678423"/>
            <a:ext cx="22615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15% choose Family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8867" y="5449823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6B5E"/>
                </a:solidFill>
                <a:latin typeface="Calibri"/>
              </a:rPr>
              <a:t>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79179" y="5212079"/>
            <a:ext cx="2554147" cy="768096"/>
          </a:xfrm>
          <a:prstGeom prst="rect">
            <a:avLst/>
          </a:prstGeom>
          <a:solidFill>
            <a:srgbClr val="E6F2F0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25483" y="5303519"/>
            <a:ext cx="226153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0E6A60"/>
                </a:solidFill>
                <a:latin typeface="Georgia"/>
              </a:rPr>
              <a:t>$7.35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5483" y="5678423"/>
            <a:ext cx="22615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after sales tax and VAT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419088"/>
            <a:ext cx="869996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Plans and prices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5C6675"/>
                </a:solidFill>
                <a:latin typeface="Consolas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F3327"/>
                </a:solidFill>
                <a:latin typeface="Consolas"/>
              </a:rPr>
              <a:t>THE REVENUE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600" b="0">
                <a:solidFill>
                  <a:srgbClr val="10131A"/>
                </a:solidFill>
                <a:latin typeface="Georgia"/>
              </a:rPr>
              <a:t>Break even in month 27. One million a month in month 46.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978746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Modelled month by month from launch, with subscriber conversion improving as the product and the archive mature.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19072"/>
            <a:ext cx="822960" cy="32004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920239"/>
            <a:ext cx="251757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2066543"/>
            <a:ext cx="215181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5C6675"/>
                </a:solidFill>
                <a:latin typeface="Consolas"/>
              </a:rPr>
              <a:t>MONTH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13432"/>
            <a:ext cx="215181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>
                <a:solidFill>
                  <a:srgbClr val="10131A"/>
                </a:solidFill>
                <a:latin typeface="Georgia"/>
              </a:rPr>
              <a:t>Break even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88920"/>
            <a:ext cx="2151811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8414F"/>
                </a:solidFill>
                <a:latin typeface="Calibri"/>
              </a:rPr>
              <a:t>revenue covers every cost, growth included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77107" y="1920239"/>
            <a:ext cx="2517571" cy="1207008"/>
          </a:xfrm>
          <a:prstGeom prst="rect">
            <a:avLst/>
          </a:prstGeom>
          <a:solidFill>
            <a:srgbClr val="FFF0EE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59987" y="2066543"/>
            <a:ext cx="215181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AF3327"/>
                </a:solidFill>
                <a:latin typeface="Consolas"/>
              </a:rPr>
              <a:t>MONTH 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9987" y="2313432"/>
            <a:ext cx="215181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>
                <a:solidFill>
                  <a:srgbClr val="10131A"/>
                </a:solidFill>
                <a:latin typeface="Georgia"/>
              </a:rPr>
              <a:t>$1M a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9987" y="2788920"/>
            <a:ext cx="2151811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8414F"/>
                </a:solidFill>
                <a:latin typeface="Calibri"/>
              </a:rPr>
              <a:t>136,000 subscribers · 1.36M users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5847" y="1920239"/>
            <a:ext cx="251757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78727" y="2066543"/>
            <a:ext cx="215181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5C6675"/>
                </a:solidFill>
                <a:latin typeface="Consolas"/>
              </a:rPr>
              <a:t>FROM THEN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2313432"/>
            <a:ext cx="215181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>
                <a:solidFill>
                  <a:srgbClr val="10131A"/>
                </a:solidFill>
                <a:latin typeface="Georgia"/>
              </a:rPr>
              <a:t>$521,000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2788920"/>
            <a:ext cx="2151811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8414F"/>
                </a:solidFill>
                <a:latin typeface="Calibri"/>
              </a:rPr>
              <a:t>profit every month, after all costs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14587" y="1920239"/>
            <a:ext cx="251757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97467" y="2066543"/>
            <a:ext cx="215181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5C6675"/>
                </a:solidFill>
                <a:latin typeface="Consolas"/>
              </a:rPr>
              <a:t>STEADY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467" y="2313432"/>
            <a:ext cx="215181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>
                <a:solidFill>
                  <a:srgbClr val="10131A"/>
                </a:solidFill>
                <a:latin typeface="Georgia"/>
              </a:rPr>
              <a:t>$6.3M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7467" y="2788920"/>
            <a:ext cx="2151811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8414F"/>
                </a:solidFill>
                <a:latin typeface="Calibri"/>
              </a:rPr>
              <a:t>profit a year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58368" y="3529583"/>
          <a:ext cx="10872216" cy="18425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282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Month 6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Month 12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Month 18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Month 24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Month 30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Month 36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Month 46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Users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3,700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17,900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58,000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148,000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326,000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620,000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1,360,000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Subscribers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130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800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3,300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10,900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26,900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58,900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136,000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Revenue / month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$983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$6,934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$28,119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$89,250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$211,826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$438,279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$1,000,000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All costs / month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$26,619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$36,156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$61,012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$104,696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$165,596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$265,851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$478,227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0131A"/>
                          </a:solidFill>
                          <a:latin typeface="Calibri"/>
                        </a:rPr>
                        <a:t>Result / month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AF3327"/>
                          </a:solidFill>
                          <a:latin typeface="Consolas"/>
                        </a:rPr>
                        <a:t>-$25,636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AF3327"/>
                          </a:solidFill>
                          <a:latin typeface="Consolas"/>
                        </a:rPr>
                        <a:t>-$29,222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AF3327"/>
                          </a:solidFill>
                          <a:latin typeface="Consolas"/>
                        </a:rPr>
                        <a:t>-$32,893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AF3327"/>
                          </a:solidFill>
                          <a:latin typeface="Consolas"/>
                        </a:rPr>
                        <a:t>-$15,446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E6A60"/>
                          </a:solidFill>
                          <a:latin typeface="Consolas"/>
                        </a:rPr>
                        <a:t>+$46,231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E6A60"/>
                          </a:solidFill>
                          <a:latin typeface="Consolas"/>
                        </a:rPr>
                        <a:t>+$172,427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E6A60"/>
                          </a:solidFill>
                          <a:latin typeface="Consolas"/>
                        </a:rPr>
                        <a:t>+$521,373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669573" y="5383754"/>
            <a:ext cx="10863754" cy="917895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58368" y="5394959"/>
            <a:ext cx="41148" cy="749808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9536" y="5522975"/>
            <a:ext cx="1047262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THE SHAPE TO EXPECT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5779007"/>
            <a:ext cx="10472623" cy="2377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38414F"/>
                </a:solidFill>
                <a:latin typeface="Calibri"/>
              </a:rPr>
              <a:t>Losses widen before they close. Growth spending runs ahead of the revenue it creates, so the hardest month is month 24 — not month one. After that the gap shuts quickly, because each new subscriber costs almost nothing to serve.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19088"/>
            <a:ext cx="869996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Path to $1M a month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5C6675"/>
                </a:solidFill>
                <a:latin typeface="Consolas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F3327"/>
                </a:solidFill>
                <a:latin typeface="Consolas"/>
              </a:rPr>
              <a:t>HOW WE REACH 1.36 MILLION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600" b="0">
                <a:solidFill>
                  <a:srgbClr val="10131A"/>
                </a:solidFill>
                <a:latin typeface="Georgia"/>
              </a:rPr>
              <a:t>The product itself is the cheapest channel we have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978746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Every message delivered reaches somebody who does not have an account. That is distribution we never pay for — and it is why the free plan stays generous.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19072"/>
            <a:ext cx="822960" cy="32004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920239"/>
          <a:ext cx="822960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11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Cost per user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Share of growth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Delivered messages reaching new people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families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30%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Search and content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$0.60 – $2.00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both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15%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Referral — three months free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$1.50 – $2.50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both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10%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Creator partnerships, small accounts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$3 – $6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under 30s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20%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Instagram and Facebook advertising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$8 – $15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parents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18%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Search advertising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$10 – $20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high intent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7%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Blended cost per user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$3.30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100%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4535423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BUDGET BY STAGE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4809743"/>
          <a:ext cx="8229600" cy="612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43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1 · to 1K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2 · to 10K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3 · to 100K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4 · to 500K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5 · to 1M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6 · to 1.36M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Per month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$2,500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$8,500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$40,000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$85,000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$105,000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$120,000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50468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8414F"/>
                </a:solidFill>
                <a:latin typeface="Calibri"/>
              </a:rPr>
              <a:t>Total marketing to reach 1.36 million users:   </a:t>
            </a:r>
            <a:r>
              <a:rPr sz="1100" b="1">
                <a:solidFill>
                  <a:srgbClr val="38414F"/>
                </a:solidFill>
                <a:latin typeface="Consolas"/>
              </a:rPr>
              <a:t>$3.0 million over 46 months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70848" y="1920239"/>
            <a:ext cx="2462479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070848" y="1920239"/>
            <a:ext cx="41148" cy="1920240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72016" y="2048255"/>
            <a:ext cx="206014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TWO AUDIENCES, ONE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2016" y="2304287"/>
            <a:ext cx="2060143" cy="1408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38414F"/>
                </a:solidFill>
                <a:latin typeface="Calibri"/>
              </a:rPr>
              <a:t>Under-30s bring the reach — they sign up to write to their future selves, and they seal messages for their parents. Those parents open them without an account, and the parents are who subscribe.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70848" y="3968496"/>
            <a:ext cx="2462479" cy="1536192"/>
          </a:xfrm>
          <a:prstGeom prst="rect">
            <a:avLst/>
          </a:prstGeom>
          <a:solidFill>
            <a:srgbClr val="E6F2F0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070848" y="3968496"/>
            <a:ext cx="41148" cy="1536192"/>
          </a:xfrm>
          <a:prstGeom prst="rect">
            <a:avLst/>
          </a:prstGeom>
          <a:solidFill>
            <a:srgbClr val="0E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72016" y="4096511"/>
            <a:ext cx="206014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E6A60"/>
                </a:solidFill>
                <a:latin typeface="Consolas"/>
              </a:rPr>
              <a:t>SEASONAL, NOT STEADY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2016" y="4352544"/>
            <a:ext cx="2060143" cy="10241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38414F"/>
                </a:solidFill>
                <a:latin typeface="Calibri"/>
              </a:rPr>
              <a:t>Demand follows occasions, so about 60% of the budget goes into four windows: New Year, graduation season, and the two parents’ days.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19088"/>
            <a:ext cx="869996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Marketing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5C6675"/>
                </a:solidFill>
                <a:latin typeface="Consolas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F3327"/>
                </a:solidFill>
                <a:latin typeface="Consolas"/>
              </a:rPr>
              <a:t>THE 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600" b="0">
                <a:solidFill>
                  <a:srgbClr val="10131A"/>
                </a:solidFill>
                <a:latin typeface="Georgia"/>
              </a:rPr>
              <a:t>About $793,000 in, to reach $6.3M of profit a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978746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The money is needed before month 27. After that the business funds itself — and the entire investment is repaid in about six weeks of steady-state profit.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19072"/>
            <a:ext cx="822960" cy="32004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920239"/>
            <a:ext cx="3387242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2066543"/>
            <a:ext cx="302148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5C6675"/>
                </a:solidFill>
                <a:latin typeface="Consolas"/>
              </a:rPr>
              <a:t>TOTAL CAPITAL 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13432"/>
            <a:ext cx="302148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>
                <a:solidFill>
                  <a:srgbClr val="10131A"/>
                </a:solidFill>
                <a:latin typeface="Georgia"/>
              </a:rPr>
              <a:t>$793,000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88920"/>
            <a:ext cx="3021482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8414F"/>
                </a:solidFill>
                <a:latin typeface="Calibri"/>
              </a:rPr>
              <a:t>everything needed before the business funds itself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3354" y="1920239"/>
            <a:ext cx="3387242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66234" y="2066543"/>
            <a:ext cx="302148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5C6675"/>
                </a:solidFill>
                <a:latin typeface="Consolas"/>
              </a:rPr>
              <a:t>OF WHICH, BUILDING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6234" y="2313432"/>
            <a:ext cx="302148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>
                <a:solidFill>
                  <a:srgbClr val="10131A"/>
                </a:solidFill>
                <a:latin typeface="Georgia"/>
              </a:rPr>
              <a:t>$120,000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6234" y="2788920"/>
            <a:ext cx="3021482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8414F"/>
                </a:solidFill>
                <a:latin typeface="Calibri"/>
              </a:rPr>
              <a:t>first release development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8340" y="1920239"/>
            <a:ext cx="3387242" cy="1225296"/>
          </a:xfrm>
          <a:prstGeom prst="rect">
            <a:avLst/>
          </a:prstGeom>
          <a:solidFill>
            <a:srgbClr val="E6F2F0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1220" y="2066543"/>
            <a:ext cx="302148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5C6675"/>
                </a:solidFill>
                <a:latin typeface="Consolas"/>
              </a:rPr>
              <a:t>PAYBACK AT $1M A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1220" y="2313432"/>
            <a:ext cx="302148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>
                <a:solidFill>
                  <a:srgbClr val="0E6A60"/>
                </a:solidFill>
                <a:latin typeface="Georgia"/>
              </a:rPr>
              <a:t>6 weeks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1220" y="2788920"/>
            <a:ext cx="3021482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8414F"/>
                </a:solidFill>
                <a:latin typeface="Calibri"/>
              </a:rPr>
              <a:t>of steady-state profit repays it 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310127"/>
            <a:ext cx="747979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WHERE THE MONEY GOES, BY YEAR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58368" y="3584447"/>
          <a:ext cx="7479792" cy="24323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Year 1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Year 2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Year 3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Year 4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Four-year total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Building the product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$120,000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$120,000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Hosting and infrastructure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$12,000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$155,000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$1,020,000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$2,450,000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$3,637,000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Team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$264,000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$372,000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$636,000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$900,000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$2,172,000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Marketing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$78,000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$372,000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$996,000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$1,404,000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$2,850,000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Card and bank fees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$1,000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$14,000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$96,000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$300,000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$411,000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0131A"/>
                          </a:solidFill>
                          <a:latin typeface="Calibri"/>
                        </a:rPr>
                        <a:t>Total spend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0131A"/>
                          </a:solidFill>
                          <a:latin typeface="Consolas"/>
                        </a:rPr>
                        <a:t>$475,000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0131A"/>
                          </a:solidFill>
                          <a:latin typeface="Consolas"/>
                        </a:rPr>
                        <a:t>$913,000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0131A"/>
                          </a:solidFill>
                          <a:latin typeface="Consolas"/>
                        </a:rPr>
                        <a:t>$2,748,000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0131A"/>
                          </a:solidFill>
                          <a:latin typeface="Consolas"/>
                        </a:rPr>
                        <a:t>$5,054,000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0131A"/>
                          </a:solidFill>
                          <a:latin typeface="Consolas"/>
                        </a:rPr>
                        <a:t>$9,190,000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$34,000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$536,000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$2,760,000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$8,400,000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$11,730,000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0131A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0131A"/>
                          </a:solidFill>
                          <a:latin typeface="Consolas"/>
                        </a:rPr>
                        <a:t>-$441,000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0131A"/>
                          </a:solidFill>
                          <a:latin typeface="Consolas"/>
                        </a:rPr>
                        <a:t>-$377,000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0131A"/>
                          </a:solidFill>
                          <a:latin typeface="Consolas"/>
                        </a:rPr>
                        <a:t>+$12,000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0131A"/>
                          </a:solidFill>
                          <a:latin typeface="Consolas"/>
                        </a:rPr>
                        <a:t>+$3,346,000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0131A"/>
                          </a:solidFill>
                          <a:latin typeface="Consolas"/>
                        </a:rPr>
                        <a:t>+$2,540,000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8321040" y="3310127"/>
            <a:ext cx="3212287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321040" y="3310127"/>
            <a:ext cx="41148" cy="1353312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22208" y="3438144"/>
            <a:ext cx="28099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WHY YEAR THREE IS THE TURN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3694176"/>
            <a:ext cx="2809951" cy="8412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38414F"/>
                </a:solidFill>
                <a:latin typeface="Calibri"/>
              </a:rPr>
              <a:t>Revenue passes total spend for the first time. Subscribers have compounded while the cost of serving each one has barely moved.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4791456"/>
            <a:ext cx="3212287" cy="1243584"/>
          </a:xfrm>
          <a:prstGeom prst="rect">
            <a:avLst/>
          </a:prstGeom>
          <a:solidFill>
            <a:srgbClr val="E6F2F0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321040" y="4791456"/>
            <a:ext cx="41148" cy="1243584"/>
          </a:xfrm>
          <a:prstGeom prst="rect">
            <a:avLst/>
          </a:prstGeom>
          <a:solidFill>
            <a:srgbClr val="0E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22208" y="4919472"/>
            <a:ext cx="28099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E6A60"/>
                </a:solidFill>
                <a:latin typeface="Consolas"/>
              </a:rPr>
              <a:t>THE NUMBER TO WATCH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8" y="5175504"/>
            <a:ext cx="2809951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38414F"/>
                </a:solidFill>
                <a:latin typeface="Calibri"/>
              </a:rPr>
              <a:t>Paid conversion. One percentage point either way moves the first $1M month by roughly six months.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869996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Investment and returns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5C6675"/>
                </a:solidFill>
                <a:latin typeface="Consolas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AF3327"/>
                </a:solidFill>
                <a:latin typeface="Consolas"/>
              </a:rPr>
              <a:t>THE ALTERNATIVE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600" b="0">
                <a:solidFill>
                  <a:srgbClr val="10131A"/>
                </a:solidFill>
                <a:latin typeface="Georgia"/>
              </a:rPr>
              <a:t>Staying on servers: cheaper now, expensive later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978746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If the priority is the smallest possible outlay in year one, stage 1 can be stretched further. Here is exactly what that saves, and what it costs.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19072"/>
            <a:ext cx="822960" cy="32004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920239"/>
          <a:ext cx="8741664" cy="27249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32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The recommended path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Staying on servers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Year 1 hosting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$12,000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$1,300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Saving in year 1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$10,700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If the hardware dies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automatic failover, another zone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restore by hand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Releases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zero downtime, instant rollback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the app goes offline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Backups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continuous, point-in-time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scripted — only as good as the last test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Scaling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a number in a config file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a bigger box, and a reboot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Users it can carry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1,360,000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about 10,000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Cost of moving later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$16,000 – $32,000, plus 4 – 8 weeks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699721" y="1796974"/>
            <a:ext cx="1811194" cy="1635251"/>
          </a:xfrm>
          <a:prstGeom prst="rect">
            <a:avLst/>
          </a:prstGeom>
          <a:solidFill>
            <a:srgbClr val="E6F2F0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710928" y="1920239"/>
            <a:ext cx="41148" cy="1444752"/>
          </a:xfrm>
          <a:prstGeom prst="rect">
            <a:avLst/>
          </a:prstGeom>
          <a:solidFill>
            <a:srgbClr val="0E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12095" y="1924992"/>
            <a:ext cx="1599359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E6A60"/>
                </a:solidFill>
                <a:latin typeface="Consolas"/>
              </a:rPr>
              <a:t>WHERE IT GENUINELY 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12097" y="2091376"/>
            <a:ext cx="1364033" cy="1283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38414F"/>
                </a:solidFill>
                <a:latin typeface="Calibri"/>
              </a:rPr>
              <a:t>A pilot or closed beta below roughly ten thousand users, where the only question is whether people want this at 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22132" y="3560243"/>
            <a:ext cx="1811195" cy="1094951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710928" y="3493007"/>
            <a:ext cx="41148" cy="1207008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56920" y="3699465"/>
            <a:ext cx="137524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OUR 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12096" y="3877055"/>
            <a:ext cx="1420063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38414F"/>
                </a:solidFill>
                <a:latin typeface="Calibri"/>
              </a:rPr>
              <a:t>Start at stage 1. Move to stage 2 as soon as real customers arrive.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864608"/>
            <a:ext cx="10874959" cy="969264"/>
          </a:xfrm>
          <a:prstGeom prst="rect">
            <a:avLst/>
          </a:prstGeom>
          <a:solidFill>
            <a:srgbClr val="22304A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5001768"/>
            <a:ext cx="103628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FF6B5E"/>
                </a:solidFill>
                <a:latin typeface="Consolas"/>
              </a:rPr>
              <a:t>IN ONE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5266944"/>
            <a:ext cx="10362895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FFFFFF"/>
                </a:solidFill>
                <a:latin typeface="Calibri"/>
              </a:rPr>
              <a:t>The $10,700 saved in year one is repaid many times over by a single migration — and that migration would land at exactly the moment the product is growing fastest.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19088"/>
            <a:ext cx="869996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Alternative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5C6675"/>
                </a:solidFill>
                <a:latin typeface="Consolas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33</cp:revision>
  <dcterms:created xsi:type="dcterms:W3CDTF">2013-01-27T09:14:16Z</dcterms:created>
  <dcterms:modified xsi:type="dcterms:W3CDTF">2026-09-10T06:38:27Z</dcterms:modified>
  <cp:category/>
</cp:coreProperties>
</file>