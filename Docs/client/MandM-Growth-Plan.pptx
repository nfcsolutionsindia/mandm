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2304A"/>
        </a:solidFill>
        <a:effectLst/>
      </p:bgPr>
    </p:bg>
    <p:spTree>
      <p:nvGrpSpPr>
        <p:cNvPr id="1" name=""/>
        <p:cNvGrpSpPr/>
        <p:nvPr/>
      </p:nvGrpSpPr>
      <p:grpSpPr/>
      <p:sp>
        <p:nvSpPr>
          <p:cNvPr id="2" name="Rounded Rectangle 1"/>
          <p:cNvSpPr/>
          <p:nvPr/>
        </p:nvSpPr>
        <p:spPr>
          <a:xfrm>
            <a:off x="11004900" y="173736"/>
            <a:ext cx="528426" cy="566928"/>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NFCLogo.png"/>
          <p:cNvPicPr>
            <a:picLocks noChangeAspect="1"/>
          </p:cNvPicPr>
          <p:nvPr/>
        </p:nvPicPr>
        <p:blipFill>
          <a:blip r:embed="rId2"/>
          <a:stretch>
            <a:fillRect/>
          </a:stretch>
        </p:blipFill>
        <p:spPr>
          <a:xfrm>
            <a:off x="11105484" y="274320"/>
            <a:ext cx="327259" cy="365760"/>
          </a:xfrm>
          <a:prstGeom prst="rect">
            <a:avLst/>
          </a:prstGeom>
        </p:spPr>
      </p:pic>
      <p:sp>
        <p:nvSpPr>
          <p:cNvPr id="4" name="Rectangle 3"/>
          <p:cNvSpPr/>
          <p:nvPr/>
        </p:nvSpPr>
        <p:spPr>
          <a:xfrm>
            <a:off x="0" y="0"/>
            <a:ext cx="12191695" cy="91440"/>
          </a:xfrm>
          <a:prstGeom prst="rect">
            <a:avLst/>
          </a:prstGeom>
          <a:solidFill>
            <a:srgbClr val="FF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768096"/>
            <a:ext cx="10874959" cy="256032"/>
          </a:xfrm>
          <a:prstGeom prst="rect">
            <a:avLst/>
          </a:prstGeom>
          <a:noFill/>
        </p:spPr>
        <p:txBody>
          <a:bodyPr wrap="square" lIns="0" rIns="0" tIns="0" bIns="0" anchor="t">
            <a:spAutoFit/>
          </a:bodyPr>
          <a:lstStyle/>
          <a:p>
            <a:pPr algn="l"/>
            <a:r>
              <a:rPr sz="1100" b="1">
                <a:solidFill>
                  <a:srgbClr val="FF6B5E"/>
                </a:solidFill>
                <a:latin typeface="Consolas"/>
              </a:rPr>
              <a:t>MOMENTS &amp; MEMORIES</a:t>
            </a:r>
          </a:p>
        </p:txBody>
      </p:sp>
      <p:sp>
        <p:nvSpPr>
          <p:cNvPr id="6" name="TextBox 5"/>
          <p:cNvSpPr txBox="1"/>
          <p:nvPr/>
        </p:nvSpPr>
        <p:spPr>
          <a:xfrm>
            <a:off x="658368" y="1133856"/>
            <a:ext cx="8699967" cy="1243584"/>
          </a:xfrm>
          <a:prstGeom prst="rect">
            <a:avLst/>
          </a:prstGeom>
          <a:noFill/>
        </p:spPr>
        <p:txBody>
          <a:bodyPr wrap="square" lIns="0" rIns="0" tIns="0" bIns="0" anchor="t">
            <a:spAutoFit/>
          </a:bodyPr>
          <a:lstStyle/>
          <a:p>
            <a:pPr algn="l">
              <a:lnSpc>
                <a:spcPct val="104000"/>
              </a:lnSpc>
            </a:pPr>
            <a:r>
              <a:rPr sz="4200" b="0">
                <a:solidFill>
                  <a:srgbClr val="FFFFFF"/>
                </a:solidFill>
                <a:latin typeface="Georgia"/>
              </a:rPr>
              <a:t>Platform proposal and growth plan</a:t>
            </a:r>
          </a:p>
        </p:txBody>
      </p:sp>
      <p:sp>
        <p:nvSpPr>
          <p:cNvPr id="7" name="TextBox 6"/>
          <p:cNvSpPr txBox="1"/>
          <p:nvPr/>
        </p:nvSpPr>
        <p:spPr>
          <a:xfrm>
            <a:off x="658368" y="2578608"/>
            <a:ext cx="6959973" cy="786384"/>
          </a:xfrm>
          <a:prstGeom prst="rect">
            <a:avLst/>
          </a:prstGeom>
          <a:noFill/>
        </p:spPr>
        <p:txBody>
          <a:bodyPr wrap="square" lIns="0" rIns="0" tIns="0" bIns="0" anchor="t">
            <a:spAutoFit/>
          </a:bodyPr>
          <a:lstStyle/>
          <a:p>
            <a:pPr algn="l">
              <a:lnSpc>
                <a:spcPct val="134000"/>
              </a:lnSpc>
            </a:pPr>
            <a:r>
              <a:rPr sz="1400" b="0">
                <a:solidFill>
                  <a:srgbClr val="C3CAD6"/>
                </a:solidFill>
                <a:latin typeface="Calibri"/>
              </a:rPr>
              <a:t>How we propose to build Moments &amp; Memories on a single server, and grow the same system to one million users. Five stages, what triggers each move, and the parts that never change along the way.</a:t>
            </a:r>
          </a:p>
        </p:txBody>
      </p:sp>
      <p:sp>
        <p:nvSpPr>
          <p:cNvPr id="8" name="TextBox 7"/>
          <p:cNvSpPr txBox="1"/>
          <p:nvPr/>
        </p:nvSpPr>
        <p:spPr>
          <a:xfrm>
            <a:off x="658368" y="3584448"/>
            <a:ext cx="10874959" cy="237744"/>
          </a:xfrm>
          <a:prstGeom prst="rect">
            <a:avLst/>
          </a:prstGeom>
          <a:noFill/>
        </p:spPr>
        <p:txBody>
          <a:bodyPr wrap="square" lIns="0" rIns="0" tIns="0" bIns="0" anchor="t">
            <a:spAutoFit/>
          </a:bodyPr>
          <a:lstStyle/>
          <a:p>
            <a:pPr algn="l"/>
            <a:r>
              <a:rPr sz="1000" b="1">
                <a:solidFill>
                  <a:srgbClr val="FF6B5E"/>
                </a:solidFill>
                <a:latin typeface="Consolas"/>
              </a:rPr>
              <a:t>THE PLAN IN FIVE MOVES</a:t>
            </a:r>
          </a:p>
        </p:txBody>
      </p:sp>
      <p:sp>
        <p:nvSpPr>
          <p:cNvPr id="9" name="Rectangle 8"/>
          <p:cNvSpPr/>
          <p:nvPr/>
        </p:nvSpPr>
        <p:spPr>
          <a:xfrm>
            <a:off x="658368" y="3913632"/>
            <a:ext cx="2014057" cy="1188720"/>
          </a:xfrm>
          <a:prstGeom prst="rect">
            <a:avLst/>
          </a:prstGeom>
          <a:solidFill>
            <a:srgbClr val="2C3B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4059936"/>
            <a:ext cx="1721449" cy="566928"/>
          </a:xfrm>
          <a:prstGeom prst="rect">
            <a:avLst/>
          </a:prstGeom>
          <a:noFill/>
        </p:spPr>
        <p:txBody>
          <a:bodyPr wrap="square" lIns="0" rIns="0" tIns="0" bIns="0" anchor="t">
            <a:spAutoFit/>
          </a:bodyPr>
          <a:lstStyle/>
          <a:p>
            <a:pPr algn="l">
              <a:lnSpc>
                <a:spcPct val="110000"/>
              </a:lnSpc>
            </a:pPr>
            <a:r>
              <a:rPr sz="1500" b="0">
                <a:solidFill>
                  <a:srgbClr val="FFFFFF"/>
                </a:solidFill>
                <a:latin typeface="Georgia"/>
              </a:rPr>
              <a:t>One
server</a:t>
            </a:r>
          </a:p>
        </p:txBody>
      </p:sp>
      <p:sp>
        <p:nvSpPr>
          <p:cNvPr id="11" name="TextBox 10"/>
          <p:cNvSpPr txBox="1"/>
          <p:nvPr/>
        </p:nvSpPr>
        <p:spPr>
          <a:xfrm>
            <a:off x="804672" y="4700016"/>
            <a:ext cx="1721449" cy="292608"/>
          </a:xfrm>
          <a:prstGeom prst="rect">
            <a:avLst/>
          </a:prstGeom>
          <a:noFill/>
        </p:spPr>
        <p:txBody>
          <a:bodyPr wrap="square" lIns="0" rIns="0" tIns="0" bIns="0" anchor="t">
            <a:spAutoFit/>
          </a:bodyPr>
          <a:lstStyle/>
          <a:p>
            <a:pPr algn="l"/>
            <a:r>
              <a:rPr sz="900" b="0">
                <a:solidFill>
                  <a:srgbClr val="949DAC"/>
                </a:solidFill>
                <a:latin typeface="Consolas"/>
              </a:rPr>
              <a:t>prove it</a:t>
            </a:r>
          </a:p>
        </p:txBody>
      </p:sp>
      <p:sp>
        <p:nvSpPr>
          <p:cNvPr id="12" name="TextBox 11"/>
          <p:cNvSpPr txBox="1"/>
          <p:nvPr/>
        </p:nvSpPr>
        <p:spPr>
          <a:xfrm>
            <a:off x="804672" y="4956048"/>
            <a:ext cx="1721449" cy="219456"/>
          </a:xfrm>
          <a:prstGeom prst="rect">
            <a:avLst/>
          </a:prstGeom>
          <a:noFill/>
        </p:spPr>
        <p:txBody>
          <a:bodyPr wrap="square" lIns="0" rIns="0" tIns="0" bIns="0" anchor="t">
            <a:spAutoFit/>
          </a:bodyPr>
          <a:lstStyle/>
          <a:p>
            <a:pPr algn="l"/>
            <a:r>
              <a:rPr sz="850" b="1">
                <a:solidFill>
                  <a:srgbClr val="FF6B5E"/>
                </a:solidFill>
                <a:latin typeface="Consolas"/>
              </a:rPr>
              <a:t>STAGE 1</a:t>
            </a:r>
          </a:p>
        </p:txBody>
      </p:sp>
      <p:sp>
        <p:nvSpPr>
          <p:cNvPr id="13" name="Rectangle 12"/>
          <p:cNvSpPr/>
          <p:nvPr/>
        </p:nvSpPr>
        <p:spPr>
          <a:xfrm>
            <a:off x="2873593" y="3913632"/>
            <a:ext cx="2014057" cy="1188720"/>
          </a:xfrm>
          <a:prstGeom prst="rect">
            <a:avLst/>
          </a:prstGeom>
          <a:solidFill>
            <a:srgbClr val="2C3B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19897" y="4059936"/>
            <a:ext cx="1721449" cy="566928"/>
          </a:xfrm>
          <a:prstGeom prst="rect">
            <a:avLst/>
          </a:prstGeom>
          <a:noFill/>
        </p:spPr>
        <p:txBody>
          <a:bodyPr wrap="square" lIns="0" rIns="0" tIns="0" bIns="0" anchor="t">
            <a:spAutoFit/>
          </a:bodyPr>
          <a:lstStyle/>
          <a:p>
            <a:pPr algn="l">
              <a:lnSpc>
                <a:spcPct val="110000"/>
              </a:lnSpc>
            </a:pPr>
            <a:r>
              <a:rPr sz="1500" b="0">
                <a:solidFill>
                  <a:srgbClr val="FFFFFF"/>
                </a:solidFill>
                <a:latin typeface="Georgia"/>
              </a:rPr>
              <a:t>Managed
cloud</a:t>
            </a:r>
          </a:p>
        </p:txBody>
      </p:sp>
      <p:sp>
        <p:nvSpPr>
          <p:cNvPr id="15" name="TextBox 14"/>
          <p:cNvSpPr txBox="1"/>
          <p:nvPr/>
        </p:nvSpPr>
        <p:spPr>
          <a:xfrm>
            <a:off x="3019897" y="4700016"/>
            <a:ext cx="1721449" cy="292608"/>
          </a:xfrm>
          <a:prstGeom prst="rect">
            <a:avLst/>
          </a:prstGeom>
          <a:noFill/>
        </p:spPr>
        <p:txBody>
          <a:bodyPr wrap="square" lIns="0" rIns="0" tIns="0" bIns="0" anchor="t">
            <a:spAutoFit/>
          </a:bodyPr>
          <a:lstStyle/>
          <a:p>
            <a:pPr algn="l"/>
            <a:r>
              <a:rPr sz="900" b="0">
                <a:solidFill>
                  <a:srgbClr val="949DAC"/>
                </a:solidFill>
                <a:latin typeface="Consolas"/>
              </a:rPr>
              <a:t>make it durable</a:t>
            </a:r>
          </a:p>
        </p:txBody>
      </p:sp>
      <p:sp>
        <p:nvSpPr>
          <p:cNvPr id="16" name="TextBox 15"/>
          <p:cNvSpPr txBox="1"/>
          <p:nvPr/>
        </p:nvSpPr>
        <p:spPr>
          <a:xfrm>
            <a:off x="3019897" y="4956048"/>
            <a:ext cx="1721449" cy="219456"/>
          </a:xfrm>
          <a:prstGeom prst="rect">
            <a:avLst/>
          </a:prstGeom>
          <a:noFill/>
        </p:spPr>
        <p:txBody>
          <a:bodyPr wrap="square" lIns="0" rIns="0" tIns="0" bIns="0" anchor="t">
            <a:spAutoFit/>
          </a:bodyPr>
          <a:lstStyle/>
          <a:p>
            <a:pPr algn="l"/>
            <a:r>
              <a:rPr sz="850" b="1">
                <a:solidFill>
                  <a:srgbClr val="FF6B5E"/>
                </a:solidFill>
                <a:latin typeface="Consolas"/>
              </a:rPr>
              <a:t>STAGE 2</a:t>
            </a:r>
          </a:p>
        </p:txBody>
      </p:sp>
      <p:sp>
        <p:nvSpPr>
          <p:cNvPr id="17" name="Rectangle 16"/>
          <p:cNvSpPr/>
          <p:nvPr/>
        </p:nvSpPr>
        <p:spPr>
          <a:xfrm>
            <a:off x="5088818" y="3913632"/>
            <a:ext cx="2014057" cy="1188720"/>
          </a:xfrm>
          <a:prstGeom prst="rect">
            <a:avLst/>
          </a:prstGeom>
          <a:solidFill>
            <a:srgbClr val="2C3B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35122" y="4059936"/>
            <a:ext cx="1721449" cy="566928"/>
          </a:xfrm>
          <a:prstGeom prst="rect">
            <a:avLst/>
          </a:prstGeom>
          <a:noFill/>
        </p:spPr>
        <p:txBody>
          <a:bodyPr wrap="square" lIns="0" rIns="0" tIns="0" bIns="0" anchor="t">
            <a:spAutoFit/>
          </a:bodyPr>
          <a:lstStyle/>
          <a:p>
            <a:pPr algn="l">
              <a:lnSpc>
                <a:spcPct val="110000"/>
              </a:lnSpc>
            </a:pPr>
            <a:r>
              <a:rPr sz="1500" b="0">
                <a:solidFill>
                  <a:srgbClr val="FFFFFF"/>
                </a:solidFill>
                <a:latin typeface="Georgia"/>
              </a:rPr>
              <a:t>Multi-zone</a:t>
            </a:r>
          </a:p>
        </p:txBody>
      </p:sp>
      <p:sp>
        <p:nvSpPr>
          <p:cNvPr id="19" name="TextBox 18"/>
          <p:cNvSpPr txBox="1"/>
          <p:nvPr/>
        </p:nvSpPr>
        <p:spPr>
          <a:xfrm>
            <a:off x="5235122" y="4700016"/>
            <a:ext cx="1721449" cy="292608"/>
          </a:xfrm>
          <a:prstGeom prst="rect">
            <a:avLst/>
          </a:prstGeom>
          <a:noFill/>
        </p:spPr>
        <p:txBody>
          <a:bodyPr wrap="square" lIns="0" rIns="0" tIns="0" bIns="0" anchor="t">
            <a:spAutoFit/>
          </a:bodyPr>
          <a:lstStyle/>
          <a:p>
            <a:pPr algn="l"/>
            <a:r>
              <a:rPr sz="900" b="0">
                <a:solidFill>
                  <a:srgbClr val="949DAC"/>
                </a:solidFill>
                <a:latin typeface="Consolas"/>
              </a:rPr>
              <a:t>survive a datacentre</a:t>
            </a:r>
          </a:p>
        </p:txBody>
      </p:sp>
      <p:sp>
        <p:nvSpPr>
          <p:cNvPr id="20" name="TextBox 19"/>
          <p:cNvSpPr txBox="1"/>
          <p:nvPr/>
        </p:nvSpPr>
        <p:spPr>
          <a:xfrm>
            <a:off x="5235122" y="4956048"/>
            <a:ext cx="1721449" cy="219456"/>
          </a:xfrm>
          <a:prstGeom prst="rect">
            <a:avLst/>
          </a:prstGeom>
          <a:noFill/>
        </p:spPr>
        <p:txBody>
          <a:bodyPr wrap="square" lIns="0" rIns="0" tIns="0" bIns="0" anchor="t">
            <a:spAutoFit/>
          </a:bodyPr>
          <a:lstStyle/>
          <a:p>
            <a:pPr algn="l"/>
            <a:r>
              <a:rPr sz="850" b="1">
                <a:solidFill>
                  <a:srgbClr val="FF6B5E"/>
                </a:solidFill>
                <a:latin typeface="Consolas"/>
              </a:rPr>
              <a:t>STAGE 3</a:t>
            </a:r>
          </a:p>
        </p:txBody>
      </p:sp>
      <p:sp>
        <p:nvSpPr>
          <p:cNvPr id="21" name="Rectangle 20"/>
          <p:cNvSpPr/>
          <p:nvPr/>
        </p:nvSpPr>
        <p:spPr>
          <a:xfrm>
            <a:off x="7304044" y="3913632"/>
            <a:ext cx="2014057" cy="1188720"/>
          </a:xfrm>
          <a:prstGeom prst="rect">
            <a:avLst/>
          </a:prstGeom>
          <a:solidFill>
            <a:srgbClr val="2C3B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50348" y="4059936"/>
            <a:ext cx="1721449" cy="566928"/>
          </a:xfrm>
          <a:prstGeom prst="rect">
            <a:avLst/>
          </a:prstGeom>
          <a:noFill/>
        </p:spPr>
        <p:txBody>
          <a:bodyPr wrap="square" lIns="0" rIns="0" tIns="0" bIns="0" anchor="t">
            <a:spAutoFit/>
          </a:bodyPr>
          <a:lstStyle/>
          <a:p>
            <a:pPr algn="l">
              <a:lnSpc>
                <a:spcPct val="110000"/>
              </a:lnSpc>
            </a:pPr>
            <a:r>
              <a:rPr sz="1500" b="0">
                <a:solidFill>
                  <a:srgbClr val="FFFFFF"/>
                </a:solidFill>
                <a:latin typeface="Georgia"/>
              </a:rPr>
              <a:t>Two
regions</a:t>
            </a:r>
          </a:p>
        </p:txBody>
      </p:sp>
      <p:sp>
        <p:nvSpPr>
          <p:cNvPr id="23" name="TextBox 22"/>
          <p:cNvSpPr txBox="1"/>
          <p:nvPr/>
        </p:nvSpPr>
        <p:spPr>
          <a:xfrm>
            <a:off x="7450348" y="4700016"/>
            <a:ext cx="1721449" cy="292608"/>
          </a:xfrm>
          <a:prstGeom prst="rect">
            <a:avLst/>
          </a:prstGeom>
          <a:noFill/>
        </p:spPr>
        <p:txBody>
          <a:bodyPr wrap="square" lIns="0" rIns="0" tIns="0" bIns="0" anchor="t">
            <a:spAutoFit/>
          </a:bodyPr>
          <a:lstStyle/>
          <a:p>
            <a:pPr algn="l"/>
            <a:r>
              <a:rPr sz="900" b="0">
                <a:solidFill>
                  <a:srgbClr val="949DAC"/>
                </a:solidFill>
                <a:latin typeface="Consolas"/>
              </a:rPr>
              <a:t>cross an ocean</a:t>
            </a:r>
          </a:p>
        </p:txBody>
      </p:sp>
      <p:sp>
        <p:nvSpPr>
          <p:cNvPr id="24" name="TextBox 23"/>
          <p:cNvSpPr txBox="1"/>
          <p:nvPr/>
        </p:nvSpPr>
        <p:spPr>
          <a:xfrm>
            <a:off x="7450348" y="4956048"/>
            <a:ext cx="1721449" cy="219456"/>
          </a:xfrm>
          <a:prstGeom prst="rect">
            <a:avLst/>
          </a:prstGeom>
          <a:noFill/>
        </p:spPr>
        <p:txBody>
          <a:bodyPr wrap="square" lIns="0" rIns="0" tIns="0" bIns="0" anchor="t">
            <a:spAutoFit/>
          </a:bodyPr>
          <a:lstStyle/>
          <a:p>
            <a:pPr algn="l"/>
            <a:r>
              <a:rPr sz="850" b="1">
                <a:solidFill>
                  <a:srgbClr val="FF6B5E"/>
                </a:solidFill>
                <a:latin typeface="Consolas"/>
              </a:rPr>
              <a:t>STAGE 4</a:t>
            </a:r>
          </a:p>
        </p:txBody>
      </p:sp>
      <p:sp>
        <p:nvSpPr>
          <p:cNvPr id="25" name="Rectangle 24"/>
          <p:cNvSpPr/>
          <p:nvPr/>
        </p:nvSpPr>
        <p:spPr>
          <a:xfrm>
            <a:off x="9519269" y="3913632"/>
            <a:ext cx="2014057" cy="1188720"/>
          </a:xfrm>
          <a:prstGeom prst="rect">
            <a:avLst/>
          </a:prstGeom>
          <a:solidFill>
            <a:srgbClr val="FF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65573" y="4059936"/>
            <a:ext cx="1721449" cy="566928"/>
          </a:xfrm>
          <a:prstGeom prst="rect">
            <a:avLst/>
          </a:prstGeom>
          <a:noFill/>
        </p:spPr>
        <p:txBody>
          <a:bodyPr wrap="square" lIns="0" rIns="0" tIns="0" bIns="0" anchor="t">
            <a:spAutoFit/>
          </a:bodyPr>
          <a:lstStyle/>
          <a:p>
            <a:pPr algn="l">
              <a:lnSpc>
                <a:spcPct val="110000"/>
              </a:lnSpc>
            </a:pPr>
            <a:r>
              <a:rPr sz="1500" b="0">
                <a:solidFill>
                  <a:srgbClr val="FFFFFF"/>
                </a:solidFill>
                <a:latin typeface="Georgia"/>
              </a:rPr>
              <a:t>Three
regions</a:t>
            </a:r>
          </a:p>
        </p:txBody>
      </p:sp>
      <p:sp>
        <p:nvSpPr>
          <p:cNvPr id="27" name="TextBox 26"/>
          <p:cNvSpPr txBox="1"/>
          <p:nvPr/>
        </p:nvSpPr>
        <p:spPr>
          <a:xfrm>
            <a:off x="9665573" y="4700016"/>
            <a:ext cx="1721449" cy="292608"/>
          </a:xfrm>
          <a:prstGeom prst="rect">
            <a:avLst/>
          </a:prstGeom>
          <a:noFill/>
        </p:spPr>
        <p:txBody>
          <a:bodyPr wrap="square" lIns="0" rIns="0" tIns="0" bIns="0" anchor="t">
            <a:spAutoFit/>
          </a:bodyPr>
          <a:lstStyle/>
          <a:p>
            <a:pPr algn="l"/>
            <a:r>
              <a:rPr sz="900" b="0">
                <a:solidFill>
                  <a:srgbClr val="FFFFFF"/>
                </a:solidFill>
                <a:latin typeface="Consolas"/>
              </a:rPr>
              <a:t>one million users</a:t>
            </a:r>
          </a:p>
        </p:txBody>
      </p:sp>
      <p:sp>
        <p:nvSpPr>
          <p:cNvPr id="28" name="TextBox 27"/>
          <p:cNvSpPr txBox="1"/>
          <p:nvPr/>
        </p:nvSpPr>
        <p:spPr>
          <a:xfrm>
            <a:off x="9665573" y="4956048"/>
            <a:ext cx="1721449" cy="219456"/>
          </a:xfrm>
          <a:prstGeom prst="rect">
            <a:avLst/>
          </a:prstGeom>
          <a:noFill/>
        </p:spPr>
        <p:txBody>
          <a:bodyPr wrap="square" lIns="0" rIns="0" tIns="0" bIns="0" anchor="t">
            <a:spAutoFit/>
          </a:bodyPr>
          <a:lstStyle/>
          <a:p>
            <a:pPr algn="l"/>
            <a:r>
              <a:rPr sz="850" b="1">
                <a:solidFill>
                  <a:srgbClr val="FFFFFF"/>
                </a:solidFill>
                <a:latin typeface="Consolas"/>
              </a:rPr>
              <a:t>STAGE 5</a:t>
            </a:r>
          </a:p>
        </p:txBody>
      </p:sp>
      <p:sp>
        <p:nvSpPr>
          <p:cNvPr id="29" name="TextBox 28"/>
          <p:cNvSpPr txBox="1"/>
          <p:nvPr/>
        </p:nvSpPr>
        <p:spPr>
          <a:xfrm>
            <a:off x="658368" y="5431536"/>
            <a:ext cx="7829970" cy="457200"/>
          </a:xfrm>
          <a:prstGeom prst="rect">
            <a:avLst/>
          </a:prstGeom>
          <a:noFill/>
        </p:spPr>
        <p:txBody>
          <a:bodyPr wrap="square" lIns="0" rIns="0" tIns="0" bIns="0" anchor="t">
            <a:spAutoFit/>
          </a:bodyPr>
          <a:lstStyle/>
          <a:p>
            <a:pPr algn="l">
              <a:lnSpc>
                <a:spcPct val="130000"/>
              </a:lnSpc>
            </a:pPr>
            <a:r>
              <a:rPr sz="1250" b="0">
                <a:solidFill>
                  <a:srgbClr val="C3CAD6"/>
                </a:solidFill>
                <a:latin typeface="Calibri"/>
              </a:rPr>
              <a:t>Each stage is entered only when the previous one has reached a real limit — and never by rebuilding what already works.</a:t>
            </a:r>
          </a:p>
        </p:txBody>
      </p:sp>
      <p:sp>
        <p:nvSpPr>
          <p:cNvPr id="30" name="TextBox 29"/>
          <p:cNvSpPr txBox="1"/>
          <p:nvPr/>
        </p:nvSpPr>
        <p:spPr>
          <a:xfrm>
            <a:off x="658368" y="6108192"/>
            <a:ext cx="10874959" cy="274320"/>
          </a:xfrm>
          <a:prstGeom prst="rect">
            <a:avLst/>
          </a:prstGeom>
          <a:noFill/>
        </p:spPr>
        <p:txBody>
          <a:bodyPr wrap="square" lIns="0" rIns="0" tIns="0" bIns="0" anchor="t">
            <a:spAutoFit/>
          </a:bodyPr>
          <a:lstStyle/>
          <a:p>
            <a:pPr algn="l"/>
            <a:r>
              <a:rPr sz="1000" b="0">
                <a:solidFill>
                  <a:srgbClr val="748092"/>
                </a:solidFill>
                <a:latin typeface="Consolas"/>
              </a:rPr>
              <a:t>Growth and architecture plan · prepared for client review · 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pic>
        <p:nvPicPr>
          <p:cNvPr id="2" name="Picture 1" descr="NFCLogo.png"/>
          <p:cNvPicPr>
            <a:picLocks noChangeAspect="1"/>
          </p:cNvPicPr>
          <p:nvPr/>
        </p:nvPicPr>
        <p:blipFill>
          <a:blip r:embed="rId2"/>
          <a:stretch>
            <a:fillRect/>
          </a:stretch>
        </p:blipFill>
        <p:spPr>
          <a:xfrm>
            <a:off x="11206068" y="274320"/>
            <a:ext cx="327259" cy="365760"/>
          </a:xfrm>
          <a:prstGeom prst="rect">
            <a:avLst/>
          </a:prstGeom>
        </p:spPr>
      </p:pic>
      <p:sp>
        <p:nvSpPr>
          <p:cNvPr id="3" name="TextBox 2"/>
          <p:cNvSpPr txBox="1"/>
          <p:nvPr/>
        </p:nvSpPr>
        <p:spPr>
          <a:xfrm>
            <a:off x="658368" y="402336"/>
            <a:ext cx="10874959" cy="219456"/>
          </a:xfrm>
          <a:prstGeom prst="rect">
            <a:avLst/>
          </a:prstGeom>
          <a:noFill/>
        </p:spPr>
        <p:txBody>
          <a:bodyPr wrap="square" lIns="0" rIns="0" tIns="0" bIns="0" anchor="t">
            <a:spAutoFit/>
          </a:bodyPr>
          <a:lstStyle/>
          <a:p>
            <a:pPr algn="l"/>
            <a:r>
              <a:rPr sz="1050" b="1">
                <a:solidFill>
                  <a:srgbClr val="AF3327"/>
                </a:solidFill>
                <a:latin typeface="Consolas"/>
              </a:rPr>
              <a:t>THE PRODUCT</a:t>
            </a:r>
          </a:p>
        </p:txBody>
      </p:sp>
      <p:sp>
        <p:nvSpPr>
          <p:cNvPr id="4" name="TextBox 3"/>
          <p:cNvSpPr txBox="1"/>
          <p:nvPr/>
        </p:nvSpPr>
        <p:spPr>
          <a:xfrm>
            <a:off x="658368" y="676656"/>
            <a:ext cx="10874959" cy="566928"/>
          </a:xfrm>
          <a:prstGeom prst="rect">
            <a:avLst/>
          </a:prstGeom>
          <a:noFill/>
        </p:spPr>
        <p:txBody>
          <a:bodyPr wrap="square" lIns="0" rIns="0" tIns="0" bIns="0" anchor="t">
            <a:spAutoFit/>
          </a:bodyPr>
          <a:lstStyle/>
          <a:p>
            <a:pPr algn="l">
              <a:lnSpc>
                <a:spcPct val="102000"/>
              </a:lnSpc>
            </a:pPr>
            <a:r>
              <a:rPr sz="2600" b="0">
                <a:solidFill>
                  <a:srgbClr val="10131A"/>
                </a:solidFill>
                <a:latin typeface="Georgia"/>
              </a:rPr>
              <a:t>Memories kept, and messages that arrive years later</a:t>
            </a:r>
          </a:p>
        </p:txBody>
      </p:sp>
      <p:sp>
        <p:nvSpPr>
          <p:cNvPr id="5" name="TextBox 4"/>
          <p:cNvSpPr txBox="1"/>
          <p:nvPr/>
        </p:nvSpPr>
        <p:spPr>
          <a:xfrm>
            <a:off x="658368" y="1280160"/>
            <a:ext cx="9787463" cy="384048"/>
          </a:xfrm>
          <a:prstGeom prst="rect">
            <a:avLst/>
          </a:prstGeom>
          <a:noFill/>
        </p:spPr>
        <p:txBody>
          <a:bodyPr wrap="square" lIns="0" rIns="0" tIns="0" bIns="0" anchor="t">
            <a:spAutoFit/>
          </a:bodyPr>
          <a:lstStyle/>
          <a:p>
            <a:pPr algn="l">
              <a:lnSpc>
                <a:spcPct val="124000"/>
              </a:lnSpc>
            </a:pPr>
            <a:r>
              <a:rPr sz="1250" b="0">
                <a:solidFill>
                  <a:srgbClr val="5C6675"/>
                </a:solidFill>
                <a:latin typeface="Calibri"/>
              </a:rPr>
              <a:t>Two things, tightly joined: a private vault for what a family wants to remember, and a way to deliver what they want to say on a date they choose — however far away that date is.</a:t>
            </a:r>
          </a:p>
        </p:txBody>
      </p:sp>
      <p:sp>
        <p:nvSpPr>
          <p:cNvPr id="6" name="Rectangle 5"/>
          <p:cNvSpPr/>
          <p:nvPr/>
        </p:nvSpPr>
        <p:spPr>
          <a:xfrm>
            <a:off x="658368" y="1719072"/>
            <a:ext cx="822960" cy="32004"/>
          </a:xfrm>
          <a:prstGeom prst="rect">
            <a:avLst/>
          </a:prstGeom>
          <a:solidFill>
            <a:srgbClr val="FF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920239"/>
            <a:ext cx="3490874" cy="1874519"/>
          </a:xfrm>
          <a:prstGeom prst="rect">
            <a:avLst/>
          </a:prstGeom>
          <a:solidFill>
            <a:srgbClr val="FFFFFF"/>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920239"/>
            <a:ext cx="3490874" cy="41148"/>
          </a:xfrm>
          <a:prstGeom prst="rect">
            <a:avLst/>
          </a:prstGeom>
          <a:solidFill>
            <a:srgbClr val="223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2093975"/>
            <a:ext cx="3088538" cy="201168"/>
          </a:xfrm>
          <a:prstGeom prst="rect">
            <a:avLst/>
          </a:prstGeom>
          <a:noFill/>
        </p:spPr>
        <p:txBody>
          <a:bodyPr wrap="square" lIns="0" rIns="0" tIns="0" bIns="0" anchor="t">
            <a:spAutoFit/>
          </a:bodyPr>
          <a:lstStyle/>
          <a:p>
            <a:pPr algn="l"/>
            <a:r>
              <a:rPr sz="1000" b="1">
                <a:solidFill>
                  <a:srgbClr val="AF3327"/>
                </a:solidFill>
                <a:latin typeface="Consolas"/>
              </a:rPr>
              <a:t>01</a:t>
            </a:r>
          </a:p>
        </p:txBody>
      </p:sp>
      <p:sp>
        <p:nvSpPr>
          <p:cNvPr id="10" name="TextBox 9"/>
          <p:cNvSpPr txBox="1"/>
          <p:nvPr/>
        </p:nvSpPr>
        <p:spPr>
          <a:xfrm>
            <a:off x="859536" y="2322575"/>
            <a:ext cx="3088538" cy="457200"/>
          </a:xfrm>
          <a:prstGeom prst="rect">
            <a:avLst/>
          </a:prstGeom>
          <a:noFill/>
        </p:spPr>
        <p:txBody>
          <a:bodyPr wrap="square" lIns="0" rIns="0" tIns="0" bIns="0" anchor="t">
            <a:spAutoFit/>
          </a:bodyPr>
          <a:lstStyle/>
          <a:p>
            <a:pPr algn="l">
              <a:lnSpc>
                <a:spcPct val="108000"/>
              </a:lnSpc>
            </a:pPr>
            <a:r>
              <a:rPr sz="1350" b="0">
                <a:solidFill>
                  <a:srgbClr val="10131A"/>
                </a:solidFill>
                <a:latin typeface="Georgia"/>
              </a:rPr>
              <a:t>A private family vault</a:t>
            </a:r>
          </a:p>
        </p:txBody>
      </p:sp>
      <p:sp>
        <p:nvSpPr>
          <p:cNvPr id="11" name="TextBox 10"/>
          <p:cNvSpPr txBox="1"/>
          <p:nvPr/>
        </p:nvSpPr>
        <p:spPr>
          <a:xfrm>
            <a:off x="859536" y="2834639"/>
            <a:ext cx="3088538" cy="841248"/>
          </a:xfrm>
          <a:prstGeom prst="rect">
            <a:avLst/>
          </a:prstGeom>
          <a:noFill/>
        </p:spPr>
        <p:txBody>
          <a:bodyPr wrap="square" lIns="0" rIns="0" tIns="0" bIns="0" anchor="t">
            <a:spAutoFit/>
          </a:bodyPr>
          <a:lstStyle/>
          <a:p>
            <a:pPr algn="l">
              <a:lnSpc>
                <a:spcPct val="128000"/>
              </a:lnSpc>
            </a:pPr>
            <a:r>
              <a:rPr sz="1050" b="0">
                <a:solidFill>
                  <a:srgbClr val="38414F"/>
                </a:solidFill>
                <a:latin typeface="Calibri"/>
              </a:rPr>
              <a:t>Photos, video and voice notes, kept as the originals. Nothing is compressed and nothing is quietly downgraded.</a:t>
            </a:r>
          </a:p>
        </p:txBody>
      </p:sp>
      <p:sp>
        <p:nvSpPr>
          <p:cNvPr id="12" name="Rectangle 11"/>
          <p:cNvSpPr/>
          <p:nvPr/>
        </p:nvSpPr>
        <p:spPr>
          <a:xfrm>
            <a:off x="4350410" y="1920239"/>
            <a:ext cx="3490874" cy="1874519"/>
          </a:xfrm>
          <a:prstGeom prst="rect">
            <a:avLst/>
          </a:prstGeom>
          <a:solidFill>
            <a:srgbClr val="FFFFFF"/>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50410" y="1920239"/>
            <a:ext cx="3490874" cy="41148"/>
          </a:xfrm>
          <a:prstGeom prst="rect">
            <a:avLst/>
          </a:prstGeom>
          <a:solidFill>
            <a:srgbClr val="FF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51578" y="2093975"/>
            <a:ext cx="3088538" cy="201168"/>
          </a:xfrm>
          <a:prstGeom prst="rect">
            <a:avLst/>
          </a:prstGeom>
          <a:noFill/>
        </p:spPr>
        <p:txBody>
          <a:bodyPr wrap="square" lIns="0" rIns="0" tIns="0" bIns="0" anchor="t">
            <a:spAutoFit/>
          </a:bodyPr>
          <a:lstStyle/>
          <a:p>
            <a:pPr algn="l"/>
            <a:r>
              <a:rPr sz="1000" b="1">
                <a:solidFill>
                  <a:srgbClr val="AF3327"/>
                </a:solidFill>
                <a:latin typeface="Consolas"/>
              </a:rPr>
              <a:t>02</a:t>
            </a:r>
          </a:p>
        </p:txBody>
      </p:sp>
      <p:sp>
        <p:nvSpPr>
          <p:cNvPr id="15" name="TextBox 14"/>
          <p:cNvSpPr txBox="1"/>
          <p:nvPr/>
        </p:nvSpPr>
        <p:spPr>
          <a:xfrm>
            <a:off x="4551578" y="2322575"/>
            <a:ext cx="3088538" cy="457200"/>
          </a:xfrm>
          <a:prstGeom prst="rect">
            <a:avLst/>
          </a:prstGeom>
          <a:noFill/>
        </p:spPr>
        <p:txBody>
          <a:bodyPr wrap="square" lIns="0" rIns="0" tIns="0" bIns="0" anchor="t">
            <a:spAutoFit/>
          </a:bodyPr>
          <a:lstStyle/>
          <a:p>
            <a:pPr algn="l">
              <a:lnSpc>
                <a:spcPct val="108000"/>
              </a:lnSpc>
            </a:pPr>
            <a:r>
              <a:rPr sz="1350" b="0">
                <a:solidFill>
                  <a:srgbClr val="10131A"/>
                </a:solidFill>
                <a:latin typeface="Georgia"/>
              </a:rPr>
              <a:t>A timeline that runs both ways</a:t>
            </a:r>
          </a:p>
        </p:txBody>
      </p:sp>
      <p:sp>
        <p:nvSpPr>
          <p:cNvPr id="16" name="TextBox 15"/>
          <p:cNvSpPr txBox="1"/>
          <p:nvPr/>
        </p:nvSpPr>
        <p:spPr>
          <a:xfrm>
            <a:off x="4551578" y="2834639"/>
            <a:ext cx="3088538" cy="841248"/>
          </a:xfrm>
          <a:prstGeom prst="rect">
            <a:avLst/>
          </a:prstGeom>
          <a:noFill/>
        </p:spPr>
        <p:txBody>
          <a:bodyPr wrap="square" lIns="0" rIns="0" tIns="0" bIns="0" anchor="t">
            <a:spAutoFit/>
          </a:bodyPr>
          <a:lstStyle/>
          <a:p>
            <a:pPr algn="l">
              <a:lnSpc>
                <a:spcPct val="128000"/>
              </a:lnSpc>
            </a:pPr>
            <a:r>
              <a:rPr sz="1050" b="0">
                <a:solidFill>
                  <a:srgbClr val="38414F"/>
                </a:solidFill>
                <a:latin typeface="Calibri"/>
              </a:rPr>
              <a:t>The past, dated exactly or as roughly as it is actually remembered. And the future, showing what is still to come.</a:t>
            </a:r>
          </a:p>
        </p:txBody>
      </p:sp>
      <p:sp>
        <p:nvSpPr>
          <p:cNvPr id="17" name="Rectangle 16"/>
          <p:cNvSpPr/>
          <p:nvPr/>
        </p:nvSpPr>
        <p:spPr>
          <a:xfrm>
            <a:off x="8042452" y="1920239"/>
            <a:ext cx="3490874" cy="1874519"/>
          </a:xfrm>
          <a:prstGeom prst="rect">
            <a:avLst/>
          </a:prstGeom>
          <a:solidFill>
            <a:srgbClr val="FFFFFF"/>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2452" y="1920239"/>
            <a:ext cx="3490874" cy="41148"/>
          </a:xfrm>
          <a:prstGeom prst="rect">
            <a:avLst/>
          </a:prstGeom>
          <a:solidFill>
            <a:srgbClr val="223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43620" y="2093975"/>
            <a:ext cx="3088538" cy="201168"/>
          </a:xfrm>
          <a:prstGeom prst="rect">
            <a:avLst/>
          </a:prstGeom>
          <a:noFill/>
        </p:spPr>
        <p:txBody>
          <a:bodyPr wrap="square" lIns="0" rIns="0" tIns="0" bIns="0" anchor="t">
            <a:spAutoFit/>
          </a:bodyPr>
          <a:lstStyle/>
          <a:p>
            <a:pPr algn="l"/>
            <a:r>
              <a:rPr sz="1000" b="1">
                <a:solidFill>
                  <a:srgbClr val="AF3327"/>
                </a:solidFill>
                <a:latin typeface="Consolas"/>
              </a:rPr>
              <a:t>03</a:t>
            </a:r>
          </a:p>
        </p:txBody>
      </p:sp>
      <p:sp>
        <p:nvSpPr>
          <p:cNvPr id="20" name="TextBox 19"/>
          <p:cNvSpPr txBox="1"/>
          <p:nvPr/>
        </p:nvSpPr>
        <p:spPr>
          <a:xfrm>
            <a:off x="8243620" y="2322575"/>
            <a:ext cx="3088538" cy="457200"/>
          </a:xfrm>
          <a:prstGeom prst="rect">
            <a:avLst/>
          </a:prstGeom>
          <a:noFill/>
        </p:spPr>
        <p:txBody>
          <a:bodyPr wrap="square" lIns="0" rIns="0" tIns="0" bIns="0" anchor="t">
            <a:spAutoFit/>
          </a:bodyPr>
          <a:lstStyle/>
          <a:p>
            <a:pPr algn="l">
              <a:lnSpc>
                <a:spcPct val="108000"/>
              </a:lnSpc>
            </a:pPr>
            <a:r>
              <a:rPr sz="1350" b="0">
                <a:solidFill>
                  <a:srgbClr val="10131A"/>
                </a:solidFill>
                <a:latin typeface="Georgia"/>
              </a:rPr>
              <a:t>Messages that arrive later</a:t>
            </a:r>
          </a:p>
        </p:txBody>
      </p:sp>
      <p:sp>
        <p:nvSpPr>
          <p:cNvPr id="21" name="TextBox 20"/>
          <p:cNvSpPr txBox="1"/>
          <p:nvPr/>
        </p:nvSpPr>
        <p:spPr>
          <a:xfrm>
            <a:off x="8243620" y="2834639"/>
            <a:ext cx="3088538" cy="841248"/>
          </a:xfrm>
          <a:prstGeom prst="rect">
            <a:avLst/>
          </a:prstGeom>
          <a:noFill/>
        </p:spPr>
        <p:txBody>
          <a:bodyPr wrap="square" lIns="0" rIns="0" tIns="0" bIns="0" anchor="t">
            <a:spAutoFit/>
          </a:bodyPr>
          <a:lstStyle/>
          <a:p>
            <a:pPr algn="l">
              <a:lnSpc>
                <a:spcPct val="128000"/>
              </a:lnSpc>
            </a:pPr>
            <a:r>
              <a:rPr sz="1050" b="0">
                <a:solidFill>
                  <a:srgbClr val="38414F"/>
                </a:solidFill>
                <a:latin typeface="Calibri"/>
              </a:rPr>
              <a:t>Write it, seal it, and choose when it opens — a date, or a milestone such as a child’s eighteenth birthday.</a:t>
            </a:r>
          </a:p>
        </p:txBody>
      </p:sp>
      <p:sp>
        <p:nvSpPr>
          <p:cNvPr id="22" name="Rectangle 21"/>
          <p:cNvSpPr/>
          <p:nvPr/>
        </p:nvSpPr>
        <p:spPr>
          <a:xfrm>
            <a:off x="658368" y="3995927"/>
            <a:ext cx="3490874" cy="1874519"/>
          </a:xfrm>
          <a:prstGeom prst="rect">
            <a:avLst/>
          </a:prstGeom>
          <a:solidFill>
            <a:srgbClr val="FFFFFF"/>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58368" y="3995927"/>
            <a:ext cx="3490874" cy="41148"/>
          </a:xfrm>
          <a:prstGeom prst="rect">
            <a:avLst/>
          </a:prstGeom>
          <a:solidFill>
            <a:srgbClr val="223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59536" y="4169663"/>
            <a:ext cx="3088538" cy="201168"/>
          </a:xfrm>
          <a:prstGeom prst="rect">
            <a:avLst/>
          </a:prstGeom>
          <a:noFill/>
        </p:spPr>
        <p:txBody>
          <a:bodyPr wrap="square" lIns="0" rIns="0" tIns="0" bIns="0" anchor="t">
            <a:spAutoFit/>
          </a:bodyPr>
          <a:lstStyle/>
          <a:p>
            <a:pPr algn="l"/>
            <a:r>
              <a:rPr sz="1000" b="1">
                <a:solidFill>
                  <a:srgbClr val="AF3327"/>
                </a:solidFill>
                <a:latin typeface="Consolas"/>
              </a:rPr>
              <a:t>04</a:t>
            </a:r>
          </a:p>
        </p:txBody>
      </p:sp>
      <p:sp>
        <p:nvSpPr>
          <p:cNvPr id="25" name="TextBox 24"/>
          <p:cNvSpPr txBox="1"/>
          <p:nvPr/>
        </p:nvSpPr>
        <p:spPr>
          <a:xfrm>
            <a:off x="859536" y="4398264"/>
            <a:ext cx="3088538" cy="457200"/>
          </a:xfrm>
          <a:prstGeom prst="rect">
            <a:avLst/>
          </a:prstGeom>
          <a:noFill/>
        </p:spPr>
        <p:txBody>
          <a:bodyPr wrap="square" lIns="0" rIns="0" tIns="0" bIns="0" anchor="t">
            <a:spAutoFit/>
          </a:bodyPr>
          <a:lstStyle/>
          <a:p>
            <a:pPr algn="l">
              <a:lnSpc>
                <a:spcPct val="108000"/>
              </a:lnSpc>
            </a:pPr>
            <a:r>
              <a:rPr sz="1350" b="0">
                <a:solidFill>
                  <a:srgbClr val="10131A"/>
                </a:solidFill>
                <a:latin typeface="Georgia"/>
              </a:rPr>
              <a:t>Sealed means sealed</a:t>
            </a:r>
          </a:p>
        </p:txBody>
      </p:sp>
      <p:sp>
        <p:nvSpPr>
          <p:cNvPr id="26" name="TextBox 25"/>
          <p:cNvSpPr txBox="1"/>
          <p:nvPr/>
        </p:nvSpPr>
        <p:spPr>
          <a:xfrm>
            <a:off x="859536" y="4910327"/>
            <a:ext cx="3088538" cy="841248"/>
          </a:xfrm>
          <a:prstGeom prst="rect">
            <a:avLst/>
          </a:prstGeom>
          <a:noFill/>
        </p:spPr>
        <p:txBody>
          <a:bodyPr wrap="square" lIns="0" rIns="0" tIns="0" bIns="0" anchor="t">
            <a:spAutoFit/>
          </a:bodyPr>
          <a:lstStyle/>
          <a:p>
            <a:pPr algn="l">
              <a:lnSpc>
                <a:spcPct val="128000"/>
              </a:lnSpc>
            </a:pPr>
            <a:r>
              <a:rPr sz="1050" b="0">
                <a:solidFill>
                  <a:srgbClr val="38414F"/>
                </a:solidFill>
                <a:latin typeface="Calibri"/>
              </a:rPr>
              <a:t>Once sealed, a capsule cannot be quietly changed. The message and the date it is due are committed together, in one step.</a:t>
            </a:r>
          </a:p>
        </p:txBody>
      </p:sp>
      <p:sp>
        <p:nvSpPr>
          <p:cNvPr id="27" name="Rectangle 26"/>
          <p:cNvSpPr/>
          <p:nvPr/>
        </p:nvSpPr>
        <p:spPr>
          <a:xfrm>
            <a:off x="4350410" y="3995927"/>
            <a:ext cx="3490874" cy="1874519"/>
          </a:xfrm>
          <a:prstGeom prst="rect">
            <a:avLst/>
          </a:prstGeom>
          <a:solidFill>
            <a:srgbClr val="FFFFFF"/>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350410" y="3995927"/>
            <a:ext cx="3490874" cy="41148"/>
          </a:xfrm>
          <a:prstGeom prst="rect">
            <a:avLst/>
          </a:prstGeom>
          <a:solidFill>
            <a:srgbClr val="FF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51578" y="4169663"/>
            <a:ext cx="3088538" cy="201168"/>
          </a:xfrm>
          <a:prstGeom prst="rect">
            <a:avLst/>
          </a:prstGeom>
          <a:noFill/>
        </p:spPr>
        <p:txBody>
          <a:bodyPr wrap="square" lIns="0" rIns="0" tIns="0" bIns="0" anchor="t">
            <a:spAutoFit/>
          </a:bodyPr>
          <a:lstStyle/>
          <a:p>
            <a:pPr algn="l"/>
            <a:r>
              <a:rPr sz="1000" b="1">
                <a:solidFill>
                  <a:srgbClr val="AF3327"/>
                </a:solidFill>
                <a:latin typeface="Consolas"/>
              </a:rPr>
              <a:t>05</a:t>
            </a:r>
          </a:p>
        </p:txBody>
      </p:sp>
      <p:sp>
        <p:nvSpPr>
          <p:cNvPr id="30" name="TextBox 29"/>
          <p:cNvSpPr txBox="1"/>
          <p:nvPr/>
        </p:nvSpPr>
        <p:spPr>
          <a:xfrm>
            <a:off x="4551578" y="4398264"/>
            <a:ext cx="3088538" cy="457200"/>
          </a:xfrm>
          <a:prstGeom prst="rect">
            <a:avLst/>
          </a:prstGeom>
          <a:noFill/>
        </p:spPr>
        <p:txBody>
          <a:bodyPr wrap="square" lIns="0" rIns="0" tIns="0" bIns="0" anchor="t">
            <a:spAutoFit/>
          </a:bodyPr>
          <a:lstStyle/>
          <a:p>
            <a:pPr algn="l">
              <a:lnSpc>
                <a:spcPct val="108000"/>
              </a:lnSpc>
            </a:pPr>
            <a:r>
              <a:rPr sz="1350" b="0">
                <a:solidFill>
                  <a:srgbClr val="10131A"/>
                </a:solidFill>
                <a:latin typeface="Georgia"/>
              </a:rPr>
              <a:t>Shared with the family</a:t>
            </a:r>
          </a:p>
        </p:txBody>
      </p:sp>
      <p:sp>
        <p:nvSpPr>
          <p:cNvPr id="31" name="TextBox 30"/>
          <p:cNvSpPr txBox="1"/>
          <p:nvPr/>
        </p:nvSpPr>
        <p:spPr>
          <a:xfrm>
            <a:off x="4551578" y="4910327"/>
            <a:ext cx="3088538" cy="841248"/>
          </a:xfrm>
          <a:prstGeom prst="rect">
            <a:avLst/>
          </a:prstGeom>
          <a:noFill/>
        </p:spPr>
        <p:txBody>
          <a:bodyPr wrap="square" lIns="0" rIns="0" tIns="0" bIns="0" anchor="t">
            <a:spAutoFit/>
          </a:bodyPr>
          <a:lstStyle/>
          <a:p>
            <a:pPr algn="l">
              <a:lnSpc>
                <a:spcPct val="128000"/>
              </a:lnSpc>
            </a:pPr>
            <a:r>
              <a:rPr sz="1050" b="0">
                <a:solidFill>
                  <a:srgbClr val="38414F"/>
                </a:solidFill>
                <a:latin typeface="Calibri"/>
              </a:rPr>
              <a:t>Invite the people it belongs to, with roles that decide who can see, who can add, and who can seal.</a:t>
            </a:r>
          </a:p>
        </p:txBody>
      </p:sp>
      <p:sp>
        <p:nvSpPr>
          <p:cNvPr id="32" name="Rectangle 31"/>
          <p:cNvSpPr/>
          <p:nvPr/>
        </p:nvSpPr>
        <p:spPr>
          <a:xfrm>
            <a:off x="8042452" y="3995927"/>
            <a:ext cx="3490874" cy="1874519"/>
          </a:xfrm>
          <a:prstGeom prst="rect">
            <a:avLst/>
          </a:prstGeom>
          <a:solidFill>
            <a:srgbClr val="FFFFFF"/>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42452" y="3995927"/>
            <a:ext cx="3490874" cy="41148"/>
          </a:xfrm>
          <a:prstGeom prst="rect">
            <a:avLst/>
          </a:prstGeom>
          <a:solidFill>
            <a:srgbClr val="223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43620" y="4169663"/>
            <a:ext cx="3088538" cy="201168"/>
          </a:xfrm>
          <a:prstGeom prst="rect">
            <a:avLst/>
          </a:prstGeom>
          <a:noFill/>
        </p:spPr>
        <p:txBody>
          <a:bodyPr wrap="square" lIns="0" rIns="0" tIns="0" bIns="0" anchor="t">
            <a:spAutoFit/>
          </a:bodyPr>
          <a:lstStyle/>
          <a:p>
            <a:pPr algn="l"/>
            <a:r>
              <a:rPr sz="1000" b="1">
                <a:solidFill>
                  <a:srgbClr val="AF3327"/>
                </a:solidFill>
                <a:latin typeface="Consolas"/>
              </a:rPr>
              <a:t>06</a:t>
            </a:r>
          </a:p>
        </p:txBody>
      </p:sp>
      <p:sp>
        <p:nvSpPr>
          <p:cNvPr id="35" name="TextBox 34"/>
          <p:cNvSpPr txBox="1"/>
          <p:nvPr/>
        </p:nvSpPr>
        <p:spPr>
          <a:xfrm>
            <a:off x="8243620" y="4398264"/>
            <a:ext cx="3088538" cy="457200"/>
          </a:xfrm>
          <a:prstGeom prst="rect">
            <a:avLst/>
          </a:prstGeom>
          <a:noFill/>
        </p:spPr>
        <p:txBody>
          <a:bodyPr wrap="square" lIns="0" rIns="0" tIns="0" bIns="0" anchor="t">
            <a:spAutoFit/>
          </a:bodyPr>
          <a:lstStyle/>
          <a:p>
            <a:pPr algn="l">
              <a:lnSpc>
                <a:spcPct val="108000"/>
              </a:lnSpc>
            </a:pPr>
            <a:r>
              <a:rPr sz="1350" b="0">
                <a:solidFill>
                  <a:srgbClr val="10131A"/>
                </a:solidFill>
                <a:latin typeface="Georgia"/>
              </a:rPr>
              <a:t>Promises that outlive us</a:t>
            </a:r>
          </a:p>
        </p:txBody>
      </p:sp>
      <p:sp>
        <p:nvSpPr>
          <p:cNvPr id="36" name="TextBox 35"/>
          <p:cNvSpPr txBox="1"/>
          <p:nvPr/>
        </p:nvSpPr>
        <p:spPr>
          <a:xfrm>
            <a:off x="8243620" y="4910327"/>
            <a:ext cx="3088538" cy="841248"/>
          </a:xfrm>
          <a:prstGeom prst="rect">
            <a:avLst/>
          </a:prstGeom>
          <a:noFill/>
        </p:spPr>
        <p:txBody>
          <a:bodyPr wrap="square" lIns="0" rIns="0" tIns="0" bIns="0" anchor="t">
            <a:spAutoFit/>
          </a:bodyPr>
          <a:lstStyle/>
          <a:p>
            <a:pPr algn="l">
              <a:lnSpc>
                <a:spcPct val="128000"/>
              </a:lnSpc>
            </a:pPr>
            <a:r>
              <a:rPr sz="1050" b="0">
                <a:solidFill>
                  <a:srgbClr val="38414F"/>
                </a:solidFill>
                <a:latin typeface="Calibri"/>
              </a:rPr>
              <a:t>Heirs and a backup guardian, and a recipient link that is still valid decades after it was created.</a:t>
            </a:r>
          </a:p>
        </p:txBody>
      </p:sp>
      <p:sp>
        <p:nvSpPr>
          <p:cNvPr id="37" name="TextBox 36"/>
          <p:cNvSpPr txBox="1"/>
          <p:nvPr/>
        </p:nvSpPr>
        <p:spPr>
          <a:xfrm>
            <a:off x="658368" y="6419088"/>
            <a:ext cx="8699967" cy="201168"/>
          </a:xfrm>
          <a:prstGeom prst="rect">
            <a:avLst/>
          </a:prstGeom>
          <a:noFill/>
        </p:spPr>
        <p:txBody>
          <a:bodyPr wrap="square" lIns="0" rIns="0" tIns="0" bIns="0" anchor="t">
            <a:spAutoFit/>
          </a:bodyPr>
          <a:lstStyle/>
          <a:p>
            <a:pPr algn="l"/>
            <a:r>
              <a:rPr sz="950" b="0">
                <a:solidFill>
                  <a:srgbClr val="5C6675"/>
                </a:solidFill>
                <a:latin typeface="Consolas"/>
              </a:rPr>
              <a:t>What the product does</a:t>
            </a:r>
          </a:p>
        </p:txBody>
      </p:sp>
      <p:sp>
        <p:nvSpPr>
          <p:cNvPr id="38" name="TextBox 37"/>
          <p:cNvSpPr txBox="1"/>
          <p:nvPr/>
        </p:nvSpPr>
        <p:spPr>
          <a:xfrm>
            <a:off x="10618927" y="6419088"/>
            <a:ext cx="914400" cy="201168"/>
          </a:xfrm>
          <a:prstGeom prst="rect">
            <a:avLst/>
          </a:prstGeom>
          <a:noFill/>
        </p:spPr>
        <p:txBody>
          <a:bodyPr wrap="square" lIns="0" rIns="0" tIns="0" bIns="0" anchor="t">
            <a:spAutoFit/>
          </a:bodyPr>
          <a:lstStyle/>
          <a:p>
            <a:pPr algn="r"/>
            <a:r>
              <a:rPr sz="950" b="0">
                <a:solidFill>
                  <a:srgbClr val="5C6675"/>
                </a:solidFill>
                <a:latin typeface="Consolas"/>
              </a:rPr>
              <a:t>02 / 16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pic>
        <p:nvPicPr>
          <p:cNvPr id="2" name="Picture 1" descr="NFCLogo.png"/>
          <p:cNvPicPr>
            <a:picLocks noChangeAspect="1"/>
          </p:cNvPicPr>
          <p:nvPr/>
        </p:nvPicPr>
        <p:blipFill>
          <a:blip r:embed="rId2"/>
          <a:stretch>
            <a:fillRect/>
          </a:stretch>
        </p:blipFill>
        <p:spPr>
          <a:xfrm>
            <a:off x="11206068" y="274320"/>
            <a:ext cx="327259" cy="365760"/>
          </a:xfrm>
          <a:prstGeom prst="rect">
            <a:avLst/>
          </a:prstGeom>
        </p:spPr>
      </p:pic>
      <p:sp>
        <p:nvSpPr>
          <p:cNvPr id="3" name="TextBox 2"/>
          <p:cNvSpPr txBox="1"/>
          <p:nvPr/>
        </p:nvSpPr>
        <p:spPr>
          <a:xfrm>
            <a:off x="658368" y="402336"/>
            <a:ext cx="10874959" cy="219456"/>
          </a:xfrm>
          <a:prstGeom prst="rect">
            <a:avLst/>
          </a:prstGeom>
          <a:noFill/>
        </p:spPr>
        <p:txBody>
          <a:bodyPr wrap="square" lIns="0" rIns="0" tIns="0" bIns="0" anchor="t">
            <a:spAutoFit/>
          </a:bodyPr>
          <a:lstStyle/>
          <a:p>
            <a:pPr algn="l"/>
            <a:r>
              <a:rPr sz="1050" b="1">
                <a:solidFill>
                  <a:srgbClr val="AF3327"/>
                </a:solidFill>
                <a:latin typeface="Consolas"/>
              </a:rPr>
              <a:t>THE PLAN AT A GLANCE</a:t>
            </a:r>
          </a:p>
        </p:txBody>
      </p:sp>
      <p:sp>
        <p:nvSpPr>
          <p:cNvPr id="4" name="TextBox 3"/>
          <p:cNvSpPr txBox="1"/>
          <p:nvPr/>
        </p:nvSpPr>
        <p:spPr>
          <a:xfrm>
            <a:off x="658368" y="676656"/>
            <a:ext cx="10874959" cy="566928"/>
          </a:xfrm>
          <a:prstGeom prst="rect">
            <a:avLst/>
          </a:prstGeom>
          <a:noFill/>
        </p:spPr>
        <p:txBody>
          <a:bodyPr wrap="square" lIns="0" rIns="0" tIns="0" bIns="0" anchor="t">
            <a:spAutoFit/>
          </a:bodyPr>
          <a:lstStyle/>
          <a:p>
            <a:pPr algn="l">
              <a:lnSpc>
                <a:spcPct val="102000"/>
              </a:lnSpc>
            </a:pPr>
            <a:r>
              <a:rPr sz="2600" b="0">
                <a:solidFill>
                  <a:srgbClr val="10131A"/>
                </a:solidFill>
                <a:latin typeface="Georgia"/>
              </a:rPr>
              <a:t>Five stages, one codebase, no rebuilds</a:t>
            </a:r>
          </a:p>
        </p:txBody>
      </p:sp>
      <p:sp>
        <p:nvSpPr>
          <p:cNvPr id="5" name="TextBox 4"/>
          <p:cNvSpPr txBox="1"/>
          <p:nvPr/>
        </p:nvSpPr>
        <p:spPr>
          <a:xfrm>
            <a:off x="658368" y="1280160"/>
            <a:ext cx="9787463" cy="384048"/>
          </a:xfrm>
          <a:prstGeom prst="rect">
            <a:avLst/>
          </a:prstGeom>
          <a:noFill/>
        </p:spPr>
        <p:txBody>
          <a:bodyPr wrap="square" lIns="0" rIns="0" tIns="0" bIns="0" anchor="t">
            <a:spAutoFit/>
          </a:bodyPr>
          <a:lstStyle/>
          <a:p>
            <a:pPr algn="l">
              <a:lnSpc>
                <a:spcPct val="124000"/>
              </a:lnSpc>
            </a:pPr>
            <a:r>
              <a:rPr sz="1250" b="0">
                <a:solidFill>
                  <a:srgbClr val="5C6675"/>
                </a:solidFill>
                <a:latin typeface="Calibri"/>
              </a:rPr>
              <a:t>The whole journey on one page. Read the last column first: the system only becomes more available and more local — it never becomes a different system.</a:t>
            </a:r>
          </a:p>
        </p:txBody>
      </p:sp>
      <p:sp>
        <p:nvSpPr>
          <p:cNvPr id="6" name="Rectangle 5"/>
          <p:cNvSpPr/>
          <p:nvPr/>
        </p:nvSpPr>
        <p:spPr>
          <a:xfrm>
            <a:off x="658368" y="1719072"/>
            <a:ext cx="822960" cy="32004"/>
          </a:xfrm>
          <a:prstGeom prst="rect">
            <a:avLst/>
          </a:prstGeom>
          <a:solidFill>
            <a:srgbClr val="FF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entagon 6"/>
          <p:cNvSpPr/>
          <p:nvPr/>
        </p:nvSpPr>
        <p:spPr>
          <a:xfrm>
            <a:off x="658368" y="1920239"/>
            <a:ext cx="2229855" cy="713232"/>
          </a:xfrm>
          <a:prstGeom prst="homePlate">
            <a:avLst/>
          </a:prstGeom>
          <a:solidFill>
            <a:srgbClr val="5C66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182880" tIns="18288" bIns="18288"/>
          <a:lstStyle/>
          <a:p>
            <a:pPr algn="ctr">
              <a:lnSpc>
                <a:spcPct val="102000"/>
              </a:lnSpc>
            </a:pPr>
            <a:r>
              <a:rPr sz="1050" b="1">
                <a:solidFill>
                  <a:srgbClr val="FFFFFF"/>
                </a:solidFill>
                <a:latin typeface="Calibri"/>
              </a:rPr>
              <a:t>1
One server</a:t>
            </a:r>
          </a:p>
        </p:txBody>
      </p:sp>
      <p:sp>
        <p:nvSpPr>
          <p:cNvPr id="8" name="Pentagon 7"/>
          <p:cNvSpPr/>
          <p:nvPr/>
        </p:nvSpPr>
        <p:spPr>
          <a:xfrm>
            <a:off x="2833359" y="1920239"/>
            <a:ext cx="2229855" cy="713232"/>
          </a:xfrm>
          <a:prstGeom prst="homePlate">
            <a:avLst/>
          </a:prstGeom>
          <a:solidFill>
            <a:srgbClr val="2230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182880" tIns="18288" bIns="18288"/>
          <a:lstStyle/>
          <a:p>
            <a:pPr algn="ctr">
              <a:lnSpc>
                <a:spcPct val="102000"/>
              </a:lnSpc>
            </a:pPr>
            <a:r>
              <a:rPr sz="1050" b="1">
                <a:solidFill>
                  <a:srgbClr val="FFFFFF"/>
                </a:solidFill>
                <a:latin typeface="Calibri"/>
              </a:rPr>
              <a:t>2
Managed cloud</a:t>
            </a:r>
          </a:p>
        </p:txBody>
      </p:sp>
      <p:sp>
        <p:nvSpPr>
          <p:cNvPr id="9" name="Pentagon 8"/>
          <p:cNvSpPr/>
          <p:nvPr/>
        </p:nvSpPr>
        <p:spPr>
          <a:xfrm>
            <a:off x="5008351" y="1920239"/>
            <a:ext cx="2229855" cy="713232"/>
          </a:xfrm>
          <a:prstGeom prst="homePlate">
            <a:avLst/>
          </a:prstGeom>
          <a:solidFill>
            <a:srgbClr val="2230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182880" tIns="18288" bIns="18288"/>
          <a:lstStyle/>
          <a:p>
            <a:pPr algn="ctr">
              <a:lnSpc>
                <a:spcPct val="102000"/>
              </a:lnSpc>
            </a:pPr>
            <a:r>
              <a:rPr sz="1050" b="1">
                <a:solidFill>
                  <a:srgbClr val="FFFFFF"/>
                </a:solidFill>
                <a:latin typeface="Calibri"/>
              </a:rPr>
              <a:t>3
Multi-zone</a:t>
            </a:r>
          </a:p>
        </p:txBody>
      </p:sp>
      <p:sp>
        <p:nvSpPr>
          <p:cNvPr id="10" name="Pentagon 9"/>
          <p:cNvSpPr/>
          <p:nvPr/>
        </p:nvSpPr>
        <p:spPr>
          <a:xfrm>
            <a:off x="7183343" y="1920239"/>
            <a:ext cx="2229855" cy="713232"/>
          </a:xfrm>
          <a:prstGeom prst="homePlate">
            <a:avLst/>
          </a:prstGeom>
          <a:solidFill>
            <a:srgbClr val="2230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182880" tIns="18288" bIns="18288"/>
          <a:lstStyle/>
          <a:p>
            <a:pPr algn="ctr">
              <a:lnSpc>
                <a:spcPct val="102000"/>
              </a:lnSpc>
            </a:pPr>
            <a:r>
              <a:rPr sz="1050" b="1">
                <a:solidFill>
                  <a:srgbClr val="FFFFFF"/>
                </a:solidFill>
                <a:latin typeface="Calibri"/>
              </a:rPr>
              <a:t>4
Two regions</a:t>
            </a:r>
          </a:p>
        </p:txBody>
      </p:sp>
      <p:sp>
        <p:nvSpPr>
          <p:cNvPr id="11" name="Pentagon 10"/>
          <p:cNvSpPr/>
          <p:nvPr/>
        </p:nvSpPr>
        <p:spPr>
          <a:xfrm>
            <a:off x="9358335" y="1920239"/>
            <a:ext cx="2229855" cy="713232"/>
          </a:xfrm>
          <a:prstGeom prst="homePlate">
            <a:avLst/>
          </a:prstGeom>
          <a:solidFill>
            <a:srgbClr val="FF6B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182880" tIns="18288" bIns="18288"/>
          <a:lstStyle/>
          <a:p>
            <a:pPr algn="ctr">
              <a:lnSpc>
                <a:spcPct val="102000"/>
              </a:lnSpc>
            </a:pPr>
            <a:r>
              <a:rPr sz="1050" b="1">
                <a:solidFill>
                  <a:srgbClr val="FFFFFF"/>
                </a:solidFill>
                <a:latin typeface="Calibri"/>
              </a:rPr>
              <a:t>5
Three regions</a:t>
            </a:r>
          </a:p>
        </p:txBody>
      </p:sp>
      <p:graphicFrame>
        <p:nvGraphicFramePr>
          <p:cNvPr id="12" name="Table 11"/>
          <p:cNvGraphicFramePr>
            <a:graphicFrameLocks noGrp="1"/>
          </p:cNvGraphicFramePr>
          <p:nvPr/>
        </p:nvGraphicFramePr>
        <p:xfrm>
          <a:off x="658368" y="2816351"/>
          <a:ext cx="10908792" cy="2116836"/>
        </p:xfrm>
        <a:graphic>
          <a:graphicData uri="http://schemas.openxmlformats.org/drawingml/2006/table">
            <a:tbl>
              <a:tblPr>
                <a:tableStyleId>{5C22544A-7EE6-4342-B048-85BDC9FD1C3A}</a:tableStyleId>
              </a:tblPr>
              <a:tblGrid>
                <a:gridCol w="713232"/>
                <a:gridCol w="2798064"/>
                <a:gridCol w="1572768"/>
                <a:gridCol w="1298448"/>
                <a:gridCol w="1993392"/>
                <a:gridCol w="2532888"/>
              </a:tblGrid>
              <a:tr h="402336">
                <a:tc>
                  <a:txBody>
                    <a:bodyPr wrap="square"/>
                    <a:lstStyle/>
                    <a:p>
                      <a:pPr algn="l"/>
                      <a:r>
                        <a:rPr sz="950" b="1">
                          <a:solidFill>
                            <a:srgbClr val="FFFFFF"/>
                          </a:solidFill>
                          <a:latin typeface="Calibri"/>
                        </a:rPr>
                        <a:t>Stage</a:t>
                      </a:r>
                    </a:p>
                  </a:txBody>
                  <a:tcPr marL="82296" marR="82296" marT="18288" marB="18288" anchor="ctr">
                    <a:solidFill>
                      <a:srgbClr val="22304A"/>
                    </a:solidFill>
                  </a:tcPr>
                </a:tc>
                <a:tc>
                  <a:txBody>
                    <a:bodyPr wrap="square"/>
                    <a:lstStyle/>
                    <a:p>
                      <a:pPr algn="l"/>
                      <a:r>
                        <a:rPr sz="950" b="1">
                          <a:solidFill>
                            <a:srgbClr val="FFFFFF"/>
                          </a:solidFill>
                          <a:latin typeface="Calibri"/>
                        </a:rPr>
                        <a:t>Architecture</a:t>
                      </a:r>
                    </a:p>
                  </a:txBody>
                  <a:tcPr marL="82296" marR="82296" marT="18288" marB="18288" anchor="ctr">
                    <a:solidFill>
                      <a:srgbClr val="22304A"/>
                    </a:solidFill>
                  </a:tcPr>
                </a:tc>
                <a:tc>
                  <a:txBody>
                    <a:bodyPr wrap="square"/>
                    <a:lstStyle/>
                    <a:p>
                      <a:pPr algn="r"/>
                      <a:r>
                        <a:rPr sz="950" b="1">
                          <a:solidFill>
                            <a:srgbClr val="FFFFFF"/>
                          </a:solidFill>
                          <a:latin typeface="Calibri"/>
                        </a:rPr>
                        <a:t>Users it carries</a:t>
                      </a:r>
                    </a:p>
                  </a:txBody>
                  <a:tcPr marL="82296" marR="82296" marT="18288" marB="18288" anchor="ctr">
                    <a:solidFill>
                      <a:srgbClr val="22304A"/>
                    </a:solidFill>
                  </a:tcPr>
                </a:tc>
                <a:tc>
                  <a:txBody>
                    <a:bodyPr wrap="square"/>
                    <a:lstStyle/>
                    <a:p>
                      <a:pPr algn="r"/>
                      <a:r>
                        <a:rPr sz="950" b="1">
                          <a:solidFill>
                            <a:srgbClr val="FFFFFF"/>
                          </a:solidFill>
                          <a:latin typeface="Calibri"/>
                        </a:rPr>
                        <a:t>Media held</a:t>
                      </a:r>
                    </a:p>
                  </a:txBody>
                  <a:tcPr marL="82296" marR="82296" marT="18288" marB="18288" anchor="ctr">
                    <a:solidFill>
                      <a:srgbClr val="22304A"/>
                    </a:solidFill>
                  </a:tcPr>
                </a:tc>
                <a:tc>
                  <a:txBody>
                    <a:bodyPr wrap="square"/>
                    <a:lstStyle/>
                    <a:p>
                      <a:pPr algn="l"/>
                      <a:r>
                        <a:rPr sz="950" b="1">
                          <a:solidFill>
                            <a:srgbClr val="FFFFFF"/>
                          </a:solidFill>
                          <a:latin typeface="Calibri"/>
                        </a:rPr>
                        <a:t>If something fails</a:t>
                      </a:r>
                    </a:p>
                  </a:txBody>
                  <a:tcPr marL="82296" marR="82296" marT="18288" marB="18288" anchor="ctr">
                    <a:solidFill>
                      <a:srgbClr val="22304A"/>
                    </a:solidFill>
                  </a:tcPr>
                </a:tc>
                <a:tc>
                  <a:txBody>
                    <a:bodyPr wrap="square"/>
                    <a:lstStyle/>
                    <a:p>
                      <a:pPr algn="l"/>
                      <a:r>
                        <a:rPr sz="950" b="1">
                          <a:solidFill>
                            <a:srgbClr val="FFFFFF"/>
                          </a:solidFill>
                          <a:latin typeface="Calibri"/>
                        </a:rPr>
                        <a:t>Where customers are served</a:t>
                      </a:r>
                    </a:p>
                  </a:txBody>
                  <a:tcPr marL="82296" marR="82296" marT="18288" marB="18288" anchor="ctr">
                    <a:solidFill>
                      <a:srgbClr val="22304A"/>
                    </a:solidFill>
                  </a:tcPr>
                </a:tc>
              </a:tr>
              <a:tr h="342900">
                <a:tc>
                  <a:txBody>
                    <a:bodyPr wrap="square"/>
                    <a:lstStyle/>
                    <a:p>
                      <a:pPr algn="l"/>
                      <a:r>
                        <a:rPr sz="1100" b="0">
                          <a:solidFill>
                            <a:srgbClr val="10131A"/>
                          </a:solidFill>
                          <a:latin typeface="Calibri"/>
                        </a:rPr>
                        <a:t>1</a:t>
                      </a:r>
                    </a:p>
                  </a:txBody>
                  <a:tcPr marL="82296" marR="82296" marT="18288" marB="18288" anchor="ctr">
                    <a:solidFill>
                      <a:srgbClr val="EDF0F5"/>
                    </a:solidFill>
                  </a:tcPr>
                </a:tc>
                <a:tc>
                  <a:txBody>
                    <a:bodyPr wrap="square"/>
                    <a:lstStyle/>
                    <a:p>
                      <a:pPr algn="l"/>
                      <a:r>
                        <a:rPr sz="1100" b="0">
                          <a:solidFill>
                            <a:srgbClr val="10131A"/>
                          </a:solidFill>
                          <a:latin typeface="Calibri"/>
                        </a:rPr>
                        <a:t>One virtual server</a:t>
                      </a:r>
                    </a:p>
                  </a:txBody>
                  <a:tcPr marL="82296" marR="82296" marT="18288" marB="18288" anchor="ctr">
                    <a:solidFill>
                      <a:srgbClr val="EDF0F5"/>
                    </a:solidFill>
                  </a:tcPr>
                </a:tc>
                <a:tc>
                  <a:txBody>
                    <a:bodyPr wrap="square"/>
                    <a:lstStyle/>
                    <a:p>
                      <a:pPr algn="r"/>
                      <a:r>
                        <a:rPr sz="1100" b="0">
                          <a:solidFill>
                            <a:srgbClr val="10131A"/>
                          </a:solidFill>
                          <a:latin typeface="Consolas"/>
                        </a:rPr>
                        <a:t>1,000</a:t>
                      </a:r>
                    </a:p>
                  </a:txBody>
                  <a:tcPr marL="82296" marR="82296" marT="18288" marB="18288" anchor="ctr">
                    <a:solidFill>
                      <a:srgbClr val="EDF0F5"/>
                    </a:solidFill>
                  </a:tcPr>
                </a:tc>
                <a:tc>
                  <a:txBody>
                    <a:bodyPr wrap="square"/>
                    <a:lstStyle/>
                    <a:p>
                      <a:pPr algn="r"/>
                      <a:r>
                        <a:rPr sz="1100" b="0">
                          <a:solidFill>
                            <a:srgbClr val="10131A"/>
                          </a:solidFill>
                          <a:latin typeface="Consolas"/>
                        </a:rPr>
                        <a:t>0.7 TB</a:t>
                      </a:r>
                    </a:p>
                  </a:txBody>
                  <a:tcPr marL="82296" marR="82296" marT="18288" marB="18288" anchor="ctr">
                    <a:solidFill>
                      <a:srgbClr val="EDF0F5"/>
                    </a:solidFill>
                  </a:tcPr>
                </a:tc>
                <a:tc>
                  <a:txBody>
                    <a:bodyPr wrap="square"/>
                    <a:lstStyle/>
                    <a:p>
                      <a:pPr algn="l"/>
                      <a:r>
                        <a:rPr sz="1100" b="0">
                          <a:solidFill>
                            <a:srgbClr val="10131A"/>
                          </a:solidFill>
                          <a:latin typeface="Calibri"/>
                        </a:rPr>
                        <a:t>manual restore</a:t>
                      </a:r>
                    </a:p>
                  </a:txBody>
                  <a:tcPr marL="82296" marR="82296" marT="18288" marB="18288" anchor="ctr">
                    <a:solidFill>
                      <a:srgbClr val="EDF0F5"/>
                    </a:solidFill>
                  </a:tcPr>
                </a:tc>
                <a:tc>
                  <a:txBody>
                    <a:bodyPr wrap="square"/>
                    <a:lstStyle/>
                    <a:p>
                      <a:pPr algn="l"/>
                      <a:r>
                        <a:rPr sz="1100" b="0">
                          <a:solidFill>
                            <a:srgbClr val="10131A"/>
                          </a:solidFill>
                          <a:latin typeface="Calibri"/>
                        </a:rPr>
                        <a:t>global edge, from day one</a:t>
                      </a:r>
                    </a:p>
                  </a:txBody>
                  <a:tcPr marL="82296" marR="82296" marT="18288" marB="18288" anchor="ctr">
                    <a:solidFill>
                      <a:srgbClr val="EDF0F5"/>
                    </a:solidFill>
                  </a:tcPr>
                </a:tc>
              </a:tr>
              <a:tr h="342900">
                <a:tc>
                  <a:txBody>
                    <a:bodyPr wrap="square"/>
                    <a:lstStyle/>
                    <a:p>
                      <a:pPr algn="l"/>
                      <a:r>
                        <a:rPr sz="1100" b="0">
                          <a:solidFill>
                            <a:srgbClr val="10131A"/>
                          </a:solidFill>
                          <a:latin typeface="Calibri"/>
                        </a:rPr>
                        <a:t>2</a:t>
                      </a:r>
                    </a:p>
                  </a:txBody>
                  <a:tcPr marL="82296" marR="82296" marT="18288" marB="18288" anchor="ctr">
                    <a:solidFill>
                      <a:srgbClr val="EDF0F5"/>
                    </a:solidFill>
                  </a:tcPr>
                </a:tc>
                <a:tc>
                  <a:txBody>
                    <a:bodyPr wrap="square"/>
                    <a:lstStyle/>
                    <a:p>
                      <a:pPr algn="l"/>
                      <a:r>
                        <a:rPr sz="1100" b="0">
                          <a:solidFill>
                            <a:srgbClr val="10131A"/>
                          </a:solidFill>
                          <a:latin typeface="Calibri"/>
                        </a:rPr>
                        <a:t>Managed cloud, single zone</a:t>
                      </a:r>
                    </a:p>
                  </a:txBody>
                  <a:tcPr marL="82296" marR="82296" marT="18288" marB="18288" anchor="ctr">
                    <a:solidFill>
                      <a:srgbClr val="EDF0F5"/>
                    </a:solidFill>
                  </a:tcPr>
                </a:tc>
                <a:tc>
                  <a:txBody>
                    <a:bodyPr wrap="square"/>
                    <a:lstStyle/>
                    <a:p>
                      <a:pPr algn="r"/>
                      <a:r>
                        <a:rPr sz="1100" b="0">
                          <a:solidFill>
                            <a:srgbClr val="10131A"/>
                          </a:solidFill>
                          <a:latin typeface="Consolas"/>
                        </a:rPr>
                        <a:t>10,000</a:t>
                      </a:r>
                    </a:p>
                  </a:txBody>
                  <a:tcPr marL="82296" marR="82296" marT="18288" marB="18288" anchor="ctr">
                    <a:solidFill>
                      <a:srgbClr val="EDF0F5"/>
                    </a:solidFill>
                  </a:tcPr>
                </a:tc>
                <a:tc>
                  <a:txBody>
                    <a:bodyPr wrap="square"/>
                    <a:lstStyle/>
                    <a:p>
                      <a:pPr algn="r"/>
                      <a:r>
                        <a:rPr sz="1100" b="0">
                          <a:solidFill>
                            <a:srgbClr val="10131A"/>
                          </a:solidFill>
                          <a:latin typeface="Consolas"/>
                        </a:rPr>
                        <a:t>14 TB</a:t>
                      </a:r>
                    </a:p>
                  </a:txBody>
                  <a:tcPr marL="82296" marR="82296" marT="18288" marB="18288" anchor="ctr">
                    <a:solidFill>
                      <a:srgbClr val="EDF0F5"/>
                    </a:solidFill>
                  </a:tcPr>
                </a:tc>
                <a:tc>
                  <a:txBody>
                    <a:bodyPr wrap="square"/>
                    <a:lstStyle/>
                    <a:p>
                      <a:pPr algn="l"/>
                      <a:r>
                        <a:rPr sz="1100" b="0">
                          <a:solidFill>
                            <a:srgbClr val="10131A"/>
                          </a:solidFill>
                          <a:latin typeface="Calibri"/>
                        </a:rPr>
                        <a:t>automatic recovery</a:t>
                      </a:r>
                    </a:p>
                  </a:txBody>
                  <a:tcPr marL="82296" marR="82296" marT="18288" marB="18288" anchor="ctr">
                    <a:solidFill>
                      <a:srgbClr val="EDF0F5"/>
                    </a:solidFill>
                  </a:tcPr>
                </a:tc>
                <a:tc>
                  <a:txBody>
                    <a:bodyPr wrap="square"/>
                    <a:lstStyle/>
                    <a:p>
                      <a:pPr algn="l"/>
                      <a:r>
                        <a:rPr sz="1100" b="0">
                          <a:solidFill>
                            <a:srgbClr val="10131A"/>
                          </a:solidFill>
                          <a:latin typeface="Calibri"/>
                        </a:rPr>
                        <a:t>global edge</a:t>
                      </a:r>
                    </a:p>
                  </a:txBody>
                  <a:tcPr marL="82296" marR="82296" marT="18288" marB="18288" anchor="ctr">
                    <a:solidFill>
                      <a:srgbClr val="EDF0F5"/>
                    </a:solidFill>
                  </a:tcPr>
                </a:tc>
              </a:tr>
              <a:tr h="342900">
                <a:tc>
                  <a:txBody>
                    <a:bodyPr wrap="square"/>
                    <a:lstStyle/>
                    <a:p>
                      <a:pPr algn="l"/>
                      <a:r>
                        <a:rPr sz="1100" b="0">
                          <a:solidFill>
                            <a:srgbClr val="10131A"/>
                          </a:solidFill>
                          <a:latin typeface="Calibri"/>
                        </a:rPr>
                        <a:t>3</a:t>
                      </a:r>
                    </a:p>
                  </a:txBody>
                  <a:tcPr marL="82296" marR="82296" marT="18288" marB="18288" anchor="ctr">
                    <a:solidFill>
                      <a:srgbClr val="FFFFFF"/>
                    </a:solidFill>
                  </a:tcPr>
                </a:tc>
                <a:tc>
                  <a:txBody>
                    <a:bodyPr wrap="square"/>
                    <a:lstStyle/>
                    <a:p>
                      <a:pPr algn="l"/>
                      <a:r>
                        <a:rPr sz="1100" b="0">
                          <a:solidFill>
                            <a:srgbClr val="10131A"/>
                          </a:solidFill>
                          <a:latin typeface="Calibri"/>
                        </a:rPr>
                        <a:t>Three zones, one region</a:t>
                      </a:r>
                    </a:p>
                  </a:txBody>
                  <a:tcPr marL="82296" marR="82296" marT="18288" marB="18288" anchor="ctr">
                    <a:solidFill>
                      <a:srgbClr val="FFFFFF"/>
                    </a:solidFill>
                  </a:tcPr>
                </a:tc>
                <a:tc>
                  <a:txBody>
                    <a:bodyPr wrap="square"/>
                    <a:lstStyle/>
                    <a:p>
                      <a:pPr algn="r"/>
                      <a:r>
                        <a:rPr sz="1100" b="0">
                          <a:solidFill>
                            <a:srgbClr val="10131A"/>
                          </a:solidFill>
                          <a:latin typeface="Consolas"/>
                        </a:rPr>
                        <a:t>100,000</a:t>
                      </a:r>
                    </a:p>
                  </a:txBody>
                  <a:tcPr marL="82296" marR="82296" marT="18288" marB="18288" anchor="ctr">
                    <a:solidFill>
                      <a:srgbClr val="FFFFFF"/>
                    </a:solidFill>
                  </a:tcPr>
                </a:tc>
                <a:tc>
                  <a:txBody>
                    <a:bodyPr wrap="square"/>
                    <a:lstStyle/>
                    <a:p>
                      <a:pPr algn="r"/>
                      <a:r>
                        <a:rPr sz="1100" b="0">
                          <a:solidFill>
                            <a:srgbClr val="10131A"/>
                          </a:solidFill>
                          <a:latin typeface="Consolas"/>
                        </a:rPr>
                        <a:t>270 TB</a:t>
                      </a:r>
                    </a:p>
                  </a:txBody>
                  <a:tcPr marL="82296" marR="82296" marT="18288" marB="18288" anchor="ctr">
                    <a:solidFill>
                      <a:srgbClr val="FFFFFF"/>
                    </a:solidFill>
                  </a:tcPr>
                </a:tc>
                <a:tc>
                  <a:txBody>
                    <a:bodyPr wrap="square"/>
                    <a:lstStyle/>
                    <a:p>
                      <a:pPr algn="l"/>
                      <a:r>
                        <a:rPr sz="1100" b="0">
                          <a:solidFill>
                            <a:srgbClr val="10131A"/>
                          </a:solidFill>
                          <a:latin typeface="Calibri"/>
                        </a:rPr>
                        <a:t>survives a datacentre</a:t>
                      </a:r>
                    </a:p>
                  </a:txBody>
                  <a:tcPr marL="82296" marR="82296" marT="18288" marB="18288" anchor="ctr">
                    <a:solidFill>
                      <a:srgbClr val="FFFFFF"/>
                    </a:solidFill>
                  </a:tcPr>
                </a:tc>
                <a:tc>
                  <a:txBody>
                    <a:bodyPr wrap="square"/>
                    <a:lstStyle/>
                    <a:p>
                      <a:pPr algn="l"/>
                      <a:r>
                        <a:rPr sz="1100" b="0">
                          <a:solidFill>
                            <a:srgbClr val="10131A"/>
                          </a:solidFill>
                          <a:latin typeface="Calibri"/>
                        </a:rPr>
                        <a:t>global edge</a:t>
                      </a:r>
                    </a:p>
                  </a:txBody>
                  <a:tcPr marL="82296" marR="82296" marT="18288" marB="18288" anchor="ctr">
                    <a:solidFill>
                      <a:srgbClr val="FFFFFF"/>
                    </a:solidFill>
                  </a:tcPr>
                </a:tc>
              </a:tr>
              <a:tr h="342900">
                <a:tc>
                  <a:txBody>
                    <a:bodyPr wrap="square"/>
                    <a:lstStyle/>
                    <a:p>
                      <a:pPr algn="l"/>
                      <a:r>
                        <a:rPr sz="1100" b="0">
                          <a:solidFill>
                            <a:srgbClr val="10131A"/>
                          </a:solidFill>
                          <a:latin typeface="Calibri"/>
                        </a:rPr>
                        <a:t>4</a:t>
                      </a:r>
                    </a:p>
                  </a:txBody>
                  <a:tcPr marL="82296" marR="82296" marT="18288" marB="18288" anchor="ctr">
                    <a:solidFill>
                      <a:srgbClr val="EDF0F5"/>
                    </a:solidFill>
                  </a:tcPr>
                </a:tc>
                <a:tc>
                  <a:txBody>
                    <a:bodyPr wrap="square"/>
                    <a:lstStyle/>
                    <a:p>
                      <a:pPr algn="l"/>
                      <a:r>
                        <a:rPr sz="1100" b="0">
                          <a:solidFill>
                            <a:srgbClr val="10131A"/>
                          </a:solidFill>
                          <a:latin typeface="Calibri"/>
                        </a:rPr>
                        <a:t>Two regions</a:t>
                      </a:r>
                    </a:p>
                  </a:txBody>
                  <a:tcPr marL="82296" marR="82296" marT="18288" marB="18288" anchor="ctr">
                    <a:solidFill>
                      <a:srgbClr val="EDF0F5"/>
                    </a:solidFill>
                  </a:tcPr>
                </a:tc>
                <a:tc>
                  <a:txBody>
                    <a:bodyPr wrap="square"/>
                    <a:lstStyle/>
                    <a:p>
                      <a:pPr algn="r"/>
                      <a:r>
                        <a:rPr sz="1100" b="0">
                          <a:solidFill>
                            <a:srgbClr val="10131A"/>
                          </a:solidFill>
                          <a:latin typeface="Consolas"/>
                        </a:rPr>
                        <a:t>500,000</a:t>
                      </a:r>
                    </a:p>
                  </a:txBody>
                  <a:tcPr marL="82296" marR="82296" marT="18288" marB="18288" anchor="ctr">
                    <a:solidFill>
                      <a:srgbClr val="EDF0F5"/>
                    </a:solidFill>
                  </a:tcPr>
                </a:tc>
                <a:tc>
                  <a:txBody>
                    <a:bodyPr wrap="square"/>
                    <a:lstStyle/>
                    <a:p>
                      <a:pPr algn="r"/>
                      <a:r>
                        <a:rPr sz="1100" b="0">
                          <a:solidFill>
                            <a:srgbClr val="10131A"/>
                          </a:solidFill>
                          <a:latin typeface="Consolas"/>
                        </a:rPr>
                        <a:t>2.2 PB</a:t>
                      </a:r>
                    </a:p>
                  </a:txBody>
                  <a:tcPr marL="82296" marR="82296" marT="18288" marB="18288" anchor="ctr">
                    <a:solidFill>
                      <a:srgbClr val="EDF0F5"/>
                    </a:solidFill>
                  </a:tcPr>
                </a:tc>
                <a:tc>
                  <a:txBody>
                    <a:bodyPr wrap="square"/>
                    <a:lstStyle/>
                    <a:p>
                      <a:pPr algn="l"/>
                      <a:r>
                        <a:rPr sz="1100" b="0">
                          <a:solidFill>
                            <a:srgbClr val="10131A"/>
                          </a:solidFill>
                          <a:latin typeface="Calibri"/>
                        </a:rPr>
                        <a:t>survives a region</a:t>
                      </a:r>
                    </a:p>
                  </a:txBody>
                  <a:tcPr marL="82296" marR="82296" marT="18288" marB="18288" anchor="ctr">
                    <a:solidFill>
                      <a:srgbClr val="EDF0F5"/>
                    </a:solidFill>
                  </a:tcPr>
                </a:tc>
                <a:tc>
                  <a:txBody>
                    <a:bodyPr wrap="square"/>
                    <a:lstStyle/>
                    <a:p>
                      <a:pPr algn="l"/>
                      <a:r>
                        <a:rPr sz="1100" b="0">
                          <a:solidFill>
                            <a:srgbClr val="10131A"/>
                          </a:solidFill>
                          <a:latin typeface="Calibri"/>
                        </a:rPr>
                        <a:t>reads local on two continents</a:t>
                      </a:r>
                    </a:p>
                  </a:txBody>
                  <a:tcPr marL="82296" marR="82296" marT="18288" marB="18288" anchor="ctr">
                    <a:solidFill>
                      <a:srgbClr val="EDF0F5"/>
                    </a:solidFill>
                  </a:tcPr>
                </a:tc>
              </a:tr>
              <a:tr h="342900">
                <a:tc>
                  <a:txBody>
                    <a:bodyPr wrap="square"/>
                    <a:lstStyle/>
                    <a:p>
                      <a:pPr algn="l"/>
                      <a:r>
                        <a:rPr sz="1100" b="1">
                          <a:solidFill>
                            <a:srgbClr val="10131A"/>
                          </a:solidFill>
                          <a:latin typeface="Calibri"/>
                        </a:rPr>
                        <a:t>5</a:t>
                      </a:r>
                    </a:p>
                  </a:txBody>
                  <a:tcPr marL="82296" marR="82296" marT="18288" marB="18288" anchor="ctr">
                    <a:solidFill>
                      <a:srgbClr val="FFF0EE"/>
                    </a:solidFill>
                  </a:tcPr>
                </a:tc>
                <a:tc>
                  <a:txBody>
                    <a:bodyPr wrap="square"/>
                    <a:lstStyle/>
                    <a:p>
                      <a:pPr algn="l"/>
                      <a:r>
                        <a:rPr sz="1100" b="1">
                          <a:solidFill>
                            <a:srgbClr val="10131A"/>
                          </a:solidFill>
                          <a:latin typeface="Calibri"/>
                        </a:rPr>
                        <a:t>Three regions</a:t>
                      </a:r>
                    </a:p>
                  </a:txBody>
                  <a:tcPr marL="82296" marR="82296" marT="18288" marB="18288" anchor="ctr">
                    <a:solidFill>
                      <a:srgbClr val="FFF0EE"/>
                    </a:solidFill>
                  </a:tcPr>
                </a:tc>
                <a:tc>
                  <a:txBody>
                    <a:bodyPr wrap="square"/>
                    <a:lstStyle/>
                    <a:p>
                      <a:pPr algn="r"/>
                      <a:r>
                        <a:rPr sz="1100" b="1">
                          <a:solidFill>
                            <a:srgbClr val="10131A"/>
                          </a:solidFill>
                          <a:latin typeface="Consolas"/>
                        </a:rPr>
                        <a:t>1,000,000</a:t>
                      </a:r>
                    </a:p>
                  </a:txBody>
                  <a:tcPr marL="82296" marR="82296" marT="18288" marB="18288" anchor="ctr">
                    <a:solidFill>
                      <a:srgbClr val="FFF0EE"/>
                    </a:solidFill>
                  </a:tcPr>
                </a:tc>
                <a:tc>
                  <a:txBody>
                    <a:bodyPr wrap="square"/>
                    <a:lstStyle/>
                    <a:p>
                      <a:pPr algn="r"/>
                      <a:r>
                        <a:rPr sz="1100" b="1">
                          <a:solidFill>
                            <a:srgbClr val="10131A"/>
                          </a:solidFill>
                          <a:latin typeface="Consolas"/>
                        </a:rPr>
                        <a:t>5.3 PB</a:t>
                      </a:r>
                    </a:p>
                  </a:txBody>
                  <a:tcPr marL="82296" marR="82296" marT="18288" marB="18288" anchor="ctr">
                    <a:solidFill>
                      <a:srgbClr val="FFF0EE"/>
                    </a:solidFill>
                  </a:tcPr>
                </a:tc>
                <a:tc>
                  <a:txBody>
                    <a:bodyPr wrap="square"/>
                    <a:lstStyle/>
                    <a:p>
                      <a:pPr algn="l"/>
                      <a:r>
                        <a:rPr sz="1100" b="1">
                          <a:solidFill>
                            <a:srgbClr val="10131A"/>
                          </a:solidFill>
                          <a:latin typeface="Calibri"/>
                        </a:rPr>
                        <a:t>survives a region</a:t>
                      </a:r>
                    </a:p>
                  </a:txBody>
                  <a:tcPr marL="82296" marR="82296" marT="18288" marB="18288" anchor="ctr">
                    <a:solidFill>
                      <a:srgbClr val="FFF0EE"/>
                    </a:solidFill>
                  </a:tcPr>
                </a:tc>
                <a:tc>
                  <a:txBody>
                    <a:bodyPr wrap="square"/>
                    <a:lstStyle/>
                    <a:p>
                      <a:pPr algn="l"/>
                      <a:r>
                        <a:rPr sz="1100" b="1">
                          <a:solidFill>
                            <a:srgbClr val="10131A"/>
                          </a:solidFill>
                          <a:latin typeface="Calibri"/>
                        </a:rPr>
                        <a:t>reads local on three continents</a:t>
                      </a:r>
                    </a:p>
                  </a:txBody>
                  <a:tcPr marL="82296" marR="82296" marT="18288" marB="18288" anchor="ctr">
                    <a:solidFill>
                      <a:srgbClr val="FFF0EE"/>
                    </a:solidFill>
                  </a:tcPr>
                </a:tc>
              </a:tr>
            </a:tbl>
          </a:graphicData>
        </a:graphic>
      </p:graphicFrame>
      <p:sp>
        <p:nvSpPr>
          <p:cNvPr id="13" name="Rectangle 12"/>
          <p:cNvSpPr/>
          <p:nvPr/>
        </p:nvSpPr>
        <p:spPr>
          <a:xfrm>
            <a:off x="658368" y="5212079"/>
            <a:ext cx="10874959" cy="841248"/>
          </a:xfrm>
          <a:prstGeom prst="rect">
            <a:avLst/>
          </a:prstGeom>
          <a:solidFill>
            <a:srgbClr val="E6F2F0"/>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58368" y="5212079"/>
            <a:ext cx="41148" cy="841248"/>
          </a:xfrm>
          <a:prstGeom prst="rect">
            <a:avLst/>
          </a:prstGeom>
          <a:solidFill>
            <a:srgbClr val="0E6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9536" y="5340095"/>
            <a:ext cx="10472623" cy="219456"/>
          </a:xfrm>
          <a:prstGeom prst="rect">
            <a:avLst/>
          </a:prstGeom>
          <a:noFill/>
        </p:spPr>
        <p:txBody>
          <a:bodyPr wrap="square" lIns="0" rIns="0" tIns="0" bIns="0" anchor="t">
            <a:spAutoFit/>
          </a:bodyPr>
          <a:lstStyle/>
          <a:p>
            <a:pPr algn="l"/>
            <a:r>
              <a:rPr sz="950" b="1">
                <a:solidFill>
                  <a:srgbClr val="0E6A60"/>
                </a:solidFill>
                <a:latin typeface="Consolas"/>
              </a:rPr>
              <a:t>THE SHAPE OF THE PLAN</a:t>
            </a:r>
          </a:p>
        </p:txBody>
      </p:sp>
      <p:sp>
        <p:nvSpPr>
          <p:cNvPr id="16" name="TextBox 15"/>
          <p:cNvSpPr txBox="1"/>
          <p:nvPr/>
        </p:nvSpPr>
        <p:spPr>
          <a:xfrm>
            <a:off x="859536" y="5596127"/>
            <a:ext cx="10472623" cy="329184"/>
          </a:xfrm>
          <a:prstGeom prst="rect">
            <a:avLst/>
          </a:prstGeom>
          <a:noFill/>
        </p:spPr>
        <p:txBody>
          <a:bodyPr wrap="square" lIns="0" rIns="0" tIns="0" bIns="0" anchor="t">
            <a:spAutoFit/>
          </a:bodyPr>
          <a:lstStyle/>
          <a:p>
            <a:pPr algn="l">
              <a:lnSpc>
                <a:spcPct val="128000"/>
              </a:lnSpc>
            </a:pPr>
            <a:r>
              <a:rPr sz="1150" b="0">
                <a:solidFill>
                  <a:srgbClr val="38414F"/>
                </a:solidFill>
                <a:latin typeface="Calibri"/>
              </a:rPr>
              <a:t>Storage is external from the very first day, and the database engine never changes. That is what turns every later stage into a resize rather than a migration — and it is the single most important decision on this page.</a:t>
            </a:r>
          </a:p>
        </p:txBody>
      </p:sp>
      <p:sp>
        <p:nvSpPr>
          <p:cNvPr id="17" name="TextBox 16"/>
          <p:cNvSpPr txBox="1"/>
          <p:nvPr/>
        </p:nvSpPr>
        <p:spPr>
          <a:xfrm>
            <a:off x="658368" y="6419088"/>
            <a:ext cx="8699967" cy="201168"/>
          </a:xfrm>
          <a:prstGeom prst="rect">
            <a:avLst/>
          </a:prstGeom>
          <a:noFill/>
        </p:spPr>
        <p:txBody>
          <a:bodyPr wrap="square" lIns="0" rIns="0" tIns="0" bIns="0" anchor="t">
            <a:spAutoFit/>
          </a:bodyPr>
          <a:lstStyle/>
          <a:p>
            <a:pPr algn="l"/>
            <a:r>
              <a:rPr sz="950" b="0">
                <a:solidFill>
                  <a:srgbClr val="5C6675"/>
                </a:solidFill>
                <a:latin typeface="Consolas"/>
              </a:rPr>
              <a:t>The plan at a glance</a:t>
            </a:r>
          </a:p>
        </p:txBody>
      </p:sp>
      <p:sp>
        <p:nvSpPr>
          <p:cNvPr id="18" name="TextBox 17"/>
          <p:cNvSpPr txBox="1"/>
          <p:nvPr/>
        </p:nvSpPr>
        <p:spPr>
          <a:xfrm>
            <a:off x="10618927" y="6419088"/>
            <a:ext cx="914400" cy="201168"/>
          </a:xfrm>
          <a:prstGeom prst="rect">
            <a:avLst/>
          </a:prstGeom>
          <a:noFill/>
        </p:spPr>
        <p:txBody>
          <a:bodyPr wrap="square" lIns="0" rIns="0" tIns="0" bIns="0" anchor="t">
            <a:spAutoFit/>
          </a:bodyPr>
          <a:lstStyle/>
          <a:p>
            <a:pPr algn="r"/>
            <a:r>
              <a:rPr sz="950" b="0">
                <a:solidFill>
                  <a:srgbClr val="5C6675"/>
                </a:solidFill>
                <a:latin typeface="Consolas"/>
              </a:rPr>
              <a:t>03 / 16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pic>
        <p:nvPicPr>
          <p:cNvPr id="2" name="Picture 1" descr="NFCLogo.png"/>
          <p:cNvPicPr>
            <a:picLocks noChangeAspect="1"/>
          </p:cNvPicPr>
          <p:nvPr/>
        </p:nvPicPr>
        <p:blipFill>
          <a:blip r:embed="rId2"/>
          <a:stretch>
            <a:fillRect/>
          </a:stretch>
        </p:blipFill>
        <p:spPr>
          <a:xfrm>
            <a:off x="11206068" y="274320"/>
            <a:ext cx="327259" cy="365760"/>
          </a:xfrm>
          <a:prstGeom prst="rect">
            <a:avLst/>
          </a:prstGeom>
        </p:spPr>
      </p:pic>
      <p:sp>
        <p:nvSpPr>
          <p:cNvPr id="3" name="TextBox 2"/>
          <p:cNvSpPr txBox="1"/>
          <p:nvPr/>
        </p:nvSpPr>
        <p:spPr>
          <a:xfrm>
            <a:off x="658368" y="402336"/>
            <a:ext cx="10874959" cy="219456"/>
          </a:xfrm>
          <a:prstGeom prst="rect">
            <a:avLst/>
          </a:prstGeom>
          <a:noFill/>
        </p:spPr>
        <p:txBody>
          <a:bodyPr wrap="square" lIns="0" rIns="0" tIns="0" bIns="0" anchor="t">
            <a:spAutoFit/>
          </a:bodyPr>
          <a:lstStyle/>
          <a:p>
            <a:pPr algn="l"/>
            <a:r>
              <a:rPr sz="1050" b="1">
                <a:solidFill>
                  <a:srgbClr val="AF3327"/>
                </a:solidFill>
                <a:latin typeface="Consolas"/>
              </a:rPr>
              <a:t>WHAT NEVER CHANGES</a:t>
            </a:r>
          </a:p>
        </p:txBody>
      </p:sp>
      <p:sp>
        <p:nvSpPr>
          <p:cNvPr id="4" name="TextBox 3"/>
          <p:cNvSpPr txBox="1"/>
          <p:nvPr/>
        </p:nvSpPr>
        <p:spPr>
          <a:xfrm>
            <a:off x="658368" y="676656"/>
            <a:ext cx="10874959" cy="566928"/>
          </a:xfrm>
          <a:prstGeom prst="rect">
            <a:avLst/>
          </a:prstGeom>
          <a:noFill/>
        </p:spPr>
        <p:txBody>
          <a:bodyPr wrap="square" lIns="0" rIns="0" tIns="0" bIns="0" anchor="t">
            <a:spAutoFit/>
          </a:bodyPr>
          <a:lstStyle/>
          <a:p>
            <a:pPr algn="l">
              <a:lnSpc>
                <a:spcPct val="102000"/>
              </a:lnSpc>
            </a:pPr>
            <a:r>
              <a:rPr sz="2600" b="0">
                <a:solidFill>
                  <a:srgbClr val="10131A"/>
                </a:solidFill>
                <a:latin typeface="Georgia"/>
              </a:rPr>
              <a:t>Seven things are decided once, on day one</a:t>
            </a:r>
          </a:p>
        </p:txBody>
      </p:sp>
      <p:sp>
        <p:nvSpPr>
          <p:cNvPr id="5" name="TextBox 4"/>
          <p:cNvSpPr txBox="1"/>
          <p:nvPr/>
        </p:nvSpPr>
        <p:spPr>
          <a:xfrm>
            <a:off x="658368" y="1280160"/>
            <a:ext cx="9787463" cy="384048"/>
          </a:xfrm>
          <a:prstGeom prst="rect">
            <a:avLst/>
          </a:prstGeom>
          <a:noFill/>
        </p:spPr>
        <p:txBody>
          <a:bodyPr wrap="square" lIns="0" rIns="0" tIns="0" bIns="0" anchor="t">
            <a:spAutoFit/>
          </a:bodyPr>
          <a:lstStyle/>
          <a:p>
            <a:pPr algn="l">
              <a:lnSpc>
                <a:spcPct val="124000"/>
              </a:lnSpc>
            </a:pPr>
            <a:r>
              <a:rPr sz="1250" b="0">
                <a:solidFill>
                  <a:srgbClr val="5C6675"/>
                </a:solidFill>
                <a:latin typeface="Calibri"/>
              </a:rPr>
              <a:t>A growth plan is only credible if most of the system is not being replaced along the way. These are the parts that are identical at a thousand users and at a million.</a:t>
            </a:r>
          </a:p>
        </p:txBody>
      </p:sp>
      <p:sp>
        <p:nvSpPr>
          <p:cNvPr id="6" name="Rectangle 5"/>
          <p:cNvSpPr/>
          <p:nvPr/>
        </p:nvSpPr>
        <p:spPr>
          <a:xfrm>
            <a:off x="658368" y="1719072"/>
            <a:ext cx="822960" cy="32004"/>
          </a:xfrm>
          <a:prstGeom prst="rect">
            <a:avLst/>
          </a:prstGeom>
          <a:solidFill>
            <a:srgbClr val="FF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658368" y="1920239"/>
          <a:ext cx="10863072" cy="2761488"/>
        </p:xfrm>
        <a:graphic>
          <a:graphicData uri="http://schemas.openxmlformats.org/drawingml/2006/table">
            <a:tbl>
              <a:tblPr>
                <a:tableStyleId>{5C22544A-7EE6-4342-B048-85BDC9FD1C3A}</a:tableStyleId>
              </a:tblPr>
              <a:tblGrid>
                <a:gridCol w="2423160"/>
                <a:gridCol w="4160520"/>
                <a:gridCol w="4279392"/>
              </a:tblGrid>
              <a:tr h="310896">
                <a:tc>
                  <a:txBody>
                    <a:bodyPr wrap="square"/>
                    <a:lstStyle/>
                    <a:p>
                      <a:pPr algn="l"/>
                      <a:r>
                        <a:rPr sz="950" b="1">
                          <a:solidFill>
                            <a:srgbClr val="FFFFFF"/>
                          </a:solidFill>
                          <a:latin typeface="Calibri"/>
                        </a:rPr>
                        <a:t/>
                      </a:r>
                    </a:p>
                  </a:txBody>
                  <a:tcPr marL="82296" marR="82296" marT="18288" marB="18288" anchor="ctr">
                    <a:solidFill>
                      <a:srgbClr val="22304A"/>
                    </a:solidFill>
                  </a:tcPr>
                </a:tc>
                <a:tc>
                  <a:txBody>
                    <a:bodyPr wrap="square"/>
                    <a:lstStyle/>
                    <a:p>
                      <a:pPr algn="l"/>
                      <a:r>
                        <a:rPr sz="950" b="1">
                          <a:solidFill>
                            <a:srgbClr val="FFFFFF"/>
                          </a:solidFill>
                          <a:latin typeface="Calibri"/>
                        </a:rPr>
                        <a:t>At stage 1 — one server</a:t>
                      </a:r>
                    </a:p>
                  </a:txBody>
                  <a:tcPr marL="82296" marR="82296" marT="18288" marB="18288" anchor="ctr">
                    <a:solidFill>
                      <a:srgbClr val="22304A"/>
                    </a:solidFill>
                  </a:tcPr>
                </a:tc>
                <a:tc>
                  <a:txBody>
                    <a:bodyPr wrap="square"/>
                    <a:lstStyle/>
                    <a:p>
                      <a:pPr algn="l"/>
                      <a:r>
                        <a:rPr sz="950" b="1">
                          <a:solidFill>
                            <a:srgbClr val="FFFFFF"/>
                          </a:solidFill>
                          <a:latin typeface="Calibri"/>
                        </a:rPr>
                        <a:t>At stage 5 — one million users</a:t>
                      </a:r>
                    </a:p>
                  </a:txBody>
                  <a:tcPr marL="82296" marR="82296" marT="18288" marB="18288" anchor="ctr">
                    <a:solidFill>
                      <a:srgbClr val="22304A"/>
                    </a:solidFill>
                  </a:tcPr>
                </a:tc>
              </a:tr>
              <a:tr h="306324">
                <a:tc>
                  <a:txBody>
                    <a:bodyPr wrap="square"/>
                    <a:lstStyle/>
                    <a:p>
                      <a:pPr algn="l"/>
                      <a:r>
                        <a:rPr sz="1100" b="1">
                          <a:solidFill>
                            <a:srgbClr val="10131A"/>
                          </a:solidFill>
                          <a:latin typeface="Calibri"/>
                        </a:rPr>
                        <a:t>Where media lives</a:t>
                      </a:r>
                    </a:p>
                  </a:txBody>
                  <a:tcPr marL="82296" marR="82296" marT="18288" marB="18288" anchor="ctr">
                    <a:solidFill>
                      <a:srgbClr val="FFFFFF"/>
                    </a:solidFill>
                  </a:tcPr>
                </a:tc>
                <a:tc>
                  <a:txBody>
                    <a:bodyPr wrap="square"/>
                    <a:lstStyle/>
                    <a:p>
                      <a:pPr algn="l"/>
                      <a:r>
                        <a:rPr sz="1100" b="0">
                          <a:solidFill>
                            <a:srgbClr val="10131A"/>
                          </a:solidFill>
                          <a:latin typeface="Calibri"/>
                        </a:rPr>
                        <a:t>Cloudflare object storage, off the server</a:t>
                      </a:r>
                    </a:p>
                  </a:txBody>
                  <a:tcPr marL="82296" marR="82296" marT="18288" marB="18288" anchor="ctr">
                    <a:solidFill>
                      <a:srgbClr val="FFFFFF"/>
                    </a:solidFill>
                  </a:tcPr>
                </a:tc>
                <a:tc>
                  <a:txBody>
                    <a:bodyPr wrap="square"/>
                    <a:lstStyle/>
                    <a:p>
                      <a:pPr algn="l"/>
                      <a:r>
                        <a:rPr sz="1100" b="0">
                          <a:solidFill>
                            <a:srgbClr val="10131A"/>
                          </a:solidFill>
                          <a:latin typeface="Calibri"/>
                        </a:rPr>
                        <a:t>the same buckets, 0.7 TB → 5.3 PB</a:t>
                      </a:r>
                    </a:p>
                  </a:txBody>
                  <a:tcPr marL="82296" marR="82296" marT="18288" marB="18288" anchor="ctr">
                    <a:solidFill>
                      <a:srgbClr val="FFFFFF"/>
                    </a:solidFill>
                  </a:tcPr>
                </a:tc>
              </a:tr>
              <a:tr h="306324">
                <a:tc>
                  <a:txBody>
                    <a:bodyPr wrap="square"/>
                    <a:lstStyle/>
                    <a:p>
                      <a:pPr algn="l"/>
                      <a:r>
                        <a:rPr sz="1100" b="1">
                          <a:solidFill>
                            <a:srgbClr val="10131A"/>
                          </a:solidFill>
                          <a:latin typeface="Calibri"/>
                        </a:rPr>
                        <a:t>Backup copy</a:t>
                      </a:r>
                    </a:p>
                  </a:txBody>
                  <a:tcPr marL="82296" marR="82296" marT="18288" marB="18288" anchor="ctr">
                    <a:solidFill>
                      <a:srgbClr val="EDF0F5"/>
                    </a:solidFill>
                  </a:tcPr>
                </a:tc>
                <a:tc>
                  <a:txBody>
                    <a:bodyPr wrap="square"/>
                    <a:lstStyle/>
                    <a:p>
                      <a:pPr algn="l"/>
                      <a:r>
                        <a:rPr sz="1100" b="0">
                          <a:solidFill>
                            <a:srgbClr val="10131A"/>
                          </a:solidFill>
                          <a:latin typeface="Calibri"/>
                        </a:rPr>
                        <a:t>a second, unrelated vendor</a:t>
                      </a:r>
                    </a:p>
                  </a:txBody>
                  <a:tcPr marL="82296" marR="82296" marT="18288" marB="18288" anchor="ctr">
                    <a:solidFill>
                      <a:srgbClr val="EDF0F5"/>
                    </a:solidFill>
                  </a:tcPr>
                </a:tc>
                <a:tc>
                  <a:txBody>
                    <a:bodyPr wrap="square"/>
                    <a:lstStyle/>
                    <a:p>
                      <a:pPr algn="l"/>
                      <a:r>
                        <a:rPr sz="1100" b="0">
                          <a:solidFill>
                            <a:srgbClr val="10131A"/>
                          </a:solidFill>
                          <a:latin typeface="Calibri"/>
                        </a:rPr>
                        <a:t>the same second vendor</a:t>
                      </a:r>
                    </a:p>
                  </a:txBody>
                  <a:tcPr marL="82296" marR="82296" marT="18288" marB="18288" anchor="ctr">
                    <a:solidFill>
                      <a:srgbClr val="EDF0F5"/>
                    </a:solidFill>
                  </a:tcPr>
                </a:tc>
              </a:tr>
              <a:tr h="306324">
                <a:tc>
                  <a:txBody>
                    <a:bodyPr wrap="square"/>
                    <a:lstStyle/>
                    <a:p>
                      <a:pPr algn="l"/>
                      <a:r>
                        <a:rPr sz="1100" b="1">
                          <a:solidFill>
                            <a:srgbClr val="10131A"/>
                          </a:solidFill>
                          <a:latin typeface="Calibri"/>
                        </a:rPr>
                        <a:t>Database engine</a:t>
                      </a:r>
                    </a:p>
                  </a:txBody>
                  <a:tcPr marL="82296" marR="82296" marT="18288" marB="18288" anchor="ctr">
                    <a:solidFill>
                      <a:srgbClr val="FFFFFF"/>
                    </a:solidFill>
                  </a:tcPr>
                </a:tc>
                <a:tc>
                  <a:txBody>
                    <a:bodyPr wrap="square"/>
                    <a:lstStyle/>
                    <a:p>
                      <a:pPr algn="l"/>
                      <a:r>
                        <a:rPr sz="1100" b="0">
                          <a:solidFill>
                            <a:srgbClr val="10131A"/>
                          </a:solidFill>
                          <a:latin typeface="Calibri"/>
                        </a:rPr>
                        <a:t>MySQL</a:t>
                      </a:r>
                    </a:p>
                  </a:txBody>
                  <a:tcPr marL="82296" marR="82296" marT="18288" marB="18288" anchor="ctr">
                    <a:solidFill>
                      <a:srgbClr val="FFFFFF"/>
                    </a:solidFill>
                  </a:tcPr>
                </a:tc>
                <a:tc>
                  <a:txBody>
                    <a:bodyPr wrap="square"/>
                    <a:lstStyle/>
                    <a:p>
                      <a:pPr algn="l"/>
                      <a:r>
                        <a:rPr sz="1100" b="0">
                          <a:solidFill>
                            <a:srgbClr val="10131A"/>
                          </a:solidFill>
                          <a:latin typeface="Calibri"/>
                        </a:rPr>
                        <a:t>MySQL — resized, never replaced</a:t>
                      </a:r>
                    </a:p>
                  </a:txBody>
                  <a:tcPr marL="82296" marR="82296" marT="18288" marB="18288" anchor="ctr">
                    <a:solidFill>
                      <a:srgbClr val="FFFFFF"/>
                    </a:solidFill>
                  </a:tcPr>
                </a:tc>
              </a:tr>
              <a:tr h="306324">
                <a:tc>
                  <a:txBody>
                    <a:bodyPr wrap="square"/>
                    <a:lstStyle/>
                    <a:p>
                      <a:pPr algn="l"/>
                      <a:r>
                        <a:rPr sz="1100" b="1">
                          <a:solidFill>
                            <a:srgbClr val="10131A"/>
                          </a:solidFill>
                          <a:latin typeface="Calibri"/>
                        </a:rPr>
                        <a:t>Sealing a message</a:t>
                      </a:r>
                    </a:p>
                  </a:txBody>
                  <a:tcPr marL="82296" marR="82296" marT="18288" marB="18288" anchor="ctr">
                    <a:solidFill>
                      <a:srgbClr val="FFF0EE"/>
                    </a:solidFill>
                  </a:tcPr>
                </a:tc>
                <a:tc>
                  <a:txBody>
                    <a:bodyPr wrap="square"/>
                    <a:lstStyle/>
                    <a:p>
                      <a:pPr algn="l"/>
                      <a:r>
                        <a:rPr sz="1100" b="0">
                          <a:solidFill>
                            <a:srgbClr val="10131A"/>
                          </a:solidFill>
                          <a:latin typeface="Calibri"/>
                        </a:rPr>
                        <a:t>one database transaction</a:t>
                      </a:r>
                    </a:p>
                  </a:txBody>
                  <a:tcPr marL="82296" marR="82296" marT="18288" marB="18288" anchor="ctr">
                    <a:solidFill>
                      <a:srgbClr val="FFF0EE"/>
                    </a:solidFill>
                  </a:tcPr>
                </a:tc>
                <a:tc>
                  <a:txBody>
                    <a:bodyPr wrap="square"/>
                    <a:lstStyle/>
                    <a:p>
                      <a:pPr algn="l"/>
                      <a:r>
                        <a:rPr sz="1100" b="0">
                          <a:solidFill>
                            <a:srgbClr val="10131A"/>
                          </a:solidFill>
                          <a:latin typeface="Calibri"/>
                        </a:rPr>
                        <a:t>one database transaction, one writer</a:t>
                      </a:r>
                    </a:p>
                  </a:txBody>
                  <a:tcPr marL="82296" marR="82296" marT="18288" marB="18288" anchor="ctr">
                    <a:solidFill>
                      <a:srgbClr val="FFF0EE"/>
                    </a:solidFill>
                  </a:tcPr>
                </a:tc>
              </a:tr>
              <a:tr h="306324">
                <a:tc>
                  <a:txBody>
                    <a:bodyPr wrap="square"/>
                    <a:lstStyle/>
                    <a:p>
                      <a:pPr algn="l"/>
                      <a:r>
                        <a:rPr sz="1100" b="1">
                          <a:solidFill>
                            <a:srgbClr val="10131A"/>
                          </a:solidFill>
                          <a:latin typeface="Calibri"/>
                        </a:rPr>
                        <a:t>Delivery workers</a:t>
                      </a:r>
                    </a:p>
                  </a:txBody>
                  <a:tcPr marL="82296" marR="82296" marT="18288" marB="18288" anchor="ctr">
                    <a:solidFill>
                      <a:srgbClr val="FFFFFF"/>
                    </a:solidFill>
                  </a:tcPr>
                </a:tc>
                <a:tc>
                  <a:txBody>
                    <a:bodyPr wrap="square"/>
                    <a:lstStyle/>
                    <a:p>
                      <a:pPr algn="l"/>
                      <a:r>
                        <a:rPr sz="1100" b="0">
                          <a:solidFill>
                            <a:srgbClr val="10131A"/>
                          </a:solidFill>
                          <a:latin typeface="Calibri"/>
                        </a:rPr>
                        <a:t>a separate process</a:t>
                      </a:r>
                    </a:p>
                  </a:txBody>
                  <a:tcPr marL="82296" marR="82296" marT="18288" marB="18288" anchor="ctr">
                    <a:solidFill>
                      <a:srgbClr val="FFFFFF"/>
                    </a:solidFill>
                  </a:tcPr>
                </a:tc>
                <a:tc>
                  <a:txBody>
                    <a:bodyPr wrap="square"/>
                    <a:lstStyle/>
                    <a:p>
                      <a:pPr algn="l"/>
                      <a:r>
                        <a:rPr sz="1100" b="0">
                          <a:solidFill>
                            <a:srgbClr val="10131A"/>
                          </a:solidFill>
                          <a:latin typeface="Calibri"/>
                        </a:rPr>
                        <a:t>a separate service, never idle</a:t>
                      </a:r>
                    </a:p>
                  </a:txBody>
                  <a:tcPr marL="82296" marR="82296" marT="18288" marB="18288" anchor="ctr">
                    <a:solidFill>
                      <a:srgbClr val="FFFFFF"/>
                    </a:solidFill>
                  </a:tcPr>
                </a:tc>
              </a:tr>
              <a:tr h="306324">
                <a:tc>
                  <a:txBody>
                    <a:bodyPr wrap="square"/>
                    <a:lstStyle/>
                    <a:p>
                      <a:pPr algn="l"/>
                      <a:r>
                        <a:rPr sz="1100" b="1">
                          <a:solidFill>
                            <a:srgbClr val="10131A"/>
                          </a:solidFill>
                          <a:latin typeface="Calibri"/>
                        </a:rPr>
                        <a:t>Media delivery</a:t>
                      </a:r>
                    </a:p>
                  </a:txBody>
                  <a:tcPr marL="82296" marR="82296" marT="18288" marB="18288" anchor="ctr">
                    <a:solidFill>
                      <a:srgbClr val="EDF0F5"/>
                    </a:solidFill>
                  </a:tcPr>
                </a:tc>
                <a:tc>
                  <a:txBody>
                    <a:bodyPr wrap="square"/>
                    <a:lstStyle/>
                    <a:p>
                      <a:pPr algn="l"/>
                      <a:r>
                        <a:rPr sz="1100" b="0">
                          <a:solidFill>
                            <a:srgbClr val="10131A"/>
                          </a:solidFill>
                          <a:latin typeface="Calibri"/>
                        </a:rPr>
                        <a:t>global edge network</a:t>
                      </a:r>
                    </a:p>
                  </a:txBody>
                  <a:tcPr marL="82296" marR="82296" marT="18288" marB="18288" anchor="ctr">
                    <a:solidFill>
                      <a:srgbClr val="EDF0F5"/>
                    </a:solidFill>
                  </a:tcPr>
                </a:tc>
                <a:tc>
                  <a:txBody>
                    <a:bodyPr wrap="square"/>
                    <a:lstStyle/>
                    <a:p>
                      <a:pPr algn="l"/>
                      <a:r>
                        <a:rPr sz="1100" b="0">
                          <a:solidFill>
                            <a:srgbClr val="10131A"/>
                          </a:solidFill>
                          <a:latin typeface="Calibri"/>
                        </a:rPr>
                        <a:t>the same global edge network</a:t>
                      </a:r>
                    </a:p>
                  </a:txBody>
                  <a:tcPr marL="82296" marR="82296" marT="18288" marB="18288" anchor="ctr">
                    <a:solidFill>
                      <a:srgbClr val="EDF0F5"/>
                    </a:solidFill>
                  </a:tcPr>
                </a:tc>
              </a:tr>
              <a:tr h="306324">
                <a:tc>
                  <a:txBody>
                    <a:bodyPr wrap="square"/>
                    <a:lstStyle/>
                    <a:p>
                      <a:pPr algn="l"/>
                      <a:r>
                        <a:rPr sz="1100" b="1">
                          <a:solidFill>
                            <a:srgbClr val="10131A"/>
                          </a:solidFill>
                          <a:latin typeface="Calibri"/>
                        </a:rPr>
                        <a:t>A recipient’s link</a:t>
                      </a:r>
                    </a:p>
                  </a:txBody>
                  <a:tcPr marL="82296" marR="82296" marT="18288" marB="18288" anchor="ctr">
                    <a:solidFill>
                      <a:srgbClr val="FFFFFF"/>
                    </a:solidFill>
                  </a:tcPr>
                </a:tc>
                <a:tc>
                  <a:txBody>
                    <a:bodyPr wrap="square"/>
                    <a:lstStyle/>
                    <a:p>
                      <a:pPr algn="l"/>
                      <a:r>
                        <a:rPr sz="1100" b="0">
                          <a:solidFill>
                            <a:srgbClr val="10131A"/>
                          </a:solidFill>
                          <a:latin typeface="Calibri"/>
                        </a:rPr>
                        <a:t>one durable URL</a:t>
                      </a:r>
                    </a:p>
                  </a:txBody>
                  <a:tcPr marL="82296" marR="82296" marT="18288" marB="18288" anchor="ctr">
                    <a:solidFill>
                      <a:srgbClr val="FFFFFF"/>
                    </a:solidFill>
                  </a:tcPr>
                </a:tc>
                <a:tc>
                  <a:txBody>
                    <a:bodyPr wrap="square"/>
                    <a:lstStyle/>
                    <a:p>
                      <a:pPr algn="l"/>
                      <a:r>
                        <a:rPr sz="1100" b="0">
                          <a:solidFill>
                            <a:srgbClr val="10131A"/>
                          </a:solidFill>
                          <a:latin typeface="Calibri"/>
                        </a:rPr>
                        <a:t>the same URL, valid for decades</a:t>
                      </a:r>
                    </a:p>
                  </a:txBody>
                  <a:tcPr marL="82296" marR="82296" marT="18288" marB="18288" anchor="ctr">
                    <a:solidFill>
                      <a:srgbClr val="FFFFFF"/>
                    </a:solidFill>
                  </a:tcPr>
                </a:tc>
              </a:tr>
              <a:tr h="306324">
                <a:tc>
                  <a:txBody>
                    <a:bodyPr wrap="square"/>
                    <a:lstStyle/>
                    <a:p>
                      <a:pPr algn="l"/>
                      <a:r>
                        <a:rPr sz="1100" b="1">
                          <a:solidFill>
                            <a:srgbClr val="10131A"/>
                          </a:solidFill>
                          <a:latin typeface="Calibri"/>
                        </a:rPr>
                        <a:t>The codebase</a:t>
                      </a:r>
                    </a:p>
                  </a:txBody>
                  <a:tcPr marL="82296" marR="82296" marT="18288" marB="18288" anchor="ctr">
                    <a:solidFill>
                      <a:srgbClr val="EDF0F5"/>
                    </a:solidFill>
                  </a:tcPr>
                </a:tc>
                <a:tc>
                  <a:txBody>
                    <a:bodyPr wrap="square"/>
                    <a:lstStyle/>
                    <a:p>
                      <a:pPr algn="l"/>
                      <a:r>
                        <a:rPr sz="1100" b="0">
                          <a:solidFill>
                            <a:srgbClr val="10131A"/>
                          </a:solidFill>
                          <a:latin typeface="Calibri"/>
                        </a:rPr>
                        <a:t>one repository</a:t>
                      </a:r>
                    </a:p>
                  </a:txBody>
                  <a:tcPr marL="82296" marR="82296" marT="18288" marB="18288" anchor="ctr">
                    <a:solidFill>
                      <a:srgbClr val="EDF0F5"/>
                    </a:solidFill>
                  </a:tcPr>
                </a:tc>
                <a:tc>
                  <a:txBody>
                    <a:bodyPr wrap="square"/>
                    <a:lstStyle/>
                    <a:p>
                      <a:pPr algn="l"/>
                      <a:r>
                        <a:rPr sz="1100" b="0">
                          <a:solidFill>
                            <a:srgbClr val="10131A"/>
                          </a:solidFill>
                          <a:latin typeface="Calibri"/>
                        </a:rPr>
                        <a:t>one repository</a:t>
                      </a:r>
                    </a:p>
                  </a:txBody>
                  <a:tcPr marL="82296" marR="82296" marT="18288" marB="18288" anchor="ctr">
                    <a:solidFill>
                      <a:srgbClr val="EDF0F5"/>
                    </a:solidFill>
                  </a:tcPr>
                </a:tc>
              </a:tr>
            </a:tbl>
          </a:graphicData>
        </a:graphic>
      </p:graphicFrame>
      <p:sp>
        <p:nvSpPr>
          <p:cNvPr id="8" name="Rectangle 7"/>
          <p:cNvSpPr/>
          <p:nvPr/>
        </p:nvSpPr>
        <p:spPr>
          <a:xfrm>
            <a:off x="658368" y="4882896"/>
            <a:ext cx="5300319" cy="1152144"/>
          </a:xfrm>
          <a:prstGeom prst="rect">
            <a:avLst/>
          </a:prstGeom>
          <a:solidFill>
            <a:srgbClr val="FFFFFF"/>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4882896"/>
            <a:ext cx="41148" cy="1152144"/>
          </a:xfrm>
          <a:prstGeom prst="rect">
            <a:avLst/>
          </a:prstGeom>
          <a:solidFill>
            <a:srgbClr val="FF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5010912"/>
            <a:ext cx="4897983" cy="219456"/>
          </a:xfrm>
          <a:prstGeom prst="rect">
            <a:avLst/>
          </a:prstGeom>
          <a:noFill/>
        </p:spPr>
        <p:txBody>
          <a:bodyPr wrap="square" lIns="0" rIns="0" tIns="0" bIns="0" anchor="t">
            <a:spAutoFit/>
          </a:bodyPr>
          <a:lstStyle/>
          <a:p>
            <a:pPr algn="l"/>
            <a:r>
              <a:rPr sz="950" b="1">
                <a:solidFill>
                  <a:srgbClr val="AF3327"/>
                </a:solidFill>
                <a:latin typeface="Consolas"/>
              </a:rPr>
              <a:t>WHY STORAGE IS EXTERNAL FROM DAY ONE</a:t>
            </a:r>
          </a:p>
        </p:txBody>
      </p:sp>
      <p:sp>
        <p:nvSpPr>
          <p:cNvPr id="11" name="TextBox 10"/>
          <p:cNvSpPr txBox="1"/>
          <p:nvPr/>
        </p:nvSpPr>
        <p:spPr>
          <a:xfrm>
            <a:off x="859536" y="5266944"/>
            <a:ext cx="4897983" cy="640080"/>
          </a:xfrm>
          <a:prstGeom prst="rect">
            <a:avLst/>
          </a:prstGeom>
          <a:noFill/>
        </p:spPr>
        <p:txBody>
          <a:bodyPr wrap="square" lIns="0" rIns="0" tIns="0" bIns="0" anchor="t">
            <a:spAutoFit/>
          </a:bodyPr>
          <a:lstStyle/>
          <a:p>
            <a:pPr algn="l">
              <a:lnSpc>
                <a:spcPct val="128000"/>
              </a:lnSpc>
            </a:pPr>
            <a:r>
              <a:rPr sz="1150" b="0">
                <a:solidFill>
                  <a:srgbClr val="38414F"/>
                </a:solidFill>
                <a:latin typeface="Calibri"/>
              </a:rPr>
              <a:t>Media is the only thing that cannot be regenerated. Putting it outside the server immediately means no stage of growth ever has to move it — there is no petabyte migration anywhere in this plan.</a:t>
            </a:r>
          </a:p>
        </p:txBody>
      </p:sp>
      <p:sp>
        <p:nvSpPr>
          <p:cNvPr id="12" name="Rectangle 11"/>
          <p:cNvSpPr/>
          <p:nvPr/>
        </p:nvSpPr>
        <p:spPr>
          <a:xfrm>
            <a:off x="6233007" y="4882896"/>
            <a:ext cx="5300319" cy="1152144"/>
          </a:xfrm>
          <a:prstGeom prst="rect">
            <a:avLst/>
          </a:prstGeom>
          <a:solidFill>
            <a:srgbClr val="E6F2F0"/>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3007" y="4882896"/>
            <a:ext cx="41148" cy="1152144"/>
          </a:xfrm>
          <a:prstGeom prst="rect">
            <a:avLst/>
          </a:prstGeom>
          <a:solidFill>
            <a:srgbClr val="0E6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4175" y="5010912"/>
            <a:ext cx="4897983" cy="219456"/>
          </a:xfrm>
          <a:prstGeom prst="rect">
            <a:avLst/>
          </a:prstGeom>
          <a:noFill/>
        </p:spPr>
        <p:txBody>
          <a:bodyPr wrap="square" lIns="0" rIns="0" tIns="0" bIns="0" anchor="t">
            <a:spAutoFit/>
          </a:bodyPr>
          <a:lstStyle/>
          <a:p>
            <a:pPr algn="l"/>
            <a:r>
              <a:rPr sz="950" b="1">
                <a:solidFill>
                  <a:srgbClr val="0E6A60"/>
                </a:solidFill>
                <a:latin typeface="Consolas"/>
              </a:rPr>
              <a:t>WHY THERE IS ONLY EVER ONE WRITER</a:t>
            </a:r>
          </a:p>
        </p:txBody>
      </p:sp>
      <p:sp>
        <p:nvSpPr>
          <p:cNvPr id="15" name="TextBox 14"/>
          <p:cNvSpPr txBox="1"/>
          <p:nvPr/>
        </p:nvSpPr>
        <p:spPr>
          <a:xfrm>
            <a:off x="6434175" y="5266944"/>
            <a:ext cx="4897983" cy="640080"/>
          </a:xfrm>
          <a:prstGeom prst="rect">
            <a:avLst/>
          </a:prstGeom>
          <a:noFill/>
        </p:spPr>
        <p:txBody>
          <a:bodyPr wrap="square" lIns="0" rIns="0" tIns="0" bIns="0" anchor="t">
            <a:spAutoFit/>
          </a:bodyPr>
          <a:lstStyle/>
          <a:p>
            <a:pPr algn="l">
              <a:lnSpc>
                <a:spcPct val="128000"/>
              </a:lnSpc>
            </a:pPr>
            <a:r>
              <a:rPr sz="1150" b="0">
                <a:solidFill>
                  <a:srgbClr val="38414F"/>
                </a:solidFill>
                <a:latin typeface="Calibri"/>
              </a:rPr>
              <a:t>A sealed message and its delivery schedule are written together, in one transaction. Splitting that across regions would turn a guarantee into a probability, so we never do it.</a:t>
            </a:r>
          </a:p>
        </p:txBody>
      </p:sp>
      <p:sp>
        <p:nvSpPr>
          <p:cNvPr id="16" name="TextBox 15"/>
          <p:cNvSpPr txBox="1"/>
          <p:nvPr/>
        </p:nvSpPr>
        <p:spPr>
          <a:xfrm>
            <a:off x="658368" y="6419088"/>
            <a:ext cx="8699967" cy="201168"/>
          </a:xfrm>
          <a:prstGeom prst="rect">
            <a:avLst/>
          </a:prstGeom>
          <a:noFill/>
        </p:spPr>
        <p:txBody>
          <a:bodyPr wrap="square" lIns="0" rIns="0" tIns="0" bIns="0" anchor="t">
            <a:spAutoFit/>
          </a:bodyPr>
          <a:lstStyle/>
          <a:p>
            <a:pPr algn="l"/>
            <a:r>
              <a:rPr sz="950" b="0">
                <a:solidFill>
                  <a:srgbClr val="5C6675"/>
                </a:solidFill>
                <a:latin typeface="Consolas"/>
              </a:rPr>
              <a:t>The constants</a:t>
            </a:r>
          </a:p>
        </p:txBody>
      </p:sp>
      <p:sp>
        <p:nvSpPr>
          <p:cNvPr id="17" name="TextBox 16"/>
          <p:cNvSpPr txBox="1"/>
          <p:nvPr/>
        </p:nvSpPr>
        <p:spPr>
          <a:xfrm>
            <a:off x="10618927" y="6419088"/>
            <a:ext cx="914400" cy="201168"/>
          </a:xfrm>
          <a:prstGeom prst="rect">
            <a:avLst/>
          </a:prstGeom>
          <a:noFill/>
        </p:spPr>
        <p:txBody>
          <a:bodyPr wrap="square" lIns="0" rIns="0" tIns="0" bIns="0" anchor="t">
            <a:spAutoFit/>
          </a:bodyPr>
          <a:lstStyle/>
          <a:p>
            <a:pPr algn="r"/>
            <a:r>
              <a:rPr sz="950" b="0">
                <a:solidFill>
                  <a:srgbClr val="5C6675"/>
                </a:solidFill>
                <a:latin typeface="Consolas"/>
              </a:rPr>
              <a:t>04 / 16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pic>
        <p:nvPicPr>
          <p:cNvPr id="2" name="Picture 1" descr="NFCLogo.png"/>
          <p:cNvPicPr>
            <a:picLocks noChangeAspect="1"/>
          </p:cNvPicPr>
          <p:nvPr/>
        </p:nvPicPr>
        <p:blipFill>
          <a:blip r:embed="rId2"/>
          <a:stretch>
            <a:fillRect/>
          </a:stretch>
        </p:blipFill>
        <p:spPr>
          <a:xfrm>
            <a:off x="11206068" y="274320"/>
            <a:ext cx="327259" cy="365760"/>
          </a:xfrm>
          <a:prstGeom prst="rect">
            <a:avLst/>
          </a:prstGeom>
        </p:spPr>
      </p:pic>
      <p:sp>
        <p:nvSpPr>
          <p:cNvPr id="3" name="TextBox 2"/>
          <p:cNvSpPr txBox="1"/>
          <p:nvPr/>
        </p:nvSpPr>
        <p:spPr>
          <a:xfrm>
            <a:off x="658368" y="402336"/>
            <a:ext cx="10874959" cy="219456"/>
          </a:xfrm>
          <a:prstGeom prst="rect">
            <a:avLst/>
          </a:prstGeom>
          <a:noFill/>
        </p:spPr>
        <p:txBody>
          <a:bodyPr wrap="square" lIns="0" rIns="0" tIns="0" bIns="0" anchor="t">
            <a:spAutoFit/>
          </a:bodyPr>
          <a:lstStyle/>
          <a:p>
            <a:pPr algn="l"/>
            <a:r>
              <a:rPr sz="1050" b="1">
                <a:solidFill>
                  <a:srgbClr val="AF3327"/>
                </a:solidFill>
                <a:latin typeface="Consolas"/>
              </a:rPr>
              <a:t>STAGE 1  ·  ONE SERVER</a:t>
            </a:r>
          </a:p>
        </p:txBody>
      </p:sp>
      <p:sp>
        <p:nvSpPr>
          <p:cNvPr id="4" name="TextBox 3"/>
          <p:cNvSpPr txBox="1"/>
          <p:nvPr/>
        </p:nvSpPr>
        <p:spPr>
          <a:xfrm>
            <a:off x="658368" y="676656"/>
            <a:ext cx="10874959" cy="566928"/>
          </a:xfrm>
          <a:prstGeom prst="rect">
            <a:avLst/>
          </a:prstGeom>
          <a:noFill/>
        </p:spPr>
        <p:txBody>
          <a:bodyPr wrap="square" lIns="0" rIns="0" tIns="0" bIns="0" anchor="t">
            <a:spAutoFit/>
          </a:bodyPr>
          <a:lstStyle/>
          <a:p>
            <a:pPr algn="l">
              <a:lnSpc>
                <a:spcPct val="102000"/>
              </a:lnSpc>
            </a:pPr>
            <a:r>
              <a:rPr sz="2600" b="0">
                <a:solidFill>
                  <a:srgbClr val="10131A"/>
                </a:solidFill>
                <a:latin typeface="Georgia"/>
              </a:rPr>
              <a:t>Prove that people want this</a:t>
            </a:r>
          </a:p>
        </p:txBody>
      </p:sp>
      <p:sp>
        <p:nvSpPr>
          <p:cNvPr id="5" name="TextBox 4"/>
          <p:cNvSpPr txBox="1"/>
          <p:nvPr/>
        </p:nvSpPr>
        <p:spPr>
          <a:xfrm>
            <a:off x="658368" y="1280160"/>
            <a:ext cx="9787463" cy="384048"/>
          </a:xfrm>
          <a:prstGeom prst="rect">
            <a:avLst/>
          </a:prstGeom>
          <a:noFill/>
        </p:spPr>
        <p:txBody>
          <a:bodyPr wrap="square" lIns="0" rIns="0" tIns="0" bIns="0" anchor="t">
            <a:spAutoFit/>
          </a:bodyPr>
          <a:lstStyle/>
          <a:p>
            <a:pPr algn="l">
              <a:lnSpc>
                <a:spcPct val="124000"/>
              </a:lnSpc>
            </a:pPr>
            <a:r>
              <a:rPr sz="1250" b="0">
                <a:solidFill>
                  <a:srgbClr val="5C6675"/>
                </a:solidFill>
                <a:latin typeface="Calibri"/>
              </a:rPr>
              <a:t>The smallest thing that can hold a real promise. One machine runs everything except the media itself — which is deliberately kept outside from the first day.</a:t>
            </a:r>
          </a:p>
        </p:txBody>
      </p:sp>
      <p:sp>
        <p:nvSpPr>
          <p:cNvPr id="6" name="Rectangle 5"/>
          <p:cNvSpPr/>
          <p:nvPr/>
        </p:nvSpPr>
        <p:spPr>
          <a:xfrm>
            <a:off x="658368" y="1719072"/>
            <a:ext cx="822960" cy="32004"/>
          </a:xfrm>
          <a:prstGeom prst="rect">
            <a:avLst/>
          </a:prstGeom>
          <a:solidFill>
            <a:srgbClr val="FF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920239"/>
            <a:ext cx="6583680" cy="3913632"/>
          </a:xfrm>
          <a:prstGeom prst="rect">
            <a:avLst/>
          </a:prstGeom>
          <a:solidFill>
            <a:srgbClr val="FFFFFF"/>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920239"/>
            <a:ext cx="6583680" cy="438912"/>
          </a:xfrm>
          <a:prstGeom prst="rect">
            <a:avLst/>
          </a:prstGeom>
          <a:solidFill>
            <a:srgbClr val="223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7" y="2029967"/>
            <a:ext cx="6181344" cy="237744"/>
          </a:xfrm>
          <a:prstGeom prst="rect">
            <a:avLst/>
          </a:prstGeom>
          <a:noFill/>
        </p:spPr>
        <p:txBody>
          <a:bodyPr wrap="square" lIns="0" rIns="0" tIns="0" bIns="0" anchor="t">
            <a:spAutoFit/>
          </a:bodyPr>
          <a:lstStyle/>
          <a:p>
            <a:pPr algn="l"/>
            <a:r>
              <a:rPr sz="1000" b="1">
                <a:solidFill>
                  <a:srgbClr val="FFFFFF"/>
                </a:solidFill>
                <a:latin typeface="Consolas"/>
              </a:rPr>
              <a:t>STAGE 1  ·  WHAT RUNS</a:t>
            </a:r>
          </a:p>
        </p:txBody>
      </p:sp>
      <p:graphicFrame>
        <p:nvGraphicFramePr>
          <p:cNvPr id="10" name="Table 9"/>
          <p:cNvGraphicFramePr>
            <a:graphicFrameLocks noGrp="1"/>
          </p:cNvGraphicFramePr>
          <p:nvPr/>
        </p:nvGraphicFramePr>
        <p:xfrm>
          <a:off x="822959" y="2487168"/>
          <a:ext cx="6254496" cy="2098541"/>
        </p:xfrm>
        <a:graphic>
          <a:graphicData uri="http://schemas.openxmlformats.org/drawingml/2006/table">
            <a:tbl>
              <a:tblPr>
                <a:tableStyleId>{5C22544A-7EE6-4342-B048-85BDC9FD1C3A}</a:tableStyleId>
              </a:tblPr>
              <a:tblGrid>
                <a:gridCol w="2788920"/>
                <a:gridCol w="3465576"/>
              </a:tblGrid>
              <a:tr h="274320">
                <a:tc>
                  <a:txBody>
                    <a:bodyPr wrap="square"/>
                    <a:lstStyle/>
                    <a:p>
                      <a:pPr algn="l"/>
                      <a:r>
                        <a:rPr sz="900" b="1">
                          <a:solidFill>
                            <a:srgbClr val="FFFFFF"/>
                          </a:solidFill>
                          <a:latin typeface="Calibri"/>
                        </a:rPr>
                        <a:t>Component</a:t>
                      </a:r>
                    </a:p>
                  </a:txBody>
                  <a:tcPr marL="82296" marR="82296" marT="18288" marB="18288" anchor="ctr">
                    <a:solidFill>
                      <a:srgbClr val="22304A"/>
                    </a:solidFill>
                  </a:tcPr>
                </a:tc>
                <a:tc>
                  <a:txBody>
                    <a:bodyPr wrap="square"/>
                    <a:lstStyle/>
                    <a:p>
                      <a:pPr algn="l"/>
                      <a:r>
                        <a:rPr sz="900" b="1">
                          <a:solidFill>
                            <a:srgbClr val="FFFFFF"/>
                          </a:solidFill>
                          <a:latin typeface="Calibri"/>
                        </a:rPr>
                        <a:t>Where it runs</a:t>
                      </a:r>
                    </a:p>
                  </a:txBody>
                  <a:tcPr marL="82296" marR="82296" marT="18288" marB="18288" anchor="ctr">
                    <a:solidFill>
                      <a:srgbClr val="22304A"/>
                    </a:solidFill>
                  </a:tcPr>
                </a:tc>
              </a:tr>
              <a:tr h="260603">
                <a:tc>
                  <a:txBody>
                    <a:bodyPr wrap="square"/>
                    <a:lstStyle/>
                    <a:p>
                      <a:pPr algn="l"/>
                      <a:r>
                        <a:rPr sz="1000" b="0">
                          <a:solidFill>
                            <a:srgbClr val="10131A"/>
                          </a:solidFill>
                          <a:latin typeface="Calibri"/>
                        </a:rPr>
                        <a:t>API and admin web</a:t>
                      </a:r>
                    </a:p>
                  </a:txBody>
                  <a:tcPr marL="82296" marR="82296" marT="18288" marB="18288" anchor="ctr">
                    <a:solidFill>
                      <a:srgbClr val="FFFFFF"/>
                    </a:solidFill>
                  </a:tcPr>
                </a:tc>
                <a:tc>
                  <a:txBody>
                    <a:bodyPr wrap="square"/>
                    <a:lstStyle/>
                    <a:p>
                      <a:pPr algn="l"/>
                      <a:r>
                        <a:rPr sz="1000" b="0">
                          <a:solidFill>
                            <a:srgbClr val="10131A"/>
                          </a:solidFill>
                          <a:latin typeface="Calibri"/>
                        </a:rPr>
                        <a:t>one virtual server, 4 vCPU / 8 GB</a:t>
                      </a:r>
                    </a:p>
                  </a:txBody>
                  <a:tcPr marL="82296" marR="82296" marT="18288" marB="18288" anchor="ctr">
                    <a:solidFill>
                      <a:srgbClr val="FFFFFF"/>
                    </a:solidFill>
                  </a:tcPr>
                </a:tc>
              </a:tr>
              <a:tr h="260603">
                <a:tc>
                  <a:txBody>
                    <a:bodyPr wrap="square"/>
                    <a:lstStyle/>
                    <a:p>
                      <a:pPr algn="l"/>
                      <a:r>
                        <a:rPr sz="1000" b="0">
                          <a:solidFill>
                            <a:srgbClr val="10131A"/>
                          </a:solidFill>
                          <a:latin typeface="Calibri"/>
                        </a:rPr>
                        <a:t>Delivery workers</a:t>
                      </a:r>
                    </a:p>
                  </a:txBody>
                  <a:tcPr marL="82296" marR="82296" marT="18288" marB="18288" anchor="ctr">
                    <a:solidFill>
                      <a:srgbClr val="EDF0F5"/>
                    </a:solidFill>
                  </a:tcPr>
                </a:tc>
                <a:tc>
                  <a:txBody>
                    <a:bodyPr wrap="square"/>
                    <a:lstStyle/>
                    <a:p>
                      <a:pPr algn="l"/>
                      <a:r>
                        <a:rPr sz="1000" b="0">
                          <a:solidFill>
                            <a:srgbClr val="10131A"/>
                          </a:solidFill>
                          <a:latin typeface="Calibri"/>
                        </a:rPr>
                        <a:t>the same server, separate process</a:t>
                      </a:r>
                    </a:p>
                  </a:txBody>
                  <a:tcPr marL="82296" marR="82296" marT="18288" marB="18288" anchor="ctr">
                    <a:solidFill>
                      <a:srgbClr val="EDF0F5"/>
                    </a:solidFill>
                  </a:tcPr>
                </a:tc>
              </a:tr>
              <a:tr h="260603">
                <a:tc>
                  <a:txBody>
                    <a:bodyPr wrap="square"/>
                    <a:lstStyle/>
                    <a:p>
                      <a:pPr algn="l"/>
                      <a:r>
                        <a:rPr sz="1000" b="0">
                          <a:solidFill>
                            <a:srgbClr val="10131A"/>
                          </a:solidFill>
                          <a:latin typeface="Calibri"/>
                        </a:rPr>
                        <a:t>Database</a:t>
                      </a:r>
                    </a:p>
                  </a:txBody>
                  <a:tcPr marL="82296" marR="82296" marT="18288" marB="18288" anchor="ctr">
                    <a:solidFill>
                      <a:srgbClr val="FFFFFF"/>
                    </a:solidFill>
                  </a:tcPr>
                </a:tc>
                <a:tc>
                  <a:txBody>
                    <a:bodyPr wrap="square"/>
                    <a:lstStyle/>
                    <a:p>
                      <a:pPr algn="l"/>
                      <a:r>
                        <a:rPr sz="1000" b="0">
                          <a:solidFill>
                            <a:srgbClr val="10131A"/>
                          </a:solidFill>
                          <a:latin typeface="Calibri"/>
                        </a:rPr>
                        <a:t>MySQL on the same server</a:t>
                      </a:r>
                    </a:p>
                  </a:txBody>
                  <a:tcPr marL="82296" marR="82296" marT="18288" marB="18288" anchor="ctr">
                    <a:solidFill>
                      <a:srgbClr val="FFFFFF"/>
                    </a:solidFill>
                  </a:tcPr>
                </a:tc>
              </a:tr>
              <a:tr h="260603">
                <a:tc>
                  <a:txBody>
                    <a:bodyPr wrap="square"/>
                    <a:lstStyle/>
                    <a:p>
                      <a:pPr algn="l"/>
                      <a:r>
                        <a:rPr sz="1000" b="0">
                          <a:solidFill>
                            <a:srgbClr val="10131A"/>
                          </a:solidFill>
                          <a:latin typeface="Calibri"/>
                        </a:rPr>
                        <a:t>Photos, video and voice</a:t>
                      </a:r>
                    </a:p>
                  </a:txBody>
                  <a:tcPr marL="82296" marR="82296" marT="18288" marB="18288" anchor="ctr">
                    <a:solidFill>
                      <a:srgbClr val="EDF0F5"/>
                    </a:solidFill>
                  </a:tcPr>
                </a:tc>
                <a:tc>
                  <a:txBody>
                    <a:bodyPr wrap="square"/>
                    <a:lstStyle/>
                    <a:p>
                      <a:pPr algn="l"/>
                      <a:r>
                        <a:rPr sz="1000" b="0">
                          <a:solidFill>
                            <a:srgbClr val="10131A"/>
                          </a:solidFill>
                          <a:latin typeface="Calibri"/>
                        </a:rPr>
                        <a:t>Cloudflare object storage — off the server</a:t>
                      </a:r>
                    </a:p>
                  </a:txBody>
                  <a:tcPr marL="82296" marR="82296" marT="18288" marB="18288" anchor="ctr">
                    <a:solidFill>
                      <a:srgbClr val="EDF0F5"/>
                    </a:solidFill>
                  </a:tcPr>
                </a:tc>
              </a:tr>
              <a:tr h="260603">
                <a:tc>
                  <a:txBody>
                    <a:bodyPr wrap="square"/>
                    <a:lstStyle/>
                    <a:p>
                      <a:pPr algn="l"/>
                      <a:r>
                        <a:rPr sz="1000" b="0">
                          <a:solidFill>
                            <a:srgbClr val="10131A"/>
                          </a:solidFill>
                          <a:latin typeface="Calibri"/>
                        </a:rPr>
                        <a:t>Backup copy of originals</a:t>
                      </a:r>
                    </a:p>
                  </a:txBody>
                  <a:tcPr marL="82296" marR="82296" marT="18288" marB="18288" anchor="ctr">
                    <a:solidFill>
                      <a:srgbClr val="FFFFFF"/>
                    </a:solidFill>
                  </a:tcPr>
                </a:tc>
                <a:tc>
                  <a:txBody>
                    <a:bodyPr wrap="square"/>
                    <a:lstStyle/>
                    <a:p>
                      <a:pPr algn="l"/>
                      <a:r>
                        <a:rPr sz="1000" b="0">
                          <a:solidFill>
                            <a:srgbClr val="10131A"/>
                          </a:solidFill>
                          <a:latin typeface="Calibri"/>
                        </a:rPr>
                        <a:t>a second vendor, different geography</a:t>
                      </a:r>
                    </a:p>
                  </a:txBody>
                  <a:tcPr marL="82296" marR="82296" marT="18288" marB="18288" anchor="ctr">
                    <a:solidFill>
                      <a:srgbClr val="FFFFFF"/>
                    </a:solidFill>
                  </a:tcPr>
                </a:tc>
              </a:tr>
              <a:tr h="260603">
                <a:tc>
                  <a:txBody>
                    <a:bodyPr wrap="square"/>
                    <a:lstStyle/>
                    <a:p>
                      <a:pPr algn="l"/>
                      <a:r>
                        <a:rPr sz="1000" b="0">
                          <a:solidFill>
                            <a:srgbClr val="10131A"/>
                          </a:solidFill>
                          <a:latin typeface="Calibri"/>
                        </a:rPr>
                        <a:t>Delivery to customers</a:t>
                      </a:r>
                    </a:p>
                  </a:txBody>
                  <a:tcPr marL="82296" marR="82296" marT="18288" marB="18288" anchor="ctr">
                    <a:solidFill>
                      <a:srgbClr val="EDF0F5"/>
                    </a:solidFill>
                  </a:tcPr>
                </a:tc>
                <a:tc>
                  <a:txBody>
                    <a:bodyPr wrap="square"/>
                    <a:lstStyle/>
                    <a:p>
                      <a:pPr algn="l"/>
                      <a:r>
                        <a:rPr sz="1000" b="0">
                          <a:solidFill>
                            <a:srgbClr val="10131A"/>
                          </a:solidFill>
                          <a:latin typeface="Calibri"/>
                        </a:rPr>
                        <a:t>global edge network, free tier</a:t>
                      </a:r>
                    </a:p>
                  </a:txBody>
                  <a:tcPr marL="82296" marR="82296" marT="18288" marB="18288" anchor="ctr">
                    <a:solidFill>
                      <a:srgbClr val="EDF0F5"/>
                    </a:solidFill>
                  </a:tcPr>
                </a:tc>
              </a:tr>
              <a:tr h="260603">
                <a:tc>
                  <a:txBody>
                    <a:bodyPr wrap="square"/>
                    <a:lstStyle/>
                    <a:p>
                      <a:pPr algn="l"/>
                      <a:r>
                        <a:rPr sz="1000" b="0">
                          <a:solidFill>
                            <a:srgbClr val="10131A"/>
                          </a:solidFill>
                          <a:latin typeface="Calibri"/>
                        </a:rPr>
                        <a:t>Video processing</a:t>
                      </a:r>
                    </a:p>
                  </a:txBody>
                  <a:tcPr marL="82296" marR="82296" marT="18288" marB="18288" anchor="ctr">
                    <a:solidFill>
                      <a:srgbClr val="FFFFFF"/>
                    </a:solidFill>
                  </a:tcPr>
                </a:tc>
                <a:tc>
                  <a:txBody>
                    <a:bodyPr wrap="square"/>
                    <a:lstStyle/>
                    <a:p>
                      <a:pPr algn="l"/>
                      <a:r>
                        <a:rPr sz="1000" b="0">
                          <a:solidFill>
                            <a:srgbClr val="10131A"/>
                          </a:solidFill>
                          <a:latin typeface="Calibri"/>
                        </a:rPr>
                        <a:t>the same server, queued</a:t>
                      </a:r>
                    </a:p>
                  </a:txBody>
                  <a:tcPr marL="82296" marR="82296" marT="18288" marB="18288" anchor="ctr">
                    <a:solidFill>
                      <a:srgbClr val="FFFFFF"/>
                    </a:solidFill>
                  </a:tcPr>
                </a:tc>
              </a:tr>
            </a:tbl>
          </a:graphicData>
        </a:graphic>
      </p:graphicFrame>
      <p:sp>
        <p:nvSpPr>
          <p:cNvPr id="11" name="Rectangle 10"/>
          <p:cNvSpPr/>
          <p:nvPr/>
        </p:nvSpPr>
        <p:spPr>
          <a:xfrm>
            <a:off x="7424927" y="1920239"/>
            <a:ext cx="4108399" cy="932688"/>
          </a:xfrm>
          <a:prstGeom prst="rect">
            <a:avLst/>
          </a:prstGeom>
          <a:solidFill>
            <a:srgbClr val="FFFFFF"/>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7807" y="2066543"/>
            <a:ext cx="3742639" cy="201168"/>
          </a:xfrm>
          <a:prstGeom prst="rect">
            <a:avLst/>
          </a:prstGeom>
          <a:noFill/>
        </p:spPr>
        <p:txBody>
          <a:bodyPr wrap="square" lIns="0" rIns="0" tIns="0" bIns="0" anchor="t">
            <a:spAutoFit/>
          </a:bodyPr>
          <a:lstStyle/>
          <a:p>
            <a:pPr algn="l"/>
            <a:r>
              <a:rPr sz="900" b="1">
                <a:solidFill>
                  <a:srgbClr val="5C6675"/>
                </a:solidFill>
                <a:latin typeface="Consolas"/>
              </a:rPr>
              <a:t>CAPACITY AT THIS STAGE</a:t>
            </a:r>
          </a:p>
        </p:txBody>
      </p:sp>
      <p:sp>
        <p:nvSpPr>
          <p:cNvPr id="13" name="TextBox 12"/>
          <p:cNvSpPr txBox="1"/>
          <p:nvPr/>
        </p:nvSpPr>
        <p:spPr>
          <a:xfrm>
            <a:off x="7607807" y="2322575"/>
            <a:ext cx="3742639" cy="420624"/>
          </a:xfrm>
          <a:prstGeom prst="rect">
            <a:avLst/>
          </a:prstGeom>
          <a:noFill/>
        </p:spPr>
        <p:txBody>
          <a:bodyPr wrap="square" lIns="0" rIns="0" tIns="0" bIns="0" anchor="t">
            <a:spAutoFit/>
          </a:bodyPr>
          <a:lstStyle/>
          <a:p>
            <a:pPr algn="l">
              <a:lnSpc>
                <a:spcPct val="110000"/>
              </a:lnSpc>
            </a:pPr>
            <a:r>
              <a:rPr sz="1700" b="0">
                <a:solidFill>
                  <a:srgbClr val="10131A"/>
                </a:solidFill>
                <a:latin typeface="Georgia"/>
              </a:rPr>
              <a:t>1,000 users  ·  0.7 TB</a:t>
            </a:r>
          </a:p>
        </p:txBody>
      </p:sp>
      <p:sp>
        <p:nvSpPr>
          <p:cNvPr id="14" name="Rectangle 13"/>
          <p:cNvSpPr/>
          <p:nvPr/>
        </p:nvSpPr>
        <p:spPr>
          <a:xfrm>
            <a:off x="7424927" y="2971799"/>
            <a:ext cx="4108399" cy="932688"/>
          </a:xfrm>
          <a:prstGeom prst="rect">
            <a:avLst/>
          </a:prstGeom>
          <a:solidFill>
            <a:srgbClr val="FFFFFF"/>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07807" y="3118103"/>
            <a:ext cx="3742639" cy="201168"/>
          </a:xfrm>
          <a:prstGeom prst="rect">
            <a:avLst/>
          </a:prstGeom>
          <a:noFill/>
        </p:spPr>
        <p:txBody>
          <a:bodyPr wrap="square" lIns="0" rIns="0" tIns="0" bIns="0" anchor="t">
            <a:spAutoFit/>
          </a:bodyPr>
          <a:lstStyle/>
          <a:p>
            <a:pPr algn="l"/>
            <a:r>
              <a:rPr sz="900" b="1">
                <a:solidFill>
                  <a:srgbClr val="5C6675"/>
                </a:solidFill>
                <a:latin typeface="Consolas"/>
              </a:rPr>
              <a:t>IF SOMETHING FAILS</a:t>
            </a:r>
          </a:p>
        </p:txBody>
      </p:sp>
      <p:sp>
        <p:nvSpPr>
          <p:cNvPr id="16" name="TextBox 15"/>
          <p:cNvSpPr txBox="1"/>
          <p:nvPr/>
        </p:nvSpPr>
        <p:spPr>
          <a:xfrm>
            <a:off x="7607807" y="3374135"/>
            <a:ext cx="3742639" cy="420624"/>
          </a:xfrm>
          <a:prstGeom prst="rect">
            <a:avLst/>
          </a:prstGeom>
          <a:noFill/>
        </p:spPr>
        <p:txBody>
          <a:bodyPr wrap="square" lIns="0" rIns="0" tIns="0" bIns="0" anchor="t">
            <a:spAutoFit/>
          </a:bodyPr>
          <a:lstStyle/>
          <a:p>
            <a:pPr algn="l">
              <a:lnSpc>
                <a:spcPct val="110000"/>
              </a:lnSpc>
            </a:pPr>
            <a:r>
              <a:rPr sz="1700" b="0">
                <a:solidFill>
                  <a:srgbClr val="10131A"/>
                </a:solidFill>
                <a:latin typeface="Georgia"/>
              </a:rPr>
              <a:t>Manual restore. One machine.</a:t>
            </a:r>
          </a:p>
        </p:txBody>
      </p:sp>
      <p:sp>
        <p:nvSpPr>
          <p:cNvPr id="17" name="Rectangle 16"/>
          <p:cNvSpPr/>
          <p:nvPr/>
        </p:nvSpPr>
        <p:spPr>
          <a:xfrm>
            <a:off x="7424927" y="4023359"/>
            <a:ext cx="4108399" cy="1810512"/>
          </a:xfrm>
          <a:prstGeom prst="rect">
            <a:avLst/>
          </a:prstGeom>
          <a:solidFill>
            <a:srgbClr val="FFFFFF"/>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424927" y="4023359"/>
            <a:ext cx="41148" cy="1810512"/>
          </a:xfrm>
          <a:prstGeom prst="rect">
            <a:avLst/>
          </a:prstGeom>
          <a:solidFill>
            <a:srgbClr val="FF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26096" y="4151375"/>
            <a:ext cx="3706063" cy="219456"/>
          </a:xfrm>
          <a:prstGeom prst="rect">
            <a:avLst/>
          </a:prstGeom>
          <a:noFill/>
        </p:spPr>
        <p:txBody>
          <a:bodyPr wrap="square" lIns="0" rIns="0" tIns="0" bIns="0" anchor="t">
            <a:spAutoFit/>
          </a:bodyPr>
          <a:lstStyle/>
          <a:p>
            <a:pPr algn="l"/>
            <a:r>
              <a:rPr sz="950" b="1">
                <a:solidFill>
                  <a:srgbClr val="AF3327"/>
                </a:solidFill>
                <a:latin typeface="Consolas"/>
              </a:rPr>
              <a:t>WHAT MOVES US TO STAGE 2</a:t>
            </a:r>
          </a:p>
        </p:txBody>
      </p:sp>
      <p:sp>
        <p:nvSpPr>
          <p:cNvPr id="20" name="TextBox 19"/>
          <p:cNvSpPr txBox="1"/>
          <p:nvPr/>
        </p:nvSpPr>
        <p:spPr>
          <a:xfrm>
            <a:off x="7626096" y="4407407"/>
            <a:ext cx="3706063" cy="1298448"/>
          </a:xfrm>
          <a:prstGeom prst="rect">
            <a:avLst/>
          </a:prstGeom>
          <a:noFill/>
        </p:spPr>
        <p:txBody>
          <a:bodyPr wrap="square" lIns="0" rIns="0" tIns="0" bIns="0" anchor="t">
            <a:spAutoFit/>
          </a:bodyPr>
          <a:lstStyle/>
          <a:p>
            <a:pPr algn="l">
              <a:lnSpc>
                <a:spcPct val="128000"/>
              </a:lnSpc>
            </a:pPr>
            <a:r>
              <a:rPr sz="1150" b="0">
                <a:solidFill>
                  <a:srgbClr val="38414F"/>
                </a:solidFill>
                <a:latin typeface="Calibri"/>
              </a:rPr>
              <a:t>One machine is one power cut. There is no failover, releases take the app offline, and backups depend on somebody remembering. That is acceptable while the only question is whether people want this — and unacceptable the moment we are holding a promise to deliver years from now.</a:t>
            </a:r>
          </a:p>
        </p:txBody>
      </p:sp>
      <p:sp>
        <p:nvSpPr>
          <p:cNvPr id="21" name="TextBox 20"/>
          <p:cNvSpPr txBox="1"/>
          <p:nvPr/>
        </p:nvSpPr>
        <p:spPr>
          <a:xfrm>
            <a:off x="658368" y="6419088"/>
            <a:ext cx="8699967" cy="201168"/>
          </a:xfrm>
          <a:prstGeom prst="rect">
            <a:avLst/>
          </a:prstGeom>
          <a:noFill/>
        </p:spPr>
        <p:txBody>
          <a:bodyPr wrap="square" lIns="0" rIns="0" tIns="0" bIns="0" anchor="t">
            <a:spAutoFit/>
          </a:bodyPr>
          <a:lstStyle/>
          <a:p>
            <a:pPr algn="l"/>
            <a:r>
              <a:rPr sz="950" b="0">
                <a:solidFill>
                  <a:srgbClr val="5C6675"/>
                </a:solidFill>
                <a:latin typeface="Consolas"/>
              </a:rPr>
              <a:t>Stage 1 · one server</a:t>
            </a:r>
          </a:p>
        </p:txBody>
      </p:sp>
      <p:sp>
        <p:nvSpPr>
          <p:cNvPr id="22" name="TextBox 21"/>
          <p:cNvSpPr txBox="1"/>
          <p:nvPr/>
        </p:nvSpPr>
        <p:spPr>
          <a:xfrm>
            <a:off x="10618927" y="6419088"/>
            <a:ext cx="914400" cy="201168"/>
          </a:xfrm>
          <a:prstGeom prst="rect">
            <a:avLst/>
          </a:prstGeom>
          <a:noFill/>
        </p:spPr>
        <p:txBody>
          <a:bodyPr wrap="square" lIns="0" rIns="0" tIns="0" bIns="0" anchor="t">
            <a:spAutoFit/>
          </a:bodyPr>
          <a:lstStyle/>
          <a:p>
            <a:pPr algn="r"/>
            <a:r>
              <a:rPr sz="950" b="0">
                <a:solidFill>
                  <a:srgbClr val="5C6675"/>
                </a:solidFill>
                <a:latin typeface="Consolas"/>
              </a:rPr>
              <a:t>05 / 16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pic>
        <p:nvPicPr>
          <p:cNvPr id="2" name="Picture 1" descr="NFCLogo.png"/>
          <p:cNvPicPr>
            <a:picLocks noChangeAspect="1"/>
          </p:cNvPicPr>
          <p:nvPr/>
        </p:nvPicPr>
        <p:blipFill>
          <a:blip r:embed="rId2"/>
          <a:stretch>
            <a:fillRect/>
          </a:stretch>
        </p:blipFill>
        <p:spPr>
          <a:xfrm>
            <a:off x="11206068" y="274320"/>
            <a:ext cx="327259" cy="365760"/>
          </a:xfrm>
          <a:prstGeom prst="rect">
            <a:avLst/>
          </a:prstGeom>
        </p:spPr>
      </p:pic>
      <p:sp>
        <p:nvSpPr>
          <p:cNvPr id="3" name="TextBox 2"/>
          <p:cNvSpPr txBox="1"/>
          <p:nvPr/>
        </p:nvSpPr>
        <p:spPr>
          <a:xfrm>
            <a:off x="658368" y="402336"/>
            <a:ext cx="10874959" cy="219456"/>
          </a:xfrm>
          <a:prstGeom prst="rect">
            <a:avLst/>
          </a:prstGeom>
          <a:noFill/>
        </p:spPr>
        <p:txBody>
          <a:bodyPr wrap="square" lIns="0" rIns="0" tIns="0" bIns="0" anchor="t">
            <a:spAutoFit/>
          </a:bodyPr>
          <a:lstStyle/>
          <a:p>
            <a:pPr algn="l"/>
            <a:r>
              <a:rPr sz="1050" b="1">
                <a:solidFill>
                  <a:srgbClr val="AF3327"/>
                </a:solidFill>
                <a:latin typeface="Consolas"/>
              </a:rPr>
              <a:t>STAGE 2  ·  MANAGED CLOUD</a:t>
            </a:r>
          </a:p>
        </p:txBody>
      </p:sp>
      <p:sp>
        <p:nvSpPr>
          <p:cNvPr id="4" name="TextBox 3"/>
          <p:cNvSpPr txBox="1"/>
          <p:nvPr/>
        </p:nvSpPr>
        <p:spPr>
          <a:xfrm>
            <a:off x="658368" y="676656"/>
            <a:ext cx="10874959" cy="566928"/>
          </a:xfrm>
          <a:prstGeom prst="rect">
            <a:avLst/>
          </a:prstGeom>
          <a:noFill/>
        </p:spPr>
        <p:txBody>
          <a:bodyPr wrap="square" lIns="0" rIns="0" tIns="0" bIns="0" anchor="t">
            <a:spAutoFit/>
          </a:bodyPr>
          <a:lstStyle/>
          <a:p>
            <a:pPr algn="l">
              <a:lnSpc>
                <a:spcPct val="102000"/>
              </a:lnSpc>
            </a:pPr>
            <a:r>
              <a:rPr sz="2600" b="0">
                <a:solidFill>
                  <a:srgbClr val="10131A"/>
                </a:solidFill>
                <a:latin typeface="Georgia"/>
              </a:rPr>
              <a:t>Hand the parts we must not get wrong to somebody else</a:t>
            </a:r>
          </a:p>
        </p:txBody>
      </p:sp>
      <p:sp>
        <p:nvSpPr>
          <p:cNvPr id="5" name="TextBox 4"/>
          <p:cNvSpPr txBox="1"/>
          <p:nvPr/>
        </p:nvSpPr>
        <p:spPr>
          <a:xfrm>
            <a:off x="658368" y="1280160"/>
            <a:ext cx="9787463" cy="384048"/>
          </a:xfrm>
          <a:prstGeom prst="rect">
            <a:avLst/>
          </a:prstGeom>
          <a:noFill/>
        </p:spPr>
        <p:txBody>
          <a:bodyPr wrap="square" lIns="0" rIns="0" tIns="0" bIns="0" anchor="t">
            <a:spAutoFit/>
          </a:bodyPr>
          <a:lstStyle/>
          <a:p>
            <a:pPr algn="l">
              <a:lnSpc>
                <a:spcPct val="124000"/>
              </a:lnSpc>
            </a:pPr>
            <a:r>
              <a:rPr sz="1250" b="0">
                <a:solidFill>
                  <a:srgbClr val="5C6675"/>
                </a:solidFill>
                <a:latin typeface="Calibri"/>
              </a:rPr>
              <a:t>The application becomes containers and the database becomes managed. Nothing about the data moves — the storage buckets stay exactly where they were.</a:t>
            </a:r>
          </a:p>
        </p:txBody>
      </p:sp>
      <p:sp>
        <p:nvSpPr>
          <p:cNvPr id="6" name="Rectangle 5"/>
          <p:cNvSpPr/>
          <p:nvPr/>
        </p:nvSpPr>
        <p:spPr>
          <a:xfrm>
            <a:off x="658368" y="1719072"/>
            <a:ext cx="822960" cy="32004"/>
          </a:xfrm>
          <a:prstGeom prst="rect">
            <a:avLst/>
          </a:prstGeom>
          <a:solidFill>
            <a:srgbClr val="FF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920239"/>
            <a:ext cx="6583680" cy="3913632"/>
          </a:xfrm>
          <a:prstGeom prst="rect">
            <a:avLst/>
          </a:prstGeom>
          <a:solidFill>
            <a:srgbClr val="FFFFFF"/>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920239"/>
            <a:ext cx="6583680" cy="438912"/>
          </a:xfrm>
          <a:prstGeom prst="rect">
            <a:avLst/>
          </a:prstGeom>
          <a:solidFill>
            <a:srgbClr val="223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7" y="2029967"/>
            <a:ext cx="6181344" cy="237744"/>
          </a:xfrm>
          <a:prstGeom prst="rect">
            <a:avLst/>
          </a:prstGeom>
          <a:noFill/>
        </p:spPr>
        <p:txBody>
          <a:bodyPr wrap="square" lIns="0" rIns="0" tIns="0" bIns="0" anchor="t">
            <a:spAutoFit/>
          </a:bodyPr>
          <a:lstStyle/>
          <a:p>
            <a:pPr algn="l"/>
            <a:r>
              <a:rPr sz="1000" b="1">
                <a:solidFill>
                  <a:srgbClr val="FFFFFF"/>
                </a:solidFill>
                <a:latin typeface="Consolas"/>
              </a:rPr>
              <a:t>STAGE 2  ·  WHAT RUNS</a:t>
            </a:r>
          </a:p>
        </p:txBody>
      </p:sp>
      <p:graphicFrame>
        <p:nvGraphicFramePr>
          <p:cNvPr id="10" name="Table 9"/>
          <p:cNvGraphicFramePr>
            <a:graphicFrameLocks noGrp="1"/>
          </p:cNvGraphicFramePr>
          <p:nvPr/>
        </p:nvGraphicFramePr>
        <p:xfrm>
          <a:off x="822959" y="2487168"/>
          <a:ext cx="6254496" cy="2098541"/>
        </p:xfrm>
        <a:graphic>
          <a:graphicData uri="http://schemas.openxmlformats.org/drawingml/2006/table">
            <a:tbl>
              <a:tblPr>
                <a:tableStyleId>{5C22544A-7EE6-4342-B048-85BDC9FD1C3A}</a:tableStyleId>
              </a:tblPr>
              <a:tblGrid>
                <a:gridCol w="2788920"/>
                <a:gridCol w="3465576"/>
              </a:tblGrid>
              <a:tr h="274320">
                <a:tc>
                  <a:txBody>
                    <a:bodyPr wrap="square"/>
                    <a:lstStyle/>
                    <a:p>
                      <a:pPr algn="l"/>
                      <a:r>
                        <a:rPr sz="900" b="1">
                          <a:solidFill>
                            <a:srgbClr val="FFFFFF"/>
                          </a:solidFill>
                          <a:latin typeface="Calibri"/>
                        </a:rPr>
                        <a:t>What changes</a:t>
                      </a:r>
                    </a:p>
                  </a:txBody>
                  <a:tcPr marL="82296" marR="82296" marT="18288" marB="18288" anchor="ctr">
                    <a:solidFill>
                      <a:srgbClr val="22304A"/>
                    </a:solidFill>
                  </a:tcPr>
                </a:tc>
                <a:tc>
                  <a:txBody>
                    <a:bodyPr wrap="square"/>
                    <a:lstStyle/>
                    <a:p>
                      <a:pPr algn="l"/>
                      <a:r>
                        <a:rPr sz="900" b="1">
                          <a:solidFill>
                            <a:srgbClr val="FFFFFF"/>
                          </a:solidFill>
                          <a:latin typeface="Calibri"/>
                        </a:rPr>
                        <a:t>What it becomes</a:t>
                      </a:r>
                    </a:p>
                  </a:txBody>
                  <a:tcPr marL="82296" marR="82296" marT="18288" marB="18288" anchor="ctr">
                    <a:solidFill>
                      <a:srgbClr val="22304A"/>
                    </a:solidFill>
                  </a:tcPr>
                </a:tc>
              </a:tr>
              <a:tr h="260603">
                <a:tc>
                  <a:txBody>
                    <a:bodyPr wrap="square"/>
                    <a:lstStyle/>
                    <a:p>
                      <a:pPr algn="l"/>
                      <a:r>
                        <a:rPr sz="1000" b="0">
                          <a:solidFill>
                            <a:srgbClr val="10131A"/>
                          </a:solidFill>
                          <a:latin typeface="Calibri"/>
                        </a:rPr>
                        <a:t>API and admin web</a:t>
                      </a:r>
                    </a:p>
                  </a:txBody>
                  <a:tcPr marL="82296" marR="82296" marT="18288" marB="18288" anchor="ctr">
                    <a:solidFill>
                      <a:srgbClr val="FFFFFF"/>
                    </a:solidFill>
                  </a:tcPr>
                </a:tc>
                <a:tc>
                  <a:txBody>
                    <a:bodyPr wrap="square"/>
                    <a:lstStyle/>
                    <a:p>
                      <a:pPr algn="l"/>
                      <a:r>
                        <a:rPr sz="1000" b="0">
                          <a:solidFill>
                            <a:srgbClr val="10131A"/>
                          </a:solidFill>
                          <a:latin typeface="Calibri"/>
                        </a:rPr>
                        <a:t>containers that scale with demand</a:t>
                      </a:r>
                    </a:p>
                  </a:txBody>
                  <a:tcPr marL="82296" marR="82296" marT="18288" marB="18288" anchor="ctr">
                    <a:solidFill>
                      <a:srgbClr val="FFFFFF"/>
                    </a:solidFill>
                  </a:tcPr>
                </a:tc>
              </a:tr>
              <a:tr h="260603">
                <a:tc>
                  <a:txBody>
                    <a:bodyPr wrap="square"/>
                    <a:lstStyle/>
                    <a:p>
                      <a:pPr algn="l"/>
                      <a:r>
                        <a:rPr sz="1000" b="0">
                          <a:solidFill>
                            <a:srgbClr val="10131A"/>
                          </a:solidFill>
                          <a:latin typeface="Calibri"/>
                        </a:rPr>
                        <a:t>Delivery workers</a:t>
                      </a:r>
                    </a:p>
                  </a:txBody>
                  <a:tcPr marL="82296" marR="82296" marT="18288" marB="18288" anchor="ctr">
                    <a:solidFill>
                      <a:srgbClr val="EDF0F5"/>
                    </a:solidFill>
                  </a:tcPr>
                </a:tc>
                <a:tc>
                  <a:txBody>
                    <a:bodyPr wrap="square"/>
                    <a:lstStyle/>
                    <a:p>
                      <a:pPr algn="l"/>
                      <a:r>
                        <a:rPr sz="1000" b="0">
                          <a:solidFill>
                            <a:srgbClr val="10131A"/>
                          </a:solidFill>
                          <a:latin typeface="Calibri"/>
                        </a:rPr>
                        <a:t>their own service, deployed separately</a:t>
                      </a:r>
                    </a:p>
                  </a:txBody>
                  <a:tcPr marL="82296" marR="82296" marT="18288" marB="18288" anchor="ctr">
                    <a:solidFill>
                      <a:srgbClr val="EDF0F5"/>
                    </a:solidFill>
                  </a:tcPr>
                </a:tc>
              </a:tr>
              <a:tr h="260603">
                <a:tc>
                  <a:txBody>
                    <a:bodyPr wrap="square"/>
                    <a:lstStyle/>
                    <a:p>
                      <a:pPr algn="l"/>
                      <a:r>
                        <a:rPr sz="1000" b="0">
                          <a:solidFill>
                            <a:srgbClr val="10131A"/>
                          </a:solidFill>
                          <a:latin typeface="Calibri"/>
                        </a:rPr>
                        <a:t>Database</a:t>
                      </a:r>
                    </a:p>
                  </a:txBody>
                  <a:tcPr marL="82296" marR="82296" marT="18288" marB="18288" anchor="ctr">
                    <a:solidFill>
                      <a:srgbClr val="FFFFFF"/>
                    </a:solidFill>
                  </a:tcPr>
                </a:tc>
                <a:tc>
                  <a:txBody>
                    <a:bodyPr wrap="square"/>
                    <a:lstStyle/>
                    <a:p>
                      <a:pPr algn="l"/>
                      <a:r>
                        <a:rPr sz="1000" b="0">
                          <a:solidFill>
                            <a:srgbClr val="10131A"/>
                          </a:solidFill>
                          <a:latin typeface="Calibri"/>
                        </a:rPr>
                        <a:t>managed, with continuous backup</a:t>
                      </a:r>
                    </a:p>
                  </a:txBody>
                  <a:tcPr marL="82296" marR="82296" marT="18288" marB="18288" anchor="ctr">
                    <a:solidFill>
                      <a:srgbClr val="FFFFFF"/>
                    </a:solidFill>
                  </a:tcPr>
                </a:tc>
              </a:tr>
              <a:tr h="260603">
                <a:tc>
                  <a:txBody>
                    <a:bodyPr wrap="square"/>
                    <a:lstStyle/>
                    <a:p>
                      <a:pPr algn="l"/>
                      <a:r>
                        <a:rPr sz="1000" b="0">
                          <a:solidFill>
                            <a:srgbClr val="10131A"/>
                          </a:solidFill>
                          <a:latin typeface="Calibri"/>
                        </a:rPr>
                        <a:t>Recovery</a:t>
                      </a:r>
                    </a:p>
                  </a:txBody>
                  <a:tcPr marL="82296" marR="82296" marT="18288" marB="18288" anchor="ctr">
                    <a:solidFill>
                      <a:srgbClr val="EDF0F5"/>
                    </a:solidFill>
                  </a:tcPr>
                </a:tc>
                <a:tc>
                  <a:txBody>
                    <a:bodyPr wrap="square"/>
                    <a:lstStyle/>
                    <a:p>
                      <a:pPr algn="l"/>
                      <a:r>
                        <a:rPr sz="1000" b="0">
                          <a:solidFill>
                            <a:srgbClr val="10131A"/>
                          </a:solidFill>
                          <a:latin typeface="Calibri"/>
                        </a:rPr>
                        <a:t>restore to any point in time</a:t>
                      </a:r>
                    </a:p>
                  </a:txBody>
                  <a:tcPr marL="82296" marR="82296" marT="18288" marB="18288" anchor="ctr">
                    <a:solidFill>
                      <a:srgbClr val="EDF0F5"/>
                    </a:solidFill>
                  </a:tcPr>
                </a:tc>
              </a:tr>
              <a:tr h="260603">
                <a:tc>
                  <a:txBody>
                    <a:bodyPr wrap="square"/>
                    <a:lstStyle/>
                    <a:p>
                      <a:pPr algn="l"/>
                      <a:r>
                        <a:rPr sz="1000" b="0">
                          <a:solidFill>
                            <a:srgbClr val="10131A"/>
                          </a:solidFill>
                          <a:latin typeface="Calibri"/>
                        </a:rPr>
                        <a:t>Releases</a:t>
                      </a:r>
                    </a:p>
                  </a:txBody>
                  <a:tcPr marL="82296" marR="82296" marT="18288" marB="18288" anchor="ctr">
                    <a:solidFill>
                      <a:srgbClr val="FFFFFF"/>
                    </a:solidFill>
                  </a:tcPr>
                </a:tc>
                <a:tc>
                  <a:txBody>
                    <a:bodyPr wrap="square"/>
                    <a:lstStyle/>
                    <a:p>
                      <a:pPr algn="l"/>
                      <a:r>
                        <a:rPr sz="1000" b="0">
                          <a:solidFill>
                            <a:srgbClr val="10131A"/>
                          </a:solidFill>
                          <a:latin typeface="Calibri"/>
                        </a:rPr>
                        <a:t>blue-green, rollback in seconds</a:t>
                      </a:r>
                    </a:p>
                  </a:txBody>
                  <a:tcPr marL="82296" marR="82296" marT="18288" marB="18288" anchor="ctr">
                    <a:solidFill>
                      <a:srgbClr val="FFFFFF"/>
                    </a:solidFill>
                  </a:tcPr>
                </a:tc>
              </a:tr>
              <a:tr h="260603">
                <a:tc>
                  <a:txBody>
                    <a:bodyPr wrap="square"/>
                    <a:lstStyle/>
                    <a:p>
                      <a:pPr algn="l"/>
                      <a:r>
                        <a:rPr sz="1000" b="0">
                          <a:solidFill>
                            <a:srgbClr val="10131A"/>
                          </a:solidFill>
                          <a:latin typeface="Calibri"/>
                        </a:rPr>
                        <a:t>Video processing</a:t>
                      </a:r>
                    </a:p>
                  </a:txBody>
                  <a:tcPr marL="82296" marR="82296" marT="18288" marB="18288" anchor="ctr">
                    <a:solidFill>
                      <a:srgbClr val="EDF0F5"/>
                    </a:solidFill>
                  </a:tcPr>
                </a:tc>
                <a:tc>
                  <a:txBody>
                    <a:bodyPr wrap="square"/>
                    <a:lstStyle/>
                    <a:p>
                      <a:pPr algn="l"/>
                      <a:r>
                        <a:rPr sz="1000" b="0">
                          <a:solidFill>
                            <a:srgbClr val="10131A"/>
                          </a:solidFill>
                          <a:latin typeface="Calibri"/>
                        </a:rPr>
                        <a:t>interruptible capacity, retried on loss</a:t>
                      </a:r>
                    </a:p>
                  </a:txBody>
                  <a:tcPr marL="82296" marR="82296" marT="18288" marB="18288" anchor="ctr">
                    <a:solidFill>
                      <a:srgbClr val="EDF0F5"/>
                    </a:solidFill>
                  </a:tcPr>
                </a:tc>
              </a:tr>
              <a:tr h="260603">
                <a:tc>
                  <a:txBody>
                    <a:bodyPr wrap="square"/>
                    <a:lstStyle/>
                    <a:p>
                      <a:pPr algn="l"/>
                      <a:r>
                        <a:rPr sz="1000" b="0">
                          <a:solidFill>
                            <a:srgbClr val="10131A"/>
                          </a:solidFill>
                          <a:latin typeface="Calibri"/>
                        </a:rPr>
                        <a:t>Media storage</a:t>
                      </a:r>
                    </a:p>
                  </a:txBody>
                  <a:tcPr marL="82296" marR="82296" marT="18288" marB="18288" anchor="ctr">
                    <a:solidFill>
                      <a:srgbClr val="FFFFFF"/>
                    </a:solidFill>
                  </a:tcPr>
                </a:tc>
                <a:tc>
                  <a:txBody>
                    <a:bodyPr wrap="square"/>
                    <a:lstStyle/>
                    <a:p>
                      <a:pPr algn="l"/>
                      <a:r>
                        <a:rPr sz="1000" b="0">
                          <a:solidFill>
                            <a:srgbClr val="10131A"/>
                          </a:solidFill>
                          <a:latin typeface="Calibri"/>
                        </a:rPr>
                        <a:t>unchanged — the same two buckets</a:t>
                      </a:r>
                    </a:p>
                  </a:txBody>
                  <a:tcPr marL="82296" marR="82296" marT="18288" marB="18288" anchor="ctr">
                    <a:solidFill>
                      <a:srgbClr val="FFFFFF"/>
                    </a:solidFill>
                  </a:tcPr>
                </a:tc>
              </a:tr>
            </a:tbl>
          </a:graphicData>
        </a:graphic>
      </p:graphicFrame>
      <p:sp>
        <p:nvSpPr>
          <p:cNvPr id="11" name="Rectangle 10"/>
          <p:cNvSpPr/>
          <p:nvPr/>
        </p:nvSpPr>
        <p:spPr>
          <a:xfrm>
            <a:off x="7424927" y="1920239"/>
            <a:ext cx="4108399" cy="932688"/>
          </a:xfrm>
          <a:prstGeom prst="rect">
            <a:avLst/>
          </a:prstGeom>
          <a:solidFill>
            <a:srgbClr val="FFFFFF"/>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7807" y="2066543"/>
            <a:ext cx="3742639" cy="201168"/>
          </a:xfrm>
          <a:prstGeom prst="rect">
            <a:avLst/>
          </a:prstGeom>
          <a:noFill/>
        </p:spPr>
        <p:txBody>
          <a:bodyPr wrap="square" lIns="0" rIns="0" tIns="0" bIns="0" anchor="t">
            <a:spAutoFit/>
          </a:bodyPr>
          <a:lstStyle/>
          <a:p>
            <a:pPr algn="l"/>
            <a:r>
              <a:rPr sz="900" b="1">
                <a:solidFill>
                  <a:srgbClr val="5C6675"/>
                </a:solidFill>
                <a:latin typeface="Consolas"/>
              </a:rPr>
              <a:t>CAPACITY AT THIS STAGE</a:t>
            </a:r>
          </a:p>
        </p:txBody>
      </p:sp>
      <p:sp>
        <p:nvSpPr>
          <p:cNvPr id="13" name="TextBox 12"/>
          <p:cNvSpPr txBox="1"/>
          <p:nvPr/>
        </p:nvSpPr>
        <p:spPr>
          <a:xfrm>
            <a:off x="7607807" y="2322575"/>
            <a:ext cx="3742639" cy="420624"/>
          </a:xfrm>
          <a:prstGeom prst="rect">
            <a:avLst/>
          </a:prstGeom>
          <a:noFill/>
        </p:spPr>
        <p:txBody>
          <a:bodyPr wrap="square" lIns="0" rIns="0" tIns="0" bIns="0" anchor="t">
            <a:spAutoFit/>
          </a:bodyPr>
          <a:lstStyle/>
          <a:p>
            <a:pPr algn="l">
              <a:lnSpc>
                <a:spcPct val="110000"/>
              </a:lnSpc>
            </a:pPr>
            <a:r>
              <a:rPr sz="1700" b="0">
                <a:solidFill>
                  <a:srgbClr val="10131A"/>
                </a:solidFill>
                <a:latin typeface="Georgia"/>
              </a:rPr>
              <a:t>10,000 users  ·  14 TB</a:t>
            </a:r>
          </a:p>
        </p:txBody>
      </p:sp>
      <p:sp>
        <p:nvSpPr>
          <p:cNvPr id="14" name="Rectangle 13"/>
          <p:cNvSpPr/>
          <p:nvPr/>
        </p:nvSpPr>
        <p:spPr>
          <a:xfrm>
            <a:off x="7424927" y="2971799"/>
            <a:ext cx="4108399" cy="932688"/>
          </a:xfrm>
          <a:prstGeom prst="rect">
            <a:avLst/>
          </a:prstGeom>
          <a:solidFill>
            <a:srgbClr val="FFFFFF"/>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07807" y="3118103"/>
            <a:ext cx="3742639" cy="201168"/>
          </a:xfrm>
          <a:prstGeom prst="rect">
            <a:avLst/>
          </a:prstGeom>
          <a:noFill/>
        </p:spPr>
        <p:txBody>
          <a:bodyPr wrap="square" lIns="0" rIns="0" tIns="0" bIns="0" anchor="t">
            <a:spAutoFit/>
          </a:bodyPr>
          <a:lstStyle/>
          <a:p>
            <a:pPr algn="l"/>
            <a:r>
              <a:rPr sz="900" b="1">
                <a:solidFill>
                  <a:srgbClr val="5C6675"/>
                </a:solidFill>
                <a:latin typeface="Consolas"/>
              </a:rPr>
              <a:t>IF SOMETHING FAILS</a:t>
            </a:r>
          </a:p>
        </p:txBody>
      </p:sp>
      <p:sp>
        <p:nvSpPr>
          <p:cNvPr id="16" name="TextBox 15"/>
          <p:cNvSpPr txBox="1"/>
          <p:nvPr/>
        </p:nvSpPr>
        <p:spPr>
          <a:xfrm>
            <a:off x="7607807" y="3374135"/>
            <a:ext cx="3742639" cy="420624"/>
          </a:xfrm>
          <a:prstGeom prst="rect">
            <a:avLst/>
          </a:prstGeom>
          <a:noFill/>
        </p:spPr>
        <p:txBody>
          <a:bodyPr wrap="square" lIns="0" rIns="0" tIns="0" bIns="0" anchor="t">
            <a:spAutoFit/>
          </a:bodyPr>
          <a:lstStyle/>
          <a:p>
            <a:pPr algn="l">
              <a:lnSpc>
                <a:spcPct val="110000"/>
              </a:lnSpc>
            </a:pPr>
            <a:r>
              <a:rPr sz="1700" b="0">
                <a:solidFill>
                  <a:srgbClr val="10131A"/>
                </a:solidFill>
                <a:latin typeface="Georgia"/>
              </a:rPr>
              <a:t>Automatic instance recovery.</a:t>
            </a:r>
          </a:p>
        </p:txBody>
      </p:sp>
      <p:sp>
        <p:nvSpPr>
          <p:cNvPr id="17" name="Rectangle 16"/>
          <p:cNvSpPr/>
          <p:nvPr/>
        </p:nvSpPr>
        <p:spPr>
          <a:xfrm>
            <a:off x="7424927" y="4023359"/>
            <a:ext cx="4108399" cy="1810512"/>
          </a:xfrm>
          <a:prstGeom prst="rect">
            <a:avLst/>
          </a:prstGeom>
          <a:solidFill>
            <a:srgbClr val="FFFFFF"/>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424927" y="4023359"/>
            <a:ext cx="41148" cy="1810512"/>
          </a:xfrm>
          <a:prstGeom prst="rect">
            <a:avLst/>
          </a:prstGeom>
          <a:solidFill>
            <a:srgbClr val="FF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26096" y="4151375"/>
            <a:ext cx="3706063" cy="219456"/>
          </a:xfrm>
          <a:prstGeom prst="rect">
            <a:avLst/>
          </a:prstGeom>
          <a:noFill/>
        </p:spPr>
        <p:txBody>
          <a:bodyPr wrap="square" lIns="0" rIns="0" tIns="0" bIns="0" anchor="t">
            <a:spAutoFit/>
          </a:bodyPr>
          <a:lstStyle/>
          <a:p>
            <a:pPr algn="l"/>
            <a:r>
              <a:rPr sz="950" b="1">
                <a:solidFill>
                  <a:srgbClr val="AF3327"/>
                </a:solidFill>
                <a:latin typeface="Consolas"/>
              </a:rPr>
              <a:t>WHAT MOVES US TO STAGE 3</a:t>
            </a:r>
          </a:p>
        </p:txBody>
      </p:sp>
      <p:sp>
        <p:nvSpPr>
          <p:cNvPr id="20" name="TextBox 19"/>
          <p:cNvSpPr txBox="1"/>
          <p:nvPr/>
        </p:nvSpPr>
        <p:spPr>
          <a:xfrm>
            <a:off x="7626096" y="4407407"/>
            <a:ext cx="3706063" cy="1298448"/>
          </a:xfrm>
          <a:prstGeom prst="rect">
            <a:avLst/>
          </a:prstGeom>
          <a:noFill/>
        </p:spPr>
        <p:txBody>
          <a:bodyPr wrap="square" lIns="0" rIns="0" tIns="0" bIns="0" anchor="t">
            <a:spAutoFit/>
          </a:bodyPr>
          <a:lstStyle/>
          <a:p>
            <a:pPr algn="l">
              <a:lnSpc>
                <a:spcPct val="128000"/>
              </a:lnSpc>
            </a:pPr>
            <a:r>
              <a:rPr sz="1150" b="0">
                <a:solidFill>
                  <a:srgbClr val="38414F"/>
                </a:solidFill>
                <a:latin typeface="Calibri"/>
              </a:rPr>
              <a:t>Everything now lives in a single datacentre. Managed backups protect the data, but an outage in that one facility is still an outage for every customer. The next move buys independence from any single building.</a:t>
            </a:r>
          </a:p>
        </p:txBody>
      </p:sp>
      <p:sp>
        <p:nvSpPr>
          <p:cNvPr id="21" name="TextBox 20"/>
          <p:cNvSpPr txBox="1"/>
          <p:nvPr/>
        </p:nvSpPr>
        <p:spPr>
          <a:xfrm>
            <a:off x="658368" y="6419088"/>
            <a:ext cx="8699967" cy="201168"/>
          </a:xfrm>
          <a:prstGeom prst="rect">
            <a:avLst/>
          </a:prstGeom>
          <a:noFill/>
        </p:spPr>
        <p:txBody>
          <a:bodyPr wrap="square" lIns="0" rIns="0" tIns="0" bIns="0" anchor="t">
            <a:spAutoFit/>
          </a:bodyPr>
          <a:lstStyle/>
          <a:p>
            <a:pPr algn="l"/>
            <a:r>
              <a:rPr sz="950" b="0">
                <a:solidFill>
                  <a:srgbClr val="5C6675"/>
                </a:solidFill>
                <a:latin typeface="Consolas"/>
              </a:rPr>
              <a:t>Stage 2 · managed cloud</a:t>
            </a:r>
          </a:p>
        </p:txBody>
      </p:sp>
      <p:sp>
        <p:nvSpPr>
          <p:cNvPr id="22" name="TextBox 21"/>
          <p:cNvSpPr txBox="1"/>
          <p:nvPr/>
        </p:nvSpPr>
        <p:spPr>
          <a:xfrm>
            <a:off x="10618927" y="6419088"/>
            <a:ext cx="914400" cy="201168"/>
          </a:xfrm>
          <a:prstGeom prst="rect">
            <a:avLst/>
          </a:prstGeom>
          <a:noFill/>
        </p:spPr>
        <p:txBody>
          <a:bodyPr wrap="square" lIns="0" rIns="0" tIns="0" bIns="0" anchor="t">
            <a:spAutoFit/>
          </a:bodyPr>
          <a:lstStyle/>
          <a:p>
            <a:pPr algn="r"/>
            <a:r>
              <a:rPr sz="950" b="0">
                <a:solidFill>
                  <a:srgbClr val="5C6675"/>
                </a:solidFill>
                <a:latin typeface="Consolas"/>
              </a:rPr>
              <a:t>06 / 16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pic>
        <p:nvPicPr>
          <p:cNvPr id="2" name="Picture 1" descr="NFCLogo.png"/>
          <p:cNvPicPr>
            <a:picLocks noChangeAspect="1"/>
          </p:cNvPicPr>
          <p:nvPr/>
        </p:nvPicPr>
        <p:blipFill>
          <a:blip r:embed="rId2"/>
          <a:stretch>
            <a:fillRect/>
          </a:stretch>
        </p:blipFill>
        <p:spPr>
          <a:xfrm>
            <a:off x="11206068" y="274320"/>
            <a:ext cx="327259" cy="365760"/>
          </a:xfrm>
          <a:prstGeom prst="rect">
            <a:avLst/>
          </a:prstGeom>
        </p:spPr>
      </p:pic>
      <p:sp>
        <p:nvSpPr>
          <p:cNvPr id="3" name="TextBox 2"/>
          <p:cNvSpPr txBox="1"/>
          <p:nvPr/>
        </p:nvSpPr>
        <p:spPr>
          <a:xfrm>
            <a:off x="658368" y="402336"/>
            <a:ext cx="10874959" cy="219456"/>
          </a:xfrm>
          <a:prstGeom prst="rect">
            <a:avLst/>
          </a:prstGeom>
          <a:noFill/>
        </p:spPr>
        <p:txBody>
          <a:bodyPr wrap="square" lIns="0" rIns="0" tIns="0" bIns="0" anchor="t">
            <a:spAutoFit/>
          </a:bodyPr>
          <a:lstStyle/>
          <a:p>
            <a:pPr algn="l"/>
            <a:r>
              <a:rPr sz="1050" b="1">
                <a:solidFill>
                  <a:srgbClr val="AF3327"/>
                </a:solidFill>
                <a:latin typeface="Consolas"/>
              </a:rPr>
              <a:t>STAGE 3  ·  HIGH AVAILABILITY</a:t>
            </a:r>
          </a:p>
        </p:txBody>
      </p:sp>
      <p:sp>
        <p:nvSpPr>
          <p:cNvPr id="4" name="TextBox 3"/>
          <p:cNvSpPr txBox="1"/>
          <p:nvPr/>
        </p:nvSpPr>
        <p:spPr>
          <a:xfrm>
            <a:off x="658368" y="676656"/>
            <a:ext cx="10874959" cy="566928"/>
          </a:xfrm>
          <a:prstGeom prst="rect">
            <a:avLst/>
          </a:prstGeom>
          <a:noFill/>
        </p:spPr>
        <p:txBody>
          <a:bodyPr wrap="square" lIns="0" rIns="0" tIns="0" bIns="0" anchor="t">
            <a:spAutoFit/>
          </a:bodyPr>
          <a:lstStyle/>
          <a:p>
            <a:pPr algn="l">
              <a:lnSpc>
                <a:spcPct val="102000"/>
              </a:lnSpc>
            </a:pPr>
            <a:r>
              <a:rPr sz="2600" b="0">
                <a:solidFill>
                  <a:srgbClr val="10131A"/>
                </a:solidFill>
                <a:latin typeface="Georgia"/>
              </a:rPr>
              <a:t>Survive the loss of a datacentre</a:t>
            </a:r>
          </a:p>
        </p:txBody>
      </p:sp>
      <p:sp>
        <p:nvSpPr>
          <p:cNvPr id="5" name="TextBox 4"/>
          <p:cNvSpPr txBox="1"/>
          <p:nvPr/>
        </p:nvSpPr>
        <p:spPr>
          <a:xfrm>
            <a:off x="658368" y="1280160"/>
            <a:ext cx="9787463" cy="384048"/>
          </a:xfrm>
          <a:prstGeom prst="rect">
            <a:avLst/>
          </a:prstGeom>
          <a:noFill/>
        </p:spPr>
        <p:txBody>
          <a:bodyPr wrap="square" lIns="0" rIns="0" tIns="0" bIns="0" anchor="t">
            <a:spAutoFit/>
          </a:bodyPr>
          <a:lstStyle/>
          <a:p>
            <a:pPr algn="l">
              <a:lnSpc>
                <a:spcPct val="124000"/>
              </a:lnSpc>
            </a:pPr>
            <a:r>
              <a:rPr sz="1250" b="0">
                <a:solidFill>
                  <a:srgbClr val="5C6675"/>
                </a:solidFill>
                <a:latin typeface="Calibri"/>
              </a:rPr>
              <a:t>The same region, but no longer a single building. This is also where reporting and search move off the live database so that customer traffic never competes with analysis.</a:t>
            </a:r>
          </a:p>
        </p:txBody>
      </p:sp>
      <p:sp>
        <p:nvSpPr>
          <p:cNvPr id="6" name="Rectangle 5"/>
          <p:cNvSpPr/>
          <p:nvPr/>
        </p:nvSpPr>
        <p:spPr>
          <a:xfrm>
            <a:off x="658368" y="1719072"/>
            <a:ext cx="822960" cy="32004"/>
          </a:xfrm>
          <a:prstGeom prst="rect">
            <a:avLst/>
          </a:prstGeom>
          <a:solidFill>
            <a:srgbClr val="FF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920239"/>
            <a:ext cx="6583680" cy="3913632"/>
          </a:xfrm>
          <a:prstGeom prst="rect">
            <a:avLst/>
          </a:prstGeom>
          <a:solidFill>
            <a:srgbClr val="FFFFFF"/>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920239"/>
            <a:ext cx="6583680" cy="438912"/>
          </a:xfrm>
          <a:prstGeom prst="rect">
            <a:avLst/>
          </a:prstGeom>
          <a:solidFill>
            <a:srgbClr val="223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7" y="2029967"/>
            <a:ext cx="6181344" cy="237744"/>
          </a:xfrm>
          <a:prstGeom prst="rect">
            <a:avLst/>
          </a:prstGeom>
          <a:noFill/>
        </p:spPr>
        <p:txBody>
          <a:bodyPr wrap="square" lIns="0" rIns="0" tIns="0" bIns="0" anchor="t">
            <a:spAutoFit/>
          </a:bodyPr>
          <a:lstStyle/>
          <a:p>
            <a:pPr algn="l"/>
            <a:r>
              <a:rPr sz="1000" b="1">
                <a:solidFill>
                  <a:srgbClr val="FFFFFF"/>
                </a:solidFill>
                <a:latin typeface="Consolas"/>
              </a:rPr>
              <a:t>STAGE 3  ·  WHAT RUNS</a:t>
            </a:r>
          </a:p>
        </p:txBody>
      </p:sp>
      <p:graphicFrame>
        <p:nvGraphicFramePr>
          <p:cNvPr id="10" name="Table 9"/>
          <p:cNvGraphicFramePr>
            <a:graphicFrameLocks noGrp="1"/>
          </p:cNvGraphicFramePr>
          <p:nvPr/>
        </p:nvGraphicFramePr>
        <p:xfrm>
          <a:off x="822959" y="2487168"/>
          <a:ext cx="6254496" cy="2098541"/>
        </p:xfrm>
        <a:graphic>
          <a:graphicData uri="http://schemas.openxmlformats.org/drawingml/2006/table">
            <a:tbl>
              <a:tblPr>
                <a:tableStyleId>{5C22544A-7EE6-4342-B048-85BDC9FD1C3A}</a:tableStyleId>
              </a:tblPr>
              <a:tblGrid>
                <a:gridCol w="3072384"/>
                <a:gridCol w="3182112"/>
              </a:tblGrid>
              <a:tr h="274320">
                <a:tc>
                  <a:txBody>
                    <a:bodyPr wrap="square"/>
                    <a:lstStyle/>
                    <a:p>
                      <a:pPr algn="l"/>
                      <a:r>
                        <a:rPr sz="900" b="1">
                          <a:solidFill>
                            <a:srgbClr val="FFFFFF"/>
                          </a:solidFill>
                          <a:latin typeface="Calibri"/>
                        </a:rPr>
                        <a:t>What we add</a:t>
                      </a:r>
                    </a:p>
                  </a:txBody>
                  <a:tcPr marL="82296" marR="82296" marT="18288" marB="18288" anchor="ctr">
                    <a:solidFill>
                      <a:srgbClr val="22304A"/>
                    </a:solidFill>
                  </a:tcPr>
                </a:tc>
                <a:tc>
                  <a:txBody>
                    <a:bodyPr wrap="square"/>
                    <a:lstStyle/>
                    <a:p>
                      <a:pPr algn="l"/>
                      <a:r>
                        <a:rPr sz="900" b="1">
                          <a:solidFill>
                            <a:srgbClr val="FFFFFF"/>
                          </a:solidFill>
                          <a:latin typeface="Calibri"/>
                        </a:rPr>
                        <a:t>Why</a:t>
                      </a:r>
                    </a:p>
                  </a:txBody>
                  <a:tcPr marL="82296" marR="82296" marT="18288" marB="18288" anchor="ctr">
                    <a:solidFill>
                      <a:srgbClr val="22304A"/>
                    </a:solidFill>
                  </a:tcPr>
                </a:tc>
              </a:tr>
              <a:tr h="260603">
                <a:tc>
                  <a:txBody>
                    <a:bodyPr wrap="square"/>
                    <a:lstStyle/>
                    <a:p>
                      <a:pPr algn="l"/>
                      <a:r>
                        <a:rPr sz="1000" b="0">
                          <a:solidFill>
                            <a:srgbClr val="10131A"/>
                          </a:solidFill>
                          <a:latin typeface="Calibri"/>
                        </a:rPr>
                        <a:t>Containers across three zones</a:t>
                      </a:r>
                    </a:p>
                  </a:txBody>
                  <a:tcPr marL="82296" marR="82296" marT="18288" marB="18288" anchor="ctr">
                    <a:solidFill>
                      <a:srgbClr val="FFFFFF"/>
                    </a:solidFill>
                  </a:tcPr>
                </a:tc>
                <a:tc>
                  <a:txBody>
                    <a:bodyPr wrap="square"/>
                    <a:lstStyle/>
                    <a:p>
                      <a:pPr algn="l"/>
                      <a:r>
                        <a:rPr sz="1000" b="0">
                          <a:solidFill>
                            <a:srgbClr val="10131A"/>
                          </a:solidFill>
                          <a:latin typeface="Calibri"/>
                        </a:rPr>
                        <a:t>a whole datacentre can fail</a:t>
                      </a:r>
                    </a:p>
                  </a:txBody>
                  <a:tcPr marL="82296" marR="82296" marT="18288" marB="18288" anchor="ctr">
                    <a:solidFill>
                      <a:srgbClr val="FFFFFF"/>
                    </a:solidFill>
                  </a:tcPr>
                </a:tc>
              </a:tr>
              <a:tr h="260603">
                <a:tc>
                  <a:txBody>
                    <a:bodyPr wrap="square"/>
                    <a:lstStyle/>
                    <a:p>
                      <a:pPr algn="l"/>
                      <a:r>
                        <a:rPr sz="1000" b="0">
                          <a:solidFill>
                            <a:srgbClr val="10131A"/>
                          </a:solidFill>
                          <a:latin typeface="Calibri"/>
                        </a:rPr>
                        <a:t>A database read replica</a:t>
                      </a:r>
                    </a:p>
                  </a:txBody>
                  <a:tcPr marL="82296" marR="82296" marT="18288" marB="18288" anchor="ctr">
                    <a:solidFill>
                      <a:srgbClr val="EDF0F5"/>
                    </a:solidFill>
                  </a:tcPr>
                </a:tc>
                <a:tc>
                  <a:txBody>
                    <a:bodyPr wrap="square"/>
                    <a:lstStyle/>
                    <a:p>
                      <a:pPr algn="l"/>
                      <a:r>
                        <a:rPr sz="1000" b="0">
                          <a:solidFill>
                            <a:srgbClr val="10131A"/>
                          </a:solidFill>
                          <a:latin typeface="Calibri"/>
                        </a:rPr>
                        <a:t>reads outgrow a single node</a:t>
                      </a:r>
                    </a:p>
                  </a:txBody>
                  <a:tcPr marL="82296" marR="82296" marT="18288" marB="18288" anchor="ctr">
                    <a:solidFill>
                      <a:srgbClr val="EDF0F5"/>
                    </a:solidFill>
                  </a:tcPr>
                </a:tc>
              </a:tr>
              <a:tr h="260603">
                <a:tc>
                  <a:txBody>
                    <a:bodyPr wrap="square"/>
                    <a:lstStyle/>
                    <a:p>
                      <a:pPr algn="l"/>
                      <a:r>
                        <a:rPr sz="1000" b="0">
                          <a:solidFill>
                            <a:srgbClr val="10131A"/>
                          </a:solidFill>
                          <a:latin typeface="Calibri"/>
                        </a:rPr>
                        <a:t>More database capacity</a:t>
                      </a:r>
                    </a:p>
                  </a:txBody>
                  <a:tcPr marL="82296" marR="82296" marT="18288" marB="18288" anchor="ctr">
                    <a:solidFill>
                      <a:srgbClr val="FFFFFF"/>
                    </a:solidFill>
                  </a:tcPr>
                </a:tc>
                <a:tc>
                  <a:txBody>
                    <a:bodyPr wrap="square"/>
                    <a:lstStyle/>
                    <a:p>
                      <a:pPr algn="l"/>
                      <a:r>
                        <a:rPr sz="1000" b="0">
                          <a:solidFill>
                            <a:srgbClr val="10131A"/>
                          </a:solidFill>
                          <a:latin typeface="Calibri"/>
                        </a:rPr>
                        <a:t>more people writing at once</a:t>
                      </a:r>
                    </a:p>
                  </a:txBody>
                  <a:tcPr marL="82296" marR="82296" marT="18288" marB="18288" anchor="ctr">
                    <a:solidFill>
                      <a:srgbClr val="FFFFFF"/>
                    </a:solidFill>
                  </a:tcPr>
                </a:tc>
              </a:tr>
              <a:tr h="260603">
                <a:tc>
                  <a:txBody>
                    <a:bodyPr wrap="square"/>
                    <a:lstStyle/>
                    <a:p>
                      <a:pPr algn="l"/>
                      <a:r>
                        <a:rPr sz="1000" b="0">
                          <a:solidFill>
                            <a:srgbClr val="10131A"/>
                          </a:solidFill>
                          <a:latin typeface="Calibri"/>
                        </a:rPr>
                        <a:t>Private networking</a:t>
                      </a:r>
                    </a:p>
                  </a:txBody>
                  <a:tcPr marL="82296" marR="82296" marT="18288" marB="18288" anchor="ctr">
                    <a:solidFill>
                      <a:srgbClr val="EDF0F5"/>
                    </a:solidFill>
                  </a:tcPr>
                </a:tc>
                <a:tc>
                  <a:txBody>
                    <a:bodyPr wrap="square"/>
                    <a:lstStyle/>
                    <a:p>
                      <a:pPr algn="l"/>
                      <a:r>
                        <a:rPr sz="1000" b="0">
                          <a:solidFill>
                            <a:srgbClr val="10131A"/>
                          </a:solidFill>
                          <a:latin typeface="Calibri"/>
                        </a:rPr>
                        <a:t>nothing public except the edge</a:t>
                      </a:r>
                    </a:p>
                  </a:txBody>
                  <a:tcPr marL="82296" marR="82296" marT="18288" marB="18288" anchor="ctr">
                    <a:solidFill>
                      <a:srgbClr val="EDF0F5"/>
                    </a:solidFill>
                  </a:tcPr>
                </a:tc>
              </a:tr>
              <a:tr h="260603">
                <a:tc>
                  <a:txBody>
                    <a:bodyPr wrap="square"/>
                    <a:lstStyle/>
                    <a:p>
                      <a:pPr algn="l"/>
                      <a:r>
                        <a:rPr sz="1000" b="0">
                          <a:solidFill>
                            <a:srgbClr val="10131A"/>
                          </a:solidFill>
                          <a:latin typeface="Calibri"/>
                        </a:rPr>
                        <a:t>Search moved off the database</a:t>
                      </a:r>
                    </a:p>
                  </a:txBody>
                  <a:tcPr marL="82296" marR="82296" marT="18288" marB="18288" anchor="ctr">
                    <a:solidFill>
                      <a:srgbClr val="FFFFFF"/>
                    </a:solidFill>
                  </a:tcPr>
                </a:tc>
                <a:tc>
                  <a:txBody>
                    <a:bodyPr wrap="square"/>
                    <a:lstStyle/>
                    <a:p>
                      <a:pPr algn="l"/>
                      <a:r>
                        <a:rPr sz="1000" b="0">
                          <a:solidFill>
                            <a:srgbClr val="10131A"/>
                          </a:solidFill>
                          <a:latin typeface="Calibri"/>
                        </a:rPr>
                        <a:t>text search competes with customers</a:t>
                      </a:r>
                    </a:p>
                  </a:txBody>
                  <a:tcPr marL="82296" marR="82296" marT="18288" marB="18288" anchor="ctr">
                    <a:solidFill>
                      <a:srgbClr val="FFFFFF"/>
                    </a:solidFill>
                  </a:tcPr>
                </a:tc>
              </a:tr>
              <a:tr h="260603">
                <a:tc>
                  <a:txBody>
                    <a:bodyPr wrap="square"/>
                    <a:lstStyle/>
                    <a:p>
                      <a:pPr algn="l"/>
                      <a:r>
                        <a:rPr sz="1000" b="0">
                          <a:solidFill>
                            <a:srgbClr val="10131A"/>
                          </a:solidFill>
                          <a:latin typeface="Calibri"/>
                        </a:rPr>
                        <a:t>Reporting moved off the database</a:t>
                      </a:r>
                    </a:p>
                  </a:txBody>
                  <a:tcPr marL="82296" marR="82296" marT="18288" marB="18288" anchor="ctr">
                    <a:solidFill>
                      <a:srgbClr val="EDF0F5"/>
                    </a:solidFill>
                  </a:tcPr>
                </a:tc>
                <a:tc>
                  <a:txBody>
                    <a:bodyPr wrap="square"/>
                    <a:lstStyle/>
                    <a:p>
                      <a:pPr algn="l"/>
                      <a:r>
                        <a:rPr sz="1000" b="0">
                          <a:solidFill>
                            <a:srgbClr val="10131A"/>
                          </a:solidFill>
                          <a:latin typeface="Calibri"/>
                        </a:rPr>
                        <a:t>admin queries slow live traffic</a:t>
                      </a:r>
                    </a:p>
                  </a:txBody>
                  <a:tcPr marL="82296" marR="82296" marT="18288" marB="18288" anchor="ctr">
                    <a:solidFill>
                      <a:srgbClr val="EDF0F5"/>
                    </a:solidFill>
                  </a:tcPr>
                </a:tc>
              </a:tr>
              <a:tr h="260603">
                <a:tc>
                  <a:txBody>
                    <a:bodyPr wrap="square"/>
                    <a:lstStyle/>
                    <a:p>
                      <a:pPr algn="l"/>
                      <a:r>
                        <a:rPr sz="1000" b="0">
                          <a:solidFill>
                            <a:srgbClr val="10131A"/>
                          </a:solidFill>
                          <a:latin typeface="Calibri"/>
                        </a:rPr>
                        <a:t>Wider video-processing pool</a:t>
                      </a:r>
                    </a:p>
                  </a:txBody>
                  <a:tcPr marL="82296" marR="82296" marT="18288" marB="18288" anchor="ctr">
                    <a:solidFill>
                      <a:srgbClr val="FFFFFF"/>
                    </a:solidFill>
                  </a:tcPr>
                </a:tc>
                <a:tc>
                  <a:txBody>
                    <a:bodyPr wrap="square"/>
                    <a:lstStyle/>
                    <a:p>
                      <a:pPr algn="l"/>
                      <a:r>
                        <a:rPr sz="1000" b="0">
                          <a:solidFill>
                            <a:srgbClr val="10131A"/>
                          </a:solidFill>
                          <a:latin typeface="Calibri"/>
                        </a:rPr>
                        <a:t>upload peaks in the evening</a:t>
                      </a:r>
                    </a:p>
                  </a:txBody>
                  <a:tcPr marL="82296" marR="82296" marT="18288" marB="18288" anchor="ctr">
                    <a:solidFill>
                      <a:srgbClr val="FFFFFF"/>
                    </a:solidFill>
                  </a:tcPr>
                </a:tc>
              </a:tr>
            </a:tbl>
          </a:graphicData>
        </a:graphic>
      </p:graphicFrame>
      <p:sp>
        <p:nvSpPr>
          <p:cNvPr id="11" name="Rectangle 10"/>
          <p:cNvSpPr/>
          <p:nvPr/>
        </p:nvSpPr>
        <p:spPr>
          <a:xfrm>
            <a:off x="7424927" y="1920239"/>
            <a:ext cx="4108399" cy="932688"/>
          </a:xfrm>
          <a:prstGeom prst="rect">
            <a:avLst/>
          </a:prstGeom>
          <a:solidFill>
            <a:srgbClr val="FFFFFF"/>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7807" y="2066543"/>
            <a:ext cx="3742639" cy="201168"/>
          </a:xfrm>
          <a:prstGeom prst="rect">
            <a:avLst/>
          </a:prstGeom>
          <a:noFill/>
        </p:spPr>
        <p:txBody>
          <a:bodyPr wrap="square" lIns="0" rIns="0" tIns="0" bIns="0" anchor="t">
            <a:spAutoFit/>
          </a:bodyPr>
          <a:lstStyle/>
          <a:p>
            <a:pPr algn="l"/>
            <a:r>
              <a:rPr sz="900" b="1">
                <a:solidFill>
                  <a:srgbClr val="5C6675"/>
                </a:solidFill>
                <a:latin typeface="Consolas"/>
              </a:rPr>
              <a:t>CAPACITY AT THIS STAGE</a:t>
            </a:r>
          </a:p>
        </p:txBody>
      </p:sp>
      <p:sp>
        <p:nvSpPr>
          <p:cNvPr id="13" name="TextBox 12"/>
          <p:cNvSpPr txBox="1"/>
          <p:nvPr/>
        </p:nvSpPr>
        <p:spPr>
          <a:xfrm>
            <a:off x="7607807" y="2322575"/>
            <a:ext cx="3742639" cy="420624"/>
          </a:xfrm>
          <a:prstGeom prst="rect">
            <a:avLst/>
          </a:prstGeom>
          <a:noFill/>
        </p:spPr>
        <p:txBody>
          <a:bodyPr wrap="square" lIns="0" rIns="0" tIns="0" bIns="0" anchor="t">
            <a:spAutoFit/>
          </a:bodyPr>
          <a:lstStyle/>
          <a:p>
            <a:pPr algn="l">
              <a:lnSpc>
                <a:spcPct val="110000"/>
              </a:lnSpc>
            </a:pPr>
            <a:r>
              <a:rPr sz="1700" b="0">
                <a:solidFill>
                  <a:srgbClr val="10131A"/>
                </a:solidFill>
                <a:latin typeface="Georgia"/>
              </a:rPr>
              <a:t>100,000 users  ·  270 TB</a:t>
            </a:r>
          </a:p>
        </p:txBody>
      </p:sp>
      <p:sp>
        <p:nvSpPr>
          <p:cNvPr id="14" name="Rectangle 13"/>
          <p:cNvSpPr/>
          <p:nvPr/>
        </p:nvSpPr>
        <p:spPr>
          <a:xfrm>
            <a:off x="7424927" y="2971799"/>
            <a:ext cx="4108399" cy="932688"/>
          </a:xfrm>
          <a:prstGeom prst="rect">
            <a:avLst/>
          </a:prstGeom>
          <a:solidFill>
            <a:srgbClr val="E6F2F0"/>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07807" y="3118103"/>
            <a:ext cx="3742639" cy="201168"/>
          </a:xfrm>
          <a:prstGeom prst="rect">
            <a:avLst/>
          </a:prstGeom>
          <a:noFill/>
        </p:spPr>
        <p:txBody>
          <a:bodyPr wrap="square" lIns="0" rIns="0" tIns="0" bIns="0" anchor="t">
            <a:spAutoFit/>
          </a:bodyPr>
          <a:lstStyle/>
          <a:p>
            <a:pPr algn="l"/>
            <a:r>
              <a:rPr sz="900" b="1">
                <a:solidFill>
                  <a:srgbClr val="5C6675"/>
                </a:solidFill>
                <a:latin typeface="Consolas"/>
              </a:rPr>
              <a:t>IF SOMETHING FAILS</a:t>
            </a:r>
          </a:p>
        </p:txBody>
      </p:sp>
      <p:sp>
        <p:nvSpPr>
          <p:cNvPr id="16" name="TextBox 15"/>
          <p:cNvSpPr txBox="1"/>
          <p:nvPr/>
        </p:nvSpPr>
        <p:spPr>
          <a:xfrm>
            <a:off x="7607807" y="3374135"/>
            <a:ext cx="3742639" cy="420624"/>
          </a:xfrm>
          <a:prstGeom prst="rect">
            <a:avLst/>
          </a:prstGeom>
          <a:noFill/>
        </p:spPr>
        <p:txBody>
          <a:bodyPr wrap="square" lIns="0" rIns="0" tIns="0" bIns="0" anchor="t">
            <a:spAutoFit/>
          </a:bodyPr>
          <a:lstStyle/>
          <a:p>
            <a:pPr algn="l">
              <a:lnSpc>
                <a:spcPct val="110000"/>
              </a:lnSpc>
            </a:pPr>
            <a:r>
              <a:rPr sz="1700" b="0">
                <a:solidFill>
                  <a:srgbClr val="0E6A60"/>
                </a:solidFill>
                <a:latin typeface="Georgia"/>
              </a:rPr>
              <a:t>Survives a datacentre failure.</a:t>
            </a:r>
          </a:p>
        </p:txBody>
      </p:sp>
      <p:sp>
        <p:nvSpPr>
          <p:cNvPr id="17" name="Rectangle 16"/>
          <p:cNvSpPr/>
          <p:nvPr/>
        </p:nvSpPr>
        <p:spPr>
          <a:xfrm>
            <a:off x="7424927" y="4023359"/>
            <a:ext cx="4108399" cy="1810512"/>
          </a:xfrm>
          <a:prstGeom prst="rect">
            <a:avLst/>
          </a:prstGeom>
          <a:solidFill>
            <a:srgbClr val="FFFFFF"/>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424927" y="4023359"/>
            <a:ext cx="41148" cy="1810512"/>
          </a:xfrm>
          <a:prstGeom prst="rect">
            <a:avLst/>
          </a:prstGeom>
          <a:solidFill>
            <a:srgbClr val="FF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26096" y="4151375"/>
            <a:ext cx="3706063" cy="219456"/>
          </a:xfrm>
          <a:prstGeom prst="rect">
            <a:avLst/>
          </a:prstGeom>
          <a:noFill/>
        </p:spPr>
        <p:txBody>
          <a:bodyPr wrap="square" lIns="0" rIns="0" tIns="0" bIns="0" anchor="t">
            <a:spAutoFit/>
          </a:bodyPr>
          <a:lstStyle/>
          <a:p>
            <a:pPr algn="l"/>
            <a:r>
              <a:rPr sz="950" b="1">
                <a:solidFill>
                  <a:srgbClr val="AF3327"/>
                </a:solidFill>
                <a:latin typeface="Consolas"/>
              </a:rPr>
              <a:t>WHAT MOVES US TO STAGE 4</a:t>
            </a:r>
          </a:p>
        </p:txBody>
      </p:sp>
      <p:sp>
        <p:nvSpPr>
          <p:cNvPr id="20" name="TextBox 19"/>
          <p:cNvSpPr txBox="1"/>
          <p:nvPr/>
        </p:nvSpPr>
        <p:spPr>
          <a:xfrm>
            <a:off x="7626096" y="4407407"/>
            <a:ext cx="3706063" cy="1298448"/>
          </a:xfrm>
          <a:prstGeom prst="rect">
            <a:avLst/>
          </a:prstGeom>
          <a:noFill/>
        </p:spPr>
        <p:txBody>
          <a:bodyPr wrap="square" lIns="0" rIns="0" tIns="0" bIns="0" anchor="t">
            <a:spAutoFit/>
          </a:bodyPr>
          <a:lstStyle/>
          <a:p>
            <a:pPr algn="l">
              <a:lnSpc>
                <a:spcPct val="128000"/>
              </a:lnSpc>
            </a:pPr>
            <a:r>
              <a:rPr sz="1150" b="0">
                <a:solidFill>
                  <a:srgbClr val="38414F"/>
                </a:solidFill>
                <a:latin typeface="Calibri"/>
              </a:rPr>
              <a:t>The platform is now genuinely durable, but it lives on one continent. A customer in the Americas waits two to three hundred milliseconds every time they save something. Reading is already fast everywhere; writing is not.</a:t>
            </a:r>
          </a:p>
        </p:txBody>
      </p:sp>
      <p:sp>
        <p:nvSpPr>
          <p:cNvPr id="21" name="TextBox 20"/>
          <p:cNvSpPr txBox="1"/>
          <p:nvPr/>
        </p:nvSpPr>
        <p:spPr>
          <a:xfrm>
            <a:off x="658368" y="6419088"/>
            <a:ext cx="8699967" cy="201168"/>
          </a:xfrm>
          <a:prstGeom prst="rect">
            <a:avLst/>
          </a:prstGeom>
          <a:noFill/>
        </p:spPr>
        <p:txBody>
          <a:bodyPr wrap="square" lIns="0" rIns="0" tIns="0" bIns="0" anchor="t">
            <a:spAutoFit/>
          </a:bodyPr>
          <a:lstStyle/>
          <a:p>
            <a:pPr algn="l"/>
            <a:r>
              <a:rPr sz="950" b="0">
                <a:solidFill>
                  <a:srgbClr val="5C6675"/>
                </a:solidFill>
                <a:latin typeface="Consolas"/>
              </a:rPr>
              <a:t>Stage 3 · high availability</a:t>
            </a:r>
          </a:p>
        </p:txBody>
      </p:sp>
      <p:sp>
        <p:nvSpPr>
          <p:cNvPr id="22" name="TextBox 21"/>
          <p:cNvSpPr txBox="1"/>
          <p:nvPr/>
        </p:nvSpPr>
        <p:spPr>
          <a:xfrm>
            <a:off x="10618927" y="6419088"/>
            <a:ext cx="914400" cy="201168"/>
          </a:xfrm>
          <a:prstGeom prst="rect">
            <a:avLst/>
          </a:prstGeom>
          <a:noFill/>
        </p:spPr>
        <p:txBody>
          <a:bodyPr wrap="square" lIns="0" rIns="0" tIns="0" bIns="0" anchor="t">
            <a:spAutoFit/>
          </a:bodyPr>
          <a:lstStyle/>
          <a:p>
            <a:pPr algn="r"/>
            <a:r>
              <a:rPr sz="950" b="0">
                <a:solidFill>
                  <a:srgbClr val="5C6675"/>
                </a:solidFill>
                <a:latin typeface="Consolas"/>
              </a:rPr>
              <a:t>07 / 16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pic>
        <p:nvPicPr>
          <p:cNvPr id="2" name="Picture 1" descr="NFCLogo.png"/>
          <p:cNvPicPr>
            <a:picLocks noChangeAspect="1"/>
          </p:cNvPicPr>
          <p:nvPr/>
        </p:nvPicPr>
        <p:blipFill>
          <a:blip r:embed="rId2"/>
          <a:stretch>
            <a:fillRect/>
          </a:stretch>
        </p:blipFill>
        <p:spPr>
          <a:xfrm>
            <a:off x="11206068" y="274320"/>
            <a:ext cx="327259" cy="365760"/>
          </a:xfrm>
          <a:prstGeom prst="rect">
            <a:avLst/>
          </a:prstGeom>
        </p:spPr>
      </p:pic>
      <p:sp>
        <p:nvSpPr>
          <p:cNvPr id="3" name="TextBox 2"/>
          <p:cNvSpPr txBox="1"/>
          <p:nvPr/>
        </p:nvSpPr>
        <p:spPr>
          <a:xfrm>
            <a:off x="658368" y="402336"/>
            <a:ext cx="10874959" cy="219456"/>
          </a:xfrm>
          <a:prstGeom prst="rect">
            <a:avLst/>
          </a:prstGeom>
          <a:noFill/>
        </p:spPr>
        <p:txBody>
          <a:bodyPr wrap="square" lIns="0" rIns="0" tIns="0" bIns="0" anchor="t">
            <a:spAutoFit/>
          </a:bodyPr>
          <a:lstStyle/>
          <a:p>
            <a:pPr algn="l"/>
            <a:r>
              <a:rPr sz="1050" b="1">
                <a:solidFill>
                  <a:srgbClr val="AF3327"/>
                </a:solidFill>
                <a:latin typeface="Consolas"/>
              </a:rPr>
              <a:t>STAGE 4  ·  TWO REGIONS</a:t>
            </a:r>
          </a:p>
        </p:txBody>
      </p:sp>
      <p:sp>
        <p:nvSpPr>
          <p:cNvPr id="4" name="TextBox 3"/>
          <p:cNvSpPr txBox="1"/>
          <p:nvPr/>
        </p:nvSpPr>
        <p:spPr>
          <a:xfrm>
            <a:off x="658368" y="676656"/>
            <a:ext cx="10874959" cy="566928"/>
          </a:xfrm>
          <a:prstGeom prst="rect">
            <a:avLst/>
          </a:prstGeom>
          <a:noFill/>
        </p:spPr>
        <p:txBody>
          <a:bodyPr wrap="square" lIns="0" rIns="0" tIns="0" bIns="0" anchor="t">
            <a:spAutoFit/>
          </a:bodyPr>
          <a:lstStyle/>
          <a:p>
            <a:pPr algn="l">
              <a:lnSpc>
                <a:spcPct val="102000"/>
              </a:lnSpc>
            </a:pPr>
            <a:r>
              <a:rPr sz="2600" b="0">
                <a:solidFill>
                  <a:srgbClr val="10131A"/>
                </a:solidFill>
                <a:latin typeface="Georgia"/>
              </a:rPr>
              <a:t>Put the application next to the customer</a:t>
            </a:r>
          </a:p>
        </p:txBody>
      </p:sp>
      <p:sp>
        <p:nvSpPr>
          <p:cNvPr id="5" name="TextBox 4"/>
          <p:cNvSpPr txBox="1"/>
          <p:nvPr/>
        </p:nvSpPr>
        <p:spPr>
          <a:xfrm>
            <a:off x="658368" y="1280160"/>
            <a:ext cx="9787463" cy="384048"/>
          </a:xfrm>
          <a:prstGeom prst="rect">
            <a:avLst/>
          </a:prstGeom>
          <a:noFill/>
        </p:spPr>
        <p:txBody>
          <a:bodyPr wrap="square" lIns="0" rIns="0" tIns="0" bIns="0" anchor="t">
            <a:spAutoFit/>
          </a:bodyPr>
          <a:lstStyle/>
          <a:p>
            <a:pPr algn="l">
              <a:lnSpc>
                <a:spcPct val="124000"/>
              </a:lnSpc>
            </a:pPr>
            <a:r>
              <a:rPr sz="1250" b="0">
                <a:solidFill>
                  <a:srgbClr val="5C6675"/>
                </a:solidFill>
                <a:latin typeface="Calibri"/>
              </a:rPr>
              <a:t>A second region on another continent. Reads happen close to the customer; writing stays in one place, on purpose.</a:t>
            </a:r>
          </a:p>
        </p:txBody>
      </p:sp>
      <p:sp>
        <p:nvSpPr>
          <p:cNvPr id="6" name="Rectangle 5"/>
          <p:cNvSpPr/>
          <p:nvPr/>
        </p:nvSpPr>
        <p:spPr>
          <a:xfrm>
            <a:off x="658368" y="1719072"/>
            <a:ext cx="822960" cy="32004"/>
          </a:xfrm>
          <a:prstGeom prst="rect">
            <a:avLst/>
          </a:prstGeom>
          <a:solidFill>
            <a:srgbClr val="FF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920239"/>
            <a:ext cx="6583680" cy="3913632"/>
          </a:xfrm>
          <a:prstGeom prst="rect">
            <a:avLst/>
          </a:prstGeom>
          <a:solidFill>
            <a:srgbClr val="FFFFFF"/>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920239"/>
            <a:ext cx="6583680" cy="438912"/>
          </a:xfrm>
          <a:prstGeom prst="rect">
            <a:avLst/>
          </a:prstGeom>
          <a:solidFill>
            <a:srgbClr val="223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7" y="2029967"/>
            <a:ext cx="6181344" cy="237744"/>
          </a:xfrm>
          <a:prstGeom prst="rect">
            <a:avLst/>
          </a:prstGeom>
          <a:noFill/>
        </p:spPr>
        <p:txBody>
          <a:bodyPr wrap="square" lIns="0" rIns="0" tIns="0" bIns="0" anchor="t">
            <a:spAutoFit/>
          </a:bodyPr>
          <a:lstStyle/>
          <a:p>
            <a:pPr algn="l"/>
            <a:r>
              <a:rPr sz="1000" b="1">
                <a:solidFill>
                  <a:srgbClr val="FFFFFF"/>
                </a:solidFill>
                <a:latin typeface="Consolas"/>
              </a:rPr>
              <a:t>STAGE 4  ·  WHAT RUNS</a:t>
            </a:r>
          </a:p>
        </p:txBody>
      </p:sp>
      <p:graphicFrame>
        <p:nvGraphicFramePr>
          <p:cNvPr id="10" name="Table 9"/>
          <p:cNvGraphicFramePr>
            <a:graphicFrameLocks noGrp="1"/>
          </p:cNvGraphicFramePr>
          <p:nvPr/>
        </p:nvGraphicFramePr>
        <p:xfrm>
          <a:off x="822959" y="2487168"/>
          <a:ext cx="6254496" cy="2098541"/>
        </p:xfrm>
        <a:graphic>
          <a:graphicData uri="http://schemas.openxmlformats.org/drawingml/2006/table">
            <a:tbl>
              <a:tblPr>
                <a:tableStyleId>{5C22544A-7EE6-4342-B048-85BDC9FD1C3A}</a:tableStyleId>
              </a:tblPr>
              <a:tblGrid>
                <a:gridCol w="3072384"/>
                <a:gridCol w="3182112"/>
              </a:tblGrid>
              <a:tr h="274320">
                <a:tc>
                  <a:txBody>
                    <a:bodyPr wrap="square"/>
                    <a:lstStyle/>
                    <a:p>
                      <a:pPr algn="l"/>
                      <a:r>
                        <a:rPr sz="900" b="1">
                          <a:solidFill>
                            <a:srgbClr val="FFFFFF"/>
                          </a:solidFill>
                          <a:latin typeface="Calibri"/>
                        </a:rPr>
                        <a:t>What we add</a:t>
                      </a:r>
                    </a:p>
                  </a:txBody>
                  <a:tcPr marL="82296" marR="82296" marT="18288" marB="18288" anchor="ctr">
                    <a:solidFill>
                      <a:srgbClr val="22304A"/>
                    </a:solidFill>
                  </a:tcPr>
                </a:tc>
                <a:tc>
                  <a:txBody>
                    <a:bodyPr wrap="square"/>
                    <a:lstStyle/>
                    <a:p>
                      <a:pPr algn="l"/>
                      <a:r>
                        <a:rPr sz="900" b="1">
                          <a:solidFill>
                            <a:srgbClr val="FFFFFF"/>
                          </a:solidFill>
                          <a:latin typeface="Calibri"/>
                        </a:rPr>
                        <a:t>Why</a:t>
                      </a:r>
                    </a:p>
                  </a:txBody>
                  <a:tcPr marL="82296" marR="82296" marT="18288" marB="18288" anchor="ctr">
                    <a:solidFill>
                      <a:srgbClr val="22304A"/>
                    </a:solidFill>
                  </a:tcPr>
                </a:tc>
              </a:tr>
              <a:tr h="260603">
                <a:tc>
                  <a:txBody>
                    <a:bodyPr wrap="square"/>
                    <a:lstStyle/>
                    <a:p>
                      <a:pPr algn="l"/>
                      <a:r>
                        <a:rPr sz="1000" b="0">
                          <a:solidFill>
                            <a:srgbClr val="10131A"/>
                          </a:solidFill>
                          <a:latin typeface="Calibri"/>
                        </a:rPr>
                        <a:t>A second region</a:t>
                      </a:r>
                    </a:p>
                  </a:txBody>
                  <a:tcPr marL="82296" marR="82296" marT="18288" marB="18288" anchor="ctr">
                    <a:solidFill>
                      <a:srgbClr val="FFFFFF"/>
                    </a:solidFill>
                  </a:tcPr>
                </a:tc>
                <a:tc>
                  <a:txBody>
                    <a:bodyPr wrap="square"/>
                    <a:lstStyle/>
                    <a:p>
                      <a:pPr algn="l"/>
                      <a:r>
                        <a:rPr sz="1000" b="0">
                          <a:solidFill>
                            <a:srgbClr val="10131A"/>
                          </a:solidFill>
                          <a:latin typeface="Calibri"/>
                        </a:rPr>
                        <a:t>300 ms writes become 40 ms</a:t>
                      </a:r>
                    </a:p>
                  </a:txBody>
                  <a:tcPr marL="82296" marR="82296" marT="18288" marB="18288" anchor="ctr">
                    <a:solidFill>
                      <a:srgbClr val="FFFFFF"/>
                    </a:solidFill>
                  </a:tcPr>
                </a:tc>
              </a:tr>
              <a:tr h="260603">
                <a:tc>
                  <a:txBody>
                    <a:bodyPr wrap="square"/>
                    <a:lstStyle/>
                    <a:p>
                      <a:pPr algn="l"/>
                      <a:r>
                        <a:rPr sz="1000" b="0">
                          <a:solidFill>
                            <a:srgbClr val="10131A"/>
                          </a:solidFill>
                          <a:latin typeface="Calibri"/>
                        </a:rPr>
                        <a:t>A read replica in that region</a:t>
                      </a:r>
                    </a:p>
                  </a:txBody>
                  <a:tcPr marL="82296" marR="82296" marT="18288" marB="18288" anchor="ctr">
                    <a:solidFill>
                      <a:srgbClr val="EDF0F5"/>
                    </a:solidFill>
                  </a:tcPr>
                </a:tc>
                <a:tc>
                  <a:txBody>
                    <a:bodyPr wrap="square"/>
                    <a:lstStyle/>
                    <a:p>
                      <a:pPr algn="l"/>
                      <a:r>
                        <a:rPr sz="1000" b="0">
                          <a:solidFill>
                            <a:srgbClr val="10131A"/>
                          </a:solidFill>
                          <a:latin typeface="Calibri"/>
                        </a:rPr>
                        <a:t>reads answered locally</a:t>
                      </a:r>
                    </a:p>
                  </a:txBody>
                  <a:tcPr marL="82296" marR="82296" marT="18288" marB="18288" anchor="ctr">
                    <a:solidFill>
                      <a:srgbClr val="EDF0F5"/>
                    </a:solidFill>
                  </a:tcPr>
                </a:tc>
              </a:tr>
              <a:tr h="260603">
                <a:tc>
                  <a:txBody>
                    <a:bodyPr wrap="square"/>
                    <a:lstStyle/>
                    <a:p>
                      <a:pPr algn="l"/>
                      <a:r>
                        <a:rPr sz="1000" b="0">
                          <a:solidFill>
                            <a:srgbClr val="10131A"/>
                          </a:solidFill>
                          <a:latin typeface="Calibri"/>
                        </a:rPr>
                        <a:t>Geographic traffic steering</a:t>
                      </a:r>
                    </a:p>
                  </a:txBody>
                  <a:tcPr marL="82296" marR="82296" marT="18288" marB="18288" anchor="ctr">
                    <a:solidFill>
                      <a:srgbClr val="FFFFFF"/>
                    </a:solidFill>
                  </a:tcPr>
                </a:tc>
                <a:tc>
                  <a:txBody>
                    <a:bodyPr wrap="square"/>
                    <a:lstStyle/>
                    <a:p>
                      <a:pPr algn="l"/>
                      <a:r>
                        <a:rPr sz="1000" b="0">
                          <a:solidFill>
                            <a:srgbClr val="10131A"/>
                          </a:solidFill>
                          <a:latin typeface="Calibri"/>
                        </a:rPr>
                        <a:t>customers meet the nearer region</a:t>
                      </a:r>
                    </a:p>
                  </a:txBody>
                  <a:tcPr marL="82296" marR="82296" marT="18288" marB="18288" anchor="ctr">
                    <a:solidFill>
                      <a:srgbClr val="FFFFFF"/>
                    </a:solidFill>
                  </a:tcPr>
                </a:tc>
              </a:tr>
              <a:tr h="260603">
                <a:tc>
                  <a:txBody>
                    <a:bodyPr wrap="square"/>
                    <a:lstStyle/>
                    <a:p>
                      <a:pPr algn="l"/>
                      <a:r>
                        <a:rPr sz="1000" b="0">
                          <a:solidFill>
                            <a:srgbClr val="10131A"/>
                          </a:solidFill>
                          <a:latin typeface="Calibri"/>
                        </a:rPr>
                        <a:t>Regional failover</a:t>
                      </a:r>
                    </a:p>
                  </a:txBody>
                  <a:tcPr marL="82296" marR="82296" marT="18288" marB="18288" anchor="ctr">
                    <a:solidFill>
                      <a:srgbClr val="EDF0F5"/>
                    </a:solidFill>
                  </a:tcPr>
                </a:tc>
                <a:tc>
                  <a:txBody>
                    <a:bodyPr wrap="square"/>
                    <a:lstStyle/>
                    <a:p>
                      <a:pPr algn="l"/>
                      <a:r>
                        <a:rPr sz="1000" b="0">
                          <a:solidFill>
                            <a:srgbClr val="10131A"/>
                          </a:solidFill>
                          <a:latin typeface="Calibri"/>
                        </a:rPr>
                        <a:t>promote a replica if a region is lost</a:t>
                      </a:r>
                    </a:p>
                  </a:txBody>
                  <a:tcPr marL="82296" marR="82296" marT="18288" marB="18288" anchor="ctr">
                    <a:solidFill>
                      <a:srgbClr val="EDF0F5"/>
                    </a:solidFill>
                  </a:tcPr>
                </a:tc>
              </a:tr>
              <a:tr h="260603">
                <a:tc>
                  <a:txBody>
                    <a:bodyPr wrap="square"/>
                    <a:lstStyle/>
                    <a:p>
                      <a:pPr algn="l"/>
                      <a:r>
                        <a:rPr sz="1000" b="0">
                          <a:solidFill>
                            <a:srgbClr val="10131A"/>
                          </a:solidFill>
                          <a:latin typeface="Calibri"/>
                        </a:rPr>
                        <a:t>Cold storage for old originals</a:t>
                      </a:r>
                    </a:p>
                  </a:txBody>
                  <a:tcPr marL="82296" marR="82296" marT="18288" marB="18288" anchor="ctr">
                    <a:solidFill>
                      <a:srgbClr val="FFFFFF"/>
                    </a:solidFill>
                  </a:tcPr>
                </a:tc>
                <a:tc>
                  <a:txBody>
                    <a:bodyPr wrap="square"/>
                    <a:lstStyle/>
                    <a:p>
                      <a:pPr algn="l"/>
                      <a:r>
                        <a:rPr sz="1000" b="0">
                          <a:solidFill>
                            <a:srgbClr val="10131A"/>
                          </a:solidFill>
                          <a:latin typeface="Calibri"/>
                        </a:rPr>
                        <a:t>an archive that is rarely re-read</a:t>
                      </a:r>
                    </a:p>
                  </a:txBody>
                  <a:tcPr marL="82296" marR="82296" marT="18288" marB="18288" anchor="ctr">
                    <a:solidFill>
                      <a:srgbClr val="FFFFFF"/>
                    </a:solidFill>
                  </a:tcPr>
                </a:tc>
              </a:tr>
              <a:tr h="260603">
                <a:tc>
                  <a:txBody>
                    <a:bodyPr wrap="square"/>
                    <a:lstStyle/>
                    <a:p>
                      <a:pPr algn="l"/>
                      <a:r>
                        <a:rPr sz="1000" b="0">
                          <a:solidFill>
                            <a:srgbClr val="10131A"/>
                          </a:solidFill>
                          <a:latin typeface="Calibri"/>
                        </a:rPr>
                        <a:t>Writing</a:t>
                      </a:r>
                    </a:p>
                  </a:txBody>
                  <a:tcPr marL="82296" marR="82296" marT="18288" marB="18288" anchor="ctr">
                    <a:solidFill>
                      <a:srgbClr val="EDF0F5"/>
                    </a:solidFill>
                  </a:tcPr>
                </a:tc>
                <a:tc>
                  <a:txBody>
                    <a:bodyPr wrap="square"/>
                    <a:lstStyle/>
                    <a:p>
                      <a:pPr algn="l"/>
                      <a:r>
                        <a:rPr sz="1000" b="0">
                          <a:solidFill>
                            <a:srgbClr val="10131A"/>
                          </a:solidFill>
                          <a:latin typeface="Calibri"/>
                        </a:rPr>
                        <a:t>unchanged — still one writer</a:t>
                      </a:r>
                    </a:p>
                  </a:txBody>
                  <a:tcPr marL="82296" marR="82296" marT="18288" marB="18288" anchor="ctr">
                    <a:solidFill>
                      <a:srgbClr val="EDF0F5"/>
                    </a:solidFill>
                  </a:tcPr>
                </a:tc>
              </a:tr>
              <a:tr h="260603">
                <a:tc>
                  <a:txBody>
                    <a:bodyPr wrap="square"/>
                    <a:lstStyle/>
                    <a:p>
                      <a:pPr algn="l"/>
                      <a:r>
                        <a:rPr sz="1000" b="0">
                          <a:solidFill>
                            <a:srgbClr val="10131A"/>
                          </a:solidFill>
                          <a:latin typeface="Calibri"/>
                        </a:rPr>
                        <a:t>Media storage</a:t>
                      </a:r>
                    </a:p>
                  </a:txBody>
                  <a:tcPr marL="82296" marR="82296" marT="18288" marB="18288" anchor="ctr">
                    <a:solidFill>
                      <a:srgbClr val="FFFFFF"/>
                    </a:solidFill>
                  </a:tcPr>
                </a:tc>
                <a:tc>
                  <a:txBody>
                    <a:bodyPr wrap="square"/>
                    <a:lstStyle/>
                    <a:p>
                      <a:pPr algn="l"/>
                      <a:r>
                        <a:rPr sz="1000" b="0">
                          <a:solidFill>
                            <a:srgbClr val="10131A"/>
                          </a:solidFill>
                          <a:latin typeface="Calibri"/>
                        </a:rPr>
                        <a:t>unchanged — the same two buckets</a:t>
                      </a:r>
                    </a:p>
                  </a:txBody>
                  <a:tcPr marL="82296" marR="82296" marT="18288" marB="18288" anchor="ctr">
                    <a:solidFill>
                      <a:srgbClr val="FFFFFF"/>
                    </a:solidFill>
                  </a:tcPr>
                </a:tc>
              </a:tr>
            </a:tbl>
          </a:graphicData>
        </a:graphic>
      </p:graphicFrame>
      <p:sp>
        <p:nvSpPr>
          <p:cNvPr id="11" name="Rectangle 10"/>
          <p:cNvSpPr/>
          <p:nvPr/>
        </p:nvSpPr>
        <p:spPr>
          <a:xfrm>
            <a:off x="7424927" y="1920239"/>
            <a:ext cx="4108399" cy="932688"/>
          </a:xfrm>
          <a:prstGeom prst="rect">
            <a:avLst/>
          </a:prstGeom>
          <a:solidFill>
            <a:srgbClr val="FFFFFF"/>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7807" y="2066543"/>
            <a:ext cx="3742639" cy="201168"/>
          </a:xfrm>
          <a:prstGeom prst="rect">
            <a:avLst/>
          </a:prstGeom>
          <a:noFill/>
        </p:spPr>
        <p:txBody>
          <a:bodyPr wrap="square" lIns="0" rIns="0" tIns="0" bIns="0" anchor="t">
            <a:spAutoFit/>
          </a:bodyPr>
          <a:lstStyle/>
          <a:p>
            <a:pPr algn="l"/>
            <a:r>
              <a:rPr sz="900" b="1">
                <a:solidFill>
                  <a:srgbClr val="5C6675"/>
                </a:solidFill>
                <a:latin typeface="Consolas"/>
              </a:rPr>
              <a:t>CAPACITY AT THIS STAGE</a:t>
            </a:r>
          </a:p>
        </p:txBody>
      </p:sp>
      <p:sp>
        <p:nvSpPr>
          <p:cNvPr id="13" name="TextBox 12"/>
          <p:cNvSpPr txBox="1"/>
          <p:nvPr/>
        </p:nvSpPr>
        <p:spPr>
          <a:xfrm>
            <a:off x="7607807" y="2322575"/>
            <a:ext cx="3742639" cy="420624"/>
          </a:xfrm>
          <a:prstGeom prst="rect">
            <a:avLst/>
          </a:prstGeom>
          <a:noFill/>
        </p:spPr>
        <p:txBody>
          <a:bodyPr wrap="square" lIns="0" rIns="0" tIns="0" bIns="0" anchor="t">
            <a:spAutoFit/>
          </a:bodyPr>
          <a:lstStyle/>
          <a:p>
            <a:pPr algn="l">
              <a:lnSpc>
                <a:spcPct val="110000"/>
              </a:lnSpc>
            </a:pPr>
            <a:r>
              <a:rPr sz="1700" b="0">
                <a:solidFill>
                  <a:srgbClr val="10131A"/>
                </a:solidFill>
                <a:latin typeface="Georgia"/>
              </a:rPr>
              <a:t>500,000 users  ·  2.2 PB</a:t>
            </a:r>
          </a:p>
        </p:txBody>
      </p:sp>
      <p:sp>
        <p:nvSpPr>
          <p:cNvPr id="14" name="Rectangle 13"/>
          <p:cNvSpPr/>
          <p:nvPr/>
        </p:nvSpPr>
        <p:spPr>
          <a:xfrm>
            <a:off x="7424927" y="2971799"/>
            <a:ext cx="4108399" cy="932688"/>
          </a:xfrm>
          <a:prstGeom prst="rect">
            <a:avLst/>
          </a:prstGeom>
          <a:solidFill>
            <a:srgbClr val="E6F2F0"/>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07807" y="3118103"/>
            <a:ext cx="3742639" cy="201168"/>
          </a:xfrm>
          <a:prstGeom prst="rect">
            <a:avLst/>
          </a:prstGeom>
          <a:noFill/>
        </p:spPr>
        <p:txBody>
          <a:bodyPr wrap="square" lIns="0" rIns="0" tIns="0" bIns="0" anchor="t">
            <a:spAutoFit/>
          </a:bodyPr>
          <a:lstStyle/>
          <a:p>
            <a:pPr algn="l"/>
            <a:r>
              <a:rPr sz="900" b="1">
                <a:solidFill>
                  <a:srgbClr val="5C6675"/>
                </a:solidFill>
                <a:latin typeface="Consolas"/>
              </a:rPr>
              <a:t>IF SOMETHING FAILS</a:t>
            </a:r>
          </a:p>
        </p:txBody>
      </p:sp>
      <p:sp>
        <p:nvSpPr>
          <p:cNvPr id="16" name="TextBox 15"/>
          <p:cNvSpPr txBox="1"/>
          <p:nvPr/>
        </p:nvSpPr>
        <p:spPr>
          <a:xfrm>
            <a:off x="7607807" y="3374135"/>
            <a:ext cx="3742639" cy="420624"/>
          </a:xfrm>
          <a:prstGeom prst="rect">
            <a:avLst/>
          </a:prstGeom>
          <a:noFill/>
        </p:spPr>
        <p:txBody>
          <a:bodyPr wrap="square" lIns="0" rIns="0" tIns="0" bIns="0" anchor="t">
            <a:spAutoFit/>
          </a:bodyPr>
          <a:lstStyle/>
          <a:p>
            <a:pPr algn="l">
              <a:lnSpc>
                <a:spcPct val="110000"/>
              </a:lnSpc>
            </a:pPr>
            <a:r>
              <a:rPr sz="1700" b="0">
                <a:solidFill>
                  <a:srgbClr val="0E6A60"/>
                </a:solidFill>
                <a:latin typeface="Georgia"/>
              </a:rPr>
              <a:t>Survives the loss of a region.</a:t>
            </a:r>
          </a:p>
        </p:txBody>
      </p:sp>
      <p:sp>
        <p:nvSpPr>
          <p:cNvPr id="17" name="Rectangle 16"/>
          <p:cNvSpPr/>
          <p:nvPr/>
        </p:nvSpPr>
        <p:spPr>
          <a:xfrm>
            <a:off x="7424927" y="4023359"/>
            <a:ext cx="4108399" cy="1810512"/>
          </a:xfrm>
          <a:prstGeom prst="rect">
            <a:avLst/>
          </a:prstGeom>
          <a:solidFill>
            <a:srgbClr val="FFFFFF"/>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424927" y="4023359"/>
            <a:ext cx="41148" cy="1810512"/>
          </a:xfrm>
          <a:prstGeom prst="rect">
            <a:avLst/>
          </a:prstGeom>
          <a:solidFill>
            <a:srgbClr val="FF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26096" y="4151375"/>
            <a:ext cx="3706063" cy="219456"/>
          </a:xfrm>
          <a:prstGeom prst="rect">
            <a:avLst/>
          </a:prstGeom>
          <a:noFill/>
        </p:spPr>
        <p:txBody>
          <a:bodyPr wrap="square" lIns="0" rIns="0" tIns="0" bIns="0" anchor="t">
            <a:spAutoFit/>
          </a:bodyPr>
          <a:lstStyle/>
          <a:p>
            <a:pPr algn="l"/>
            <a:r>
              <a:rPr sz="950" b="1">
                <a:solidFill>
                  <a:srgbClr val="AF3327"/>
                </a:solidFill>
                <a:latin typeface="Consolas"/>
              </a:rPr>
              <a:t>WHAT MOVES US TO STAGE 5</a:t>
            </a:r>
          </a:p>
        </p:txBody>
      </p:sp>
      <p:sp>
        <p:nvSpPr>
          <p:cNvPr id="20" name="TextBox 19"/>
          <p:cNvSpPr txBox="1"/>
          <p:nvPr/>
        </p:nvSpPr>
        <p:spPr>
          <a:xfrm>
            <a:off x="7626096" y="4407407"/>
            <a:ext cx="3706063" cy="1298448"/>
          </a:xfrm>
          <a:prstGeom prst="rect">
            <a:avLst/>
          </a:prstGeom>
          <a:noFill/>
        </p:spPr>
        <p:txBody>
          <a:bodyPr wrap="square" lIns="0" rIns="0" tIns="0" bIns="0" anchor="t">
            <a:spAutoFit/>
          </a:bodyPr>
          <a:lstStyle/>
          <a:p>
            <a:pPr algn="l">
              <a:lnSpc>
                <a:spcPct val="128000"/>
              </a:lnSpc>
            </a:pPr>
            <a:r>
              <a:rPr sz="1150" b="0">
                <a:solidFill>
                  <a:srgbClr val="38414F"/>
                </a:solidFill>
                <a:latin typeface="Calibri"/>
              </a:rPr>
              <a:t>Two continents are served locally; the third is not. And European customers increasingly expect their data to be held in Europe — which is a legal question rather than a performance one, and the reason the third region is added when it is.</a:t>
            </a:r>
          </a:p>
        </p:txBody>
      </p:sp>
      <p:sp>
        <p:nvSpPr>
          <p:cNvPr id="21" name="TextBox 20"/>
          <p:cNvSpPr txBox="1"/>
          <p:nvPr/>
        </p:nvSpPr>
        <p:spPr>
          <a:xfrm>
            <a:off x="658368" y="6419088"/>
            <a:ext cx="8699967" cy="201168"/>
          </a:xfrm>
          <a:prstGeom prst="rect">
            <a:avLst/>
          </a:prstGeom>
          <a:noFill/>
        </p:spPr>
        <p:txBody>
          <a:bodyPr wrap="square" lIns="0" rIns="0" tIns="0" bIns="0" anchor="t">
            <a:spAutoFit/>
          </a:bodyPr>
          <a:lstStyle/>
          <a:p>
            <a:pPr algn="l"/>
            <a:r>
              <a:rPr sz="950" b="0">
                <a:solidFill>
                  <a:srgbClr val="5C6675"/>
                </a:solidFill>
                <a:latin typeface="Consolas"/>
              </a:rPr>
              <a:t>Stage 4 · two regions</a:t>
            </a:r>
          </a:p>
        </p:txBody>
      </p:sp>
      <p:sp>
        <p:nvSpPr>
          <p:cNvPr id="22" name="TextBox 21"/>
          <p:cNvSpPr txBox="1"/>
          <p:nvPr/>
        </p:nvSpPr>
        <p:spPr>
          <a:xfrm>
            <a:off x="10618927" y="6419088"/>
            <a:ext cx="914400" cy="201168"/>
          </a:xfrm>
          <a:prstGeom prst="rect">
            <a:avLst/>
          </a:prstGeom>
          <a:noFill/>
        </p:spPr>
        <p:txBody>
          <a:bodyPr wrap="square" lIns="0" rIns="0" tIns="0" bIns="0" anchor="t">
            <a:spAutoFit/>
          </a:bodyPr>
          <a:lstStyle/>
          <a:p>
            <a:pPr algn="r"/>
            <a:r>
              <a:rPr sz="950" b="0">
                <a:solidFill>
                  <a:srgbClr val="5C6675"/>
                </a:solidFill>
                <a:latin typeface="Consolas"/>
              </a:rPr>
              <a:t>08 / 16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pic>
        <p:nvPicPr>
          <p:cNvPr id="2" name="Picture 1" descr="NFCLogo.png"/>
          <p:cNvPicPr>
            <a:picLocks noChangeAspect="1"/>
          </p:cNvPicPr>
          <p:nvPr/>
        </p:nvPicPr>
        <p:blipFill>
          <a:blip r:embed="rId2"/>
          <a:stretch>
            <a:fillRect/>
          </a:stretch>
        </p:blipFill>
        <p:spPr>
          <a:xfrm>
            <a:off x="11206068" y="274320"/>
            <a:ext cx="327259" cy="365760"/>
          </a:xfrm>
          <a:prstGeom prst="rect">
            <a:avLst/>
          </a:prstGeom>
        </p:spPr>
      </p:pic>
      <p:sp>
        <p:nvSpPr>
          <p:cNvPr id="3" name="TextBox 2"/>
          <p:cNvSpPr txBox="1"/>
          <p:nvPr/>
        </p:nvSpPr>
        <p:spPr>
          <a:xfrm>
            <a:off x="658368" y="402336"/>
            <a:ext cx="10874959" cy="219456"/>
          </a:xfrm>
          <a:prstGeom prst="rect">
            <a:avLst/>
          </a:prstGeom>
          <a:noFill/>
        </p:spPr>
        <p:txBody>
          <a:bodyPr wrap="square" lIns="0" rIns="0" tIns="0" bIns="0" anchor="t">
            <a:spAutoFit/>
          </a:bodyPr>
          <a:lstStyle/>
          <a:p>
            <a:pPr algn="l"/>
            <a:r>
              <a:rPr sz="1050" b="1">
                <a:solidFill>
                  <a:srgbClr val="AF3327"/>
                </a:solidFill>
                <a:latin typeface="Consolas"/>
              </a:rPr>
              <a:t>STAGE 5  ·  THREE REGIONS</a:t>
            </a:r>
          </a:p>
        </p:txBody>
      </p:sp>
      <p:sp>
        <p:nvSpPr>
          <p:cNvPr id="4" name="TextBox 3"/>
          <p:cNvSpPr txBox="1"/>
          <p:nvPr/>
        </p:nvSpPr>
        <p:spPr>
          <a:xfrm>
            <a:off x="658368" y="676656"/>
            <a:ext cx="10874959" cy="566928"/>
          </a:xfrm>
          <a:prstGeom prst="rect">
            <a:avLst/>
          </a:prstGeom>
          <a:noFill/>
        </p:spPr>
        <p:txBody>
          <a:bodyPr wrap="square" lIns="0" rIns="0" tIns="0" bIns="0" anchor="t">
            <a:spAutoFit/>
          </a:bodyPr>
          <a:lstStyle/>
          <a:p>
            <a:pPr algn="l">
              <a:lnSpc>
                <a:spcPct val="102000"/>
              </a:lnSpc>
            </a:pPr>
            <a:r>
              <a:rPr sz="2600" b="0">
                <a:solidFill>
                  <a:srgbClr val="10131A"/>
                </a:solidFill>
                <a:latin typeface="Georgia"/>
              </a:rPr>
              <a:t>One million users, on three continents</a:t>
            </a:r>
          </a:p>
        </p:txBody>
      </p:sp>
      <p:sp>
        <p:nvSpPr>
          <p:cNvPr id="5" name="TextBox 4"/>
          <p:cNvSpPr txBox="1"/>
          <p:nvPr/>
        </p:nvSpPr>
        <p:spPr>
          <a:xfrm>
            <a:off x="658368" y="1280160"/>
            <a:ext cx="9787463" cy="384048"/>
          </a:xfrm>
          <a:prstGeom prst="rect">
            <a:avLst/>
          </a:prstGeom>
          <a:noFill/>
        </p:spPr>
        <p:txBody>
          <a:bodyPr wrap="square" lIns="0" rIns="0" tIns="0" bIns="0" anchor="t">
            <a:spAutoFit/>
          </a:bodyPr>
          <a:lstStyle/>
          <a:p>
            <a:pPr algn="l">
              <a:lnSpc>
                <a:spcPct val="124000"/>
              </a:lnSpc>
            </a:pPr>
            <a:r>
              <a:rPr sz="1250" b="0">
                <a:solidFill>
                  <a:srgbClr val="5C6675"/>
                </a:solidFill>
                <a:latin typeface="Calibri"/>
              </a:rPr>
              <a:t>The finished shape. Nothing new is introduced here — the platform is the same system as stage 4, with one more region and a great deal more held in it.</a:t>
            </a:r>
          </a:p>
        </p:txBody>
      </p:sp>
      <p:sp>
        <p:nvSpPr>
          <p:cNvPr id="6" name="Rectangle 5"/>
          <p:cNvSpPr/>
          <p:nvPr/>
        </p:nvSpPr>
        <p:spPr>
          <a:xfrm>
            <a:off x="658368" y="1719072"/>
            <a:ext cx="822960" cy="32004"/>
          </a:xfrm>
          <a:prstGeom prst="rect">
            <a:avLst/>
          </a:prstGeom>
          <a:solidFill>
            <a:srgbClr val="FF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920239"/>
            <a:ext cx="6583680" cy="3913632"/>
          </a:xfrm>
          <a:prstGeom prst="rect">
            <a:avLst/>
          </a:prstGeom>
          <a:solidFill>
            <a:srgbClr val="FFFFFF"/>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920239"/>
            <a:ext cx="6583680" cy="438912"/>
          </a:xfrm>
          <a:prstGeom prst="rect">
            <a:avLst/>
          </a:prstGeom>
          <a:solidFill>
            <a:srgbClr val="FF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7" y="2029967"/>
            <a:ext cx="6181344" cy="237744"/>
          </a:xfrm>
          <a:prstGeom prst="rect">
            <a:avLst/>
          </a:prstGeom>
          <a:noFill/>
        </p:spPr>
        <p:txBody>
          <a:bodyPr wrap="square" lIns="0" rIns="0" tIns="0" bIns="0" anchor="t">
            <a:spAutoFit/>
          </a:bodyPr>
          <a:lstStyle/>
          <a:p>
            <a:pPr algn="l"/>
            <a:r>
              <a:rPr sz="1000" b="1">
                <a:solidFill>
                  <a:srgbClr val="FFFFFF"/>
                </a:solidFill>
                <a:latin typeface="Consolas"/>
              </a:rPr>
              <a:t>STAGE 5  ·  WHAT RUNS</a:t>
            </a:r>
          </a:p>
        </p:txBody>
      </p:sp>
      <p:graphicFrame>
        <p:nvGraphicFramePr>
          <p:cNvPr id="10" name="Table 9"/>
          <p:cNvGraphicFramePr>
            <a:graphicFrameLocks noGrp="1"/>
          </p:cNvGraphicFramePr>
          <p:nvPr/>
        </p:nvGraphicFramePr>
        <p:xfrm>
          <a:off x="822959" y="2487168"/>
          <a:ext cx="6254496" cy="2098541"/>
        </p:xfrm>
        <a:graphic>
          <a:graphicData uri="http://schemas.openxmlformats.org/drawingml/2006/table">
            <a:tbl>
              <a:tblPr>
                <a:tableStyleId>{5C22544A-7EE6-4342-B048-85BDC9FD1C3A}</a:tableStyleId>
              </a:tblPr>
              <a:tblGrid>
                <a:gridCol w="3072384"/>
                <a:gridCol w="3182112"/>
              </a:tblGrid>
              <a:tr h="274320">
                <a:tc>
                  <a:txBody>
                    <a:bodyPr wrap="square"/>
                    <a:lstStyle/>
                    <a:p>
                      <a:pPr algn="l"/>
                      <a:r>
                        <a:rPr sz="900" b="1">
                          <a:solidFill>
                            <a:srgbClr val="FFFFFF"/>
                          </a:solidFill>
                          <a:latin typeface="Calibri"/>
                        </a:rPr>
                        <a:t>What we add</a:t>
                      </a:r>
                    </a:p>
                  </a:txBody>
                  <a:tcPr marL="82296" marR="82296" marT="18288" marB="18288" anchor="ctr">
                    <a:solidFill>
                      <a:srgbClr val="22304A"/>
                    </a:solidFill>
                  </a:tcPr>
                </a:tc>
                <a:tc>
                  <a:txBody>
                    <a:bodyPr wrap="square"/>
                    <a:lstStyle/>
                    <a:p>
                      <a:pPr algn="l"/>
                      <a:r>
                        <a:rPr sz="900" b="1">
                          <a:solidFill>
                            <a:srgbClr val="FFFFFF"/>
                          </a:solidFill>
                          <a:latin typeface="Calibri"/>
                        </a:rPr>
                        <a:t>Why</a:t>
                      </a:r>
                    </a:p>
                  </a:txBody>
                  <a:tcPr marL="82296" marR="82296" marT="18288" marB="18288" anchor="ctr">
                    <a:solidFill>
                      <a:srgbClr val="22304A"/>
                    </a:solidFill>
                  </a:tcPr>
                </a:tc>
              </a:tr>
              <a:tr h="260603">
                <a:tc>
                  <a:txBody>
                    <a:bodyPr wrap="square"/>
                    <a:lstStyle/>
                    <a:p>
                      <a:pPr algn="l"/>
                      <a:r>
                        <a:rPr sz="1000" b="0">
                          <a:solidFill>
                            <a:srgbClr val="10131A"/>
                          </a:solidFill>
                          <a:latin typeface="Calibri"/>
                        </a:rPr>
                        <a:t>A third region, in Europe</a:t>
                      </a:r>
                    </a:p>
                  </a:txBody>
                  <a:tcPr marL="82296" marR="82296" marT="18288" marB="18288" anchor="ctr">
                    <a:solidFill>
                      <a:srgbClr val="FFFFFF"/>
                    </a:solidFill>
                  </a:tcPr>
                </a:tc>
                <a:tc>
                  <a:txBody>
                    <a:bodyPr wrap="square"/>
                    <a:lstStyle/>
                    <a:p>
                      <a:pPr algn="l"/>
                      <a:r>
                        <a:rPr sz="1000" b="0">
                          <a:solidFill>
                            <a:srgbClr val="10131A"/>
                          </a:solidFill>
                          <a:latin typeface="Calibri"/>
                        </a:rPr>
                        <a:t>the last continent served locally</a:t>
                      </a:r>
                    </a:p>
                  </a:txBody>
                  <a:tcPr marL="82296" marR="82296" marT="18288" marB="18288" anchor="ctr">
                    <a:solidFill>
                      <a:srgbClr val="FFFFFF"/>
                    </a:solidFill>
                  </a:tcPr>
                </a:tc>
              </a:tr>
              <a:tr h="260603">
                <a:tc>
                  <a:txBody>
                    <a:bodyPr wrap="square"/>
                    <a:lstStyle/>
                    <a:p>
                      <a:pPr algn="l"/>
                      <a:r>
                        <a:rPr sz="1000" b="0">
                          <a:solidFill>
                            <a:srgbClr val="10131A"/>
                          </a:solidFill>
                          <a:latin typeface="Calibri"/>
                        </a:rPr>
                        <a:t>European storage location</a:t>
                      </a:r>
                    </a:p>
                  </a:txBody>
                  <a:tcPr marL="82296" marR="82296" marT="18288" marB="18288" anchor="ctr">
                    <a:solidFill>
                      <a:srgbClr val="EDF0F5"/>
                    </a:solidFill>
                  </a:tcPr>
                </a:tc>
                <a:tc>
                  <a:txBody>
                    <a:bodyPr wrap="square"/>
                    <a:lstStyle/>
                    <a:p>
                      <a:pPr algn="l"/>
                      <a:r>
                        <a:rPr sz="1000" b="0">
                          <a:solidFill>
                            <a:srgbClr val="10131A"/>
                          </a:solidFill>
                          <a:latin typeface="Calibri"/>
                        </a:rPr>
                        <a:t>data residency, where required</a:t>
                      </a:r>
                    </a:p>
                  </a:txBody>
                  <a:tcPr marL="82296" marR="82296" marT="18288" marB="18288" anchor="ctr">
                    <a:solidFill>
                      <a:srgbClr val="EDF0F5"/>
                    </a:solidFill>
                  </a:tcPr>
                </a:tc>
              </a:tr>
              <a:tr h="260603">
                <a:tc>
                  <a:txBody>
                    <a:bodyPr wrap="square"/>
                    <a:lstStyle/>
                    <a:p>
                      <a:pPr algn="l"/>
                      <a:r>
                        <a:rPr sz="1000" b="0">
                          <a:solidFill>
                            <a:srgbClr val="10131A"/>
                          </a:solidFill>
                          <a:latin typeface="Calibri"/>
                        </a:rPr>
                        <a:t>A third read replica</a:t>
                      </a:r>
                    </a:p>
                  </a:txBody>
                  <a:tcPr marL="82296" marR="82296" marT="18288" marB="18288" anchor="ctr">
                    <a:solidFill>
                      <a:srgbClr val="FFFFFF"/>
                    </a:solidFill>
                  </a:tcPr>
                </a:tc>
                <a:tc>
                  <a:txBody>
                    <a:bodyPr wrap="square"/>
                    <a:lstStyle/>
                    <a:p>
                      <a:pPr algn="l"/>
                      <a:r>
                        <a:rPr sz="1000" b="0">
                          <a:solidFill>
                            <a:srgbClr val="10131A"/>
                          </a:solidFill>
                          <a:latin typeface="Calibri"/>
                        </a:rPr>
                        <a:t>one per region</a:t>
                      </a:r>
                    </a:p>
                  </a:txBody>
                  <a:tcPr marL="82296" marR="82296" marT="18288" marB="18288" anchor="ctr">
                    <a:solidFill>
                      <a:srgbClr val="FFFFFF"/>
                    </a:solidFill>
                  </a:tcPr>
                </a:tc>
              </a:tr>
              <a:tr h="260603">
                <a:tc>
                  <a:txBody>
                    <a:bodyPr wrap="square"/>
                    <a:lstStyle/>
                    <a:p>
                      <a:pPr algn="l"/>
                      <a:r>
                        <a:rPr sz="1000" b="0">
                          <a:solidFill>
                            <a:srgbClr val="10131A"/>
                          </a:solidFill>
                          <a:latin typeface="Calibri"/>
                        </a:rPr>
                        <a:t>Automatic cold tiering</a:t>
                      </a:r>
                    </a:p>
                  </a:txBody>
                  <a:tcPr marL="82296" marR="82296" marT="18288" marB="18288" anchor="ctr">
                    <a:solidFill>
                      <a:srgbClr val="EDF0F5"/>
                    </a:solidFill>
                  </a:tcPr>
                </a:tc>
                <a:tc>
                  <a:txBody>
                    <a:bodyPr wrap="square"/>
                    <a:lstStyle/>
                    <a:p>
                      <a:pPr algn="l"/>
                      <a:r>
                        <a:rPr sz="1000" b="0">
                          <a:solidFill>
                            <a:srgbClr val="10131A"/>
                          </a:solidFill>
                          <a:latin typeface="Calibri"/>
                        </a:rPr>
                        <a:t>most of an archive is never re-read</a:t>
                      </a:r>
                    </a:p>
                  </a:txBody>
                  <a:tcPr marL="82296" marR="82296" marT="18288" marB="18288" anchor="ctr">
                    <a:solidFill>
                      <a:srgbClr val="EDF0F5"/>
                    </a:solidFill>
                  </a:tcPr>
                </a:tc>
              </a:tr>
              <a:tr h="260603">
                <a:tc>
                  <a:txBody>
                    <a:bodyPr wrap="square"/>
                    <a:lstStyle/>
                    <a:p>
                      <a:pPr algn="l"/>
                      <a:r>
                        <a:rPr sz="1000" b="0">
                          <a:solidFill>
                            <a:srgbClr val="10131A"/>
                          </a:solidFill>
                          <a:latin typeface="Calibri"/>
                        </a:rPr>
                        <a:t>A cache layer — only if measured</a:t>
                      </a:r>
                    </a:p>
                  </a:txBody>
                  <a:tcPr marL="82296" marR="82296" marT="18288" marB="18288" anchor="ctr">
                    <a:solidFill>
                      <a:srgbClr val="FFFFFF"/>
                    </a:solidFill>
                  </a:tcPr>
                </a:tc>
                <a:tc>
                  <a:txBody>
                    <a:bodyPr wrap="square"/>
                    <a:lstStyle/>
                    <a:p>
                      <a:pPr algn="l"/>
                      <a:r>
                        <a:rPr sz="1000" b="0">
                          <a:solidFill>
                            <a:srgbClr val="10131A"/>
                          </a:solidFill>
                          <a:latin typeface="Calibri"/>
                        </a:rPr>
                        <a:t>never added on suspicion</a:t>
                      </a:r>
                    </a:p>
                  </a:txBody>
                  <a:tcPr marL="82296" marR="82296" marT="18288" marB="18288" anchor="ctr">
                    <a:solidFill>
                      <a:srgbClr val="FFFFFF"/>
                    </a:solidFill>
                  </a:tcPr>
                </a:tc>
              </a:tr>
              <a:tr h="260603">
                <a:tc>
                  <a:txBody>
                    <a:bodyPr wrap="square"/>
                    <a:lstStyle/>
                    <a:p>
                      <a:pPr algn="l"/>
                      <a:r>
                        <a:rPr sz="1000" b="0">
                          <a:solidFill>
                            <a:srgbClr val="10131A"/>
                          </a:solidFill>
                          <a:latin typeface="Calibri"/>
                        </a:rPr>
                        <a:t>Writing</a:t>
                      </a:r>
                    </a:p>
                  </a:txBody>
                  <a:tcPr marL="82296" marR="82296" marT="18288" marB="18288" anchor="ctr">
                    <a:solidFill>
                      <a:srgbClr val="EDF0F5"/>
                    </a:solidFill>
                  </a:tcPr>
                </a:tc>
                <a:tc>
                  <a:txBody>
                    <a:bodyPr wrap="square"/>
                    <a:lstStyle/>
                    <a:p>
                      <a:pPr algn="l"/>
                      <a:r>
                        <a:rPr sz="1000" b="0">
                          <a:solidFill>
                            <a:srgbClr val="10131A"/>
                          </a:solidFill>
                          <a:latin typeface="Calibri"/>
                        </a:rPr>
                        <a:t>unchanged — still one writer</a:t>
                      </a:r>
                    </a:p>
                  </a:txBody>
                  <a:tcPr marL="82296" marR="82296" marT="18288" marB="18288" anchor="ctr">
                    <a:solidFill>
                      <a:srgbClr val="EDF0F5"/>
                    </a:solidFill>
                  </a:tcPr>
                </a:tc>
              </a:tr>
              <a:tr h="260603">
                <a:tc>
                  <a:txBody>
                    <a:bodyPr wrap="square"/>
                    <a:lstStyle/>
                    <a:p>
                      <a:pPr algn="l"/>
                      <a:r>
                        <a:rPr sz="1000" b="0">
                          <a:solidFill>
                            <a:srgbClr val="10131A"/>
                          </a:solidFill>
                          <a:latin typeface="Calibri"/>
                        </a:rPr>
                        <a:t>Media storage</a:t>
                      </a:r>
                    </a:p>
                  </a:txBody>
                  <a:tcPr marL="82296" marR="82296" marT="18288" marB="18288" anchor="ctr">
                    <a:solidFill>
                      <a:srgbClr val="FFFFFF"/>
                    </a:solidFill>
                  </a:tcPr>
                </a:tc>
                <a:tc>
                  <a:txBody>
                    <a:bodyPr wrap="square"/>
                    <a:lstStyle/>
                    <a:p>
                      <a:pPr algn="l"/>
                      <a:r>
                        <a:rPr sz="1000" b="0">
                          <a:solidFill>
                            <a:srgbClr val="10131A"/>
                          </a:solidFill>
                          <a:latin typeface="Calibri"/>
                        </a:rPr>
                        <a:t>unchanged — the same two buckets</a:t>
                      </a:r>
                    </a:p>
                  </a:txBody>
                  <a:tcPr marL="82296" marR="82296" marT="18288" marB="18288" anchor="ctr">
                    <a:solidFill>
                      <a:srgbClr val="FFFFFF"/>
                    </a:solidFill>
                  </a:tcPr>
                </a:tc>
              </a:tr>
            </a:tbl>
          </a:graphicData>
        </a:graphic>
      </p:graphicFrame>
      <p:sp>
        <p:nvSpPr>
          <p:cNvPr id="11" name="Rectangle 10"/>
          <p:cNvSpPr/>
          <p:nvPr/>
        </p:nvSpPr>
        <p:spPr>
          <a:xfrm>
            <a:off x="7424927" y="1920239"/>
            <a:ext cx="4108399" cy="932688"/>
          </a:xfrm>
          <a:prstGeom prst="rect">
            <a:avLst/>
          </a:prstGeom>
          <a:solidFill>
            <a:srgbClr val="FFFFFF"/>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7807" y="2066543"/>
            <a:ext cx="3742639" cy="201168"/>
          </a:xfrm>
          <a:prstGeom prst="rect">
            <a:avLst/>
          </a:prstGeom>
          <a:noFill/>
        </p:spPr>
        <p:txBody>
          <a:bodyPr wrap="square" lIns="0" rIns="0" tIns="0" bIns="0" anchor="t">
            <a:spAutoFit/>
          </a:bodyPr>
          <a:lstStyle/>
          <a:p>
            <a:pPr algn="l"/>
            <a:r>
              <a:rPr sz="900" b="1">
                <a:solidFill>
                  <a:srgbClr val="5C6675"/>
                </a:solidFill>
                <a:latin typeface="Consolas"/>
              </a:rPr>
              <a:t>CAPACITY AT THIS STAGE</a:t>
            </a:r>
          </a:p>
        </p:txBody>
      </p:sp>
      <p:sp>
        <p:nvSpPr>
          <p:cNvPr id="13" name="TextBox 12"/>
          <p:cNvSpPr txBox="1"/>
          <p:nvPr/>
        </p:nvSpPr>
        <p:spPr>
          <a:xfrm>
            <a:off x="7607807" y="2322575"/>
            <a:ext cx="3742639" cy="420624"/>
          </a:xfrm>
          <a:prstGeom prst="rect">
            <a:avLst/>
          </a:prstGeom>
          <a:noFill/>
        </p:spPr>
        <p:txBody>
          <a:bodyPr wrap="square" lIns="0" rIns="0" tIns="0" bIns="0" anchor="t">
            <a:spAutoFit/>
          </a:bodyPr>
          <a:lstStyle/>
          <a:p>
            <a:pPr algn="l">
              <a:lnSpc>
                <a:spcPct val="110000"/>
              </a:lnSpc>
            </a:pPr>
            <a:r>
              <a:rPr sz="1700" b="0">
                <a:solidFill>
                  <a:srgbClr val="10131A"/>
                </a:solidFill>
                <a:latin typeface="Georgia"/>
              </a:rPr>
              <a:t>1,000,000 users  ·  5.3 PB</a:t>
            </a:r>
          </a:p>
        </p:txBody>
      </p:sp>
      <p:sp>
        <p:nvSpPr>
          <p:cNvPr id="14" name="Rectangle 13"/>
          <p:cNvSpPr/>
          <p:nvPr/>
        </p:nvSpPr>
        <p:spPr>
          <a:xfrm>
            <a:off x="7424927" y="2971799"/>
            <a:ext cx="4108399" cy="932688"/>
          </a:xfrm>
          <a:prstGeom prst="rect">
            <a:avLst/>
          </a:prstGeom>
          <a:solidFill>
            <a:srgbClr val="E6F2F0"/>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07807" y="3118103"/>
            <a:ext cx="3742639" cy="201168"/>
          </a:xfrm>
          <a:prstGeom prst="rect">
            <a:avLst/>
          </a:prstGeom>
          <a:noFill/>
        </p:spPr>
        <p:txBody>
          <a:bodyPr wrap="square" lIns="0" rIns="0" tIns="0" bIns="0" anchor="t">
            <a:spAutoFit/>
          </a:bodyPr>
          <a:lstStyle/>
          <a:p>
            <a:pPr algn="l"/>
            <a:r>
              <a:rPr sz="900" b="1">
                <a:solidFill>
                  <a:srgbClr val="5C6675"/>
                </a:solidFill>
                <a:latin typeface="Consolas"/>
              </a:rPr>
              <a:t>IF SOMETHING FAILS</a:t>
            </a:r>
          </a:p>
        </p:txBody>
      </p:sp>
      <p:sp>
        <p:nvSpPr>
          <p:cNvPr id="16" name="TextBox 15"/>
          <p:cNvSpPr txBox="1"/>
          <p:nvPr/>
        </p:nvSpPr>
        <p:spPr>
          <a:xfrm>
            <a:off x="7607807" y="3374135"/>
            <a:ext cx="3742639" cy="420624"/>
          </a:xfrm>
          <a:prstGeom prst="rect">
            <a:avLst/>
          </a:prstGeom>
          <a:noFill/>
        </p:spPr>
        <p:txBody>
          <a:bodyPr wrap="square" lIns="0" rIns="0" tIns="0" bIns="0" anchor="t">
            <a:spAutoFit/>
          </a:bodyPr>
          <a:lstStyle/>
          <a:p>
            <a:pPr algn="l">
              <a:lnSpc>
                <a:spcPct val="110000"/>
              </a:lnSpc>
            </a:pPr>
            <a:r>
              <a:rPr sz="1700" b="0">
                <a:solidFill>
                  <a:srgbClr val="0E6A60"/>
                </a:solidFill>
                <a:latin typeface="Georgia"/>
              </a:rPr>
              <a:t>Three regions, two storage vendors.</a:t>
            </a:r>
          </a:p>
        </p:txBody>
      </p:sp>
      <p:sp>
        <p:nvSpPr>
          <p:cNvPr id="17" name="Rectangle 16"/>
          <p:cNvSpPr/>
          <p:nvPr/>
        </p:nvSpPr>
        <p:spPr>
          <a:xfrm>
            <a:off x="7424927" y="4023359"/>
            <a:ext cx="4108399" cy="1810512"/>
          </a:xfrm>
          <a:prstGeom prst="rect">
            <a:avLst/>
          </a:prstGeom>
          <a:solidFill>
            <a:srgbClr val="E6F2F0"/>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424927" y="4023359"/>
            <a:ext cx="41148" cy="1810512"/>
          </a:xfrm>
          <a:prstGeom prst="rect">
            <a:avLst/>
          </a:prstGeom>
          <a:solidFill>
            <a:srgbClr val="0E6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26096" y="4151375"/>
            <a:ext cx="3706063" cy="219456"/>
          </a:xfrm>
          <a:prstGeom prst="rect">
            <a:avLst/>
          </a:prstGeom>
          <a:noFill/>
        </p:spPr>
        <p:txBody>
          <a:bodyPr wrap="square" lIns="0" rIns="0" tIns="0" bIns="0" anchor="t">
            <a:spAutoFit/>
          </a:bodyPr>
          <a:lstStyle/>
          <a:p>
            <a:pPr algn="l"/>
            <a:r>
              <a:rPr sz="950" b="1">
                <a:solidFill>
                  <a:srgbClr val="0E6A60"/>
                </a:solidFill>
                <a:latin typeface="Consolas"/>
              </a:rPr>
              <a:t>WHAT THIS STAGE PROVES</a:t>
            </a:r>
          </a:p>
        </p:txBody>
      </p:sp>
      <p:sp>
        <p:nvSpPr>
          <p:cNvPr id="20" name="TextBox 19"/>
          <p:cNvSpPr txBox="1"/>
          <p:nvPr/>
        </p:nvSpPr>
        <p:spPr>
          <a:xfrm>
            <a:off x="7626096" y="4407407"/>
            <a:ext cx="3706063" cy="1298448"/>
          </a:xfrm>
          <a:prstGeom prst="rect">
            <a:avLst/>
          </a:prstGeom>
          <a:noFill/>
        </p:spPr>
        <p:txBody>
          <a:bodyPr wrap="square" lIns="0" rIns="0" tIns="0" bIns="0" anchor="t">
            <a:spAutoFit/>
          </a:bodyPr>
          <a:lstStyle/>
          <a:p>
            <a:pPr algn="l">
              <a:lnSpc>
                <a:spcPct val="128000"/>
              </a:lnSpc>
            </a:pPr>
            <a:r>
              <a:rPr sz="1150" b="0">
                <a:solidFill>
                  <a:srgbClr val="38414F"/>
                </a:solidFill>
                <a:latin typeface="Calibri"/>
              </a:rPr>
              <a:t>The system that serves a million people is the system we started with, resized. One codebase, one database engine, the same storage buckets, and the same durable links — which is what makes the plan believable rather than aspirational.</a:t>
            </a:r>
          </a:p>
        </p:txBody>
      </p:sp>
      <p:sp>
        <p:nvSpPr>
          <p:cNvPr id="21" name="TextBox 20"/>
          <p:cNvSpPr txBox="1"/>
          <p:nvPr/>
        </p:nvSpPr>
        <p:spPr>
          <a:xfrm>
            <a:off x="658368" y="6419088"/>
            <a:ext cx="8699967" cy="201168"/>
          </a:xfrm>
          <a:prstGeom prst="rect">
            <a:avLst/>
          </a:prstGeom>
          <a:noFill/>
        </p:spPr>
        <p:txBody>
          <a:bodyPr wrap="square" lIns="0" rIns="0" tIns="0" bIns="0" anchor="t">
            <a:spAutoFit/>
          </a:bodyPr>
          <a:lstStyle/>
          <a:p>
            <a:pPr algn="l"/>
            <a:r>
              <a:rPr sz="950" b="0">
                <a:solidFill>
                  <a:srgbClr val="5C6675"/>
                </a:solidFill>
                <a:latin typeface="Consolas"/>
              </a:rPr>
              <a:t>Stage 5 · three regions</a:t>
            </a:r>
          </a:p>
        </p:txBody>
      </p:sp>
      <p:sp>
        <p:nvSpPr>
          <p:cNvPr id="22" name="TextBox 21"/>
          <p:cNvSpPr txBox="1"/>
          <p:nvPr/>
        </p:nvSpPr>
        <p:spPr>
          <a:xfrm>
            <a:off x="10618927" y="6419088"/>
            <a:ext cx="914400" cy="201168"/>
          </a:xfrm>
          <a:prstGeom prst="rect">
            <a:avLst/>
          </a:prstGeom>
          <a:noFill/>
        </p:spPr>
        <p:txBody>
          <a:bodyPr wrap="square" lIns="0" rIns="0" tIns="0" bIns="0" anchor="t">
            <a:spAutoFit/>
          </a:bodyPr>
          <a:lstStyle/>
          <a:p>
            <a:pPr algn="r"/>
            <a:r>
              <a:rPr sz="950" b="0">
                <a:solidFill>
                  <a:srgbClr val="5C6675"/>
                </a:solidFill>
                <a:latin typeface="Consolas"/>
              </a:rPr>
              <a:t>09 / 16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pic>
        <p:nvPicPr>
          <p:cNvPr id="2" name="Picture 1" descr="NFCLogo.png"/>
          <p:cNvPicPr>
            <a:picLocks noChangeAspect="1"/>
          </p:cNvPicPr>
          <p:nvPr/>
        </p:nvPicPr>
        <p:blipFill>
          <a:blip r:embed="rId2"/>
          <a:stretch>
            <a:fillRect/>
          </a:stretch>
        </p:blipFill>
        <p:spPr>
          <a:xfrm>
            <a:off x="11206068" y="274320"/>
            <a:ext cx="327259" cy="365760"/>
          </a:xfrm>
          <a:prstGeom prst="rect">
            <a:avLst/>
          </a:prstGeom>
        </p:spPr>
      </p:pic>
      <p:sp>
        <p:nvSpPr>
          <p:cNvPr id="3" name="TextBox 2"/>
          <p:cNvSpPr txBox="1"/>
          <p:nvPr/>
        </p:nvSpPr>
        <p:spPr>
          <a:xfrm>
            <a:off x="658368" y="402336"/>
            <a:ext cx="10874959" cy="219456"/>
          </a:xfrm>
          <a:prstGeom prst="rect">
            <a:avLst/>
          </a:prstGeom>
          <a:noFill/>
        </p:spPr>
        <p:txBody>
          <a:bodyPr wrap="square" lIns="0" rIns="0" tIns="0" bIns="0" anchor="t">
            <a:spAutoFit/>
          </a:bodyPr>
          <a:lstStyle/>
          <a:p>
            <a:pPr algn="l"/>
            <a:r>
              <a:rPr sz="1050" b="1">
                <a:solidFill>
                  <a:srgbClr val="AF3327"/>
                </a:solidFill>
                <a:latin typeface="Consolas"/>
              </a:rPr>
              <a:t>THE SCALING LADDER</a:t>
            </a:r>
          </a:p>
        </p:txBody>
      </p:sp>
      <p:sp>
        <p:nvSpPr>
          <p:cNvPr id="4" name="TextBox 3"/>
          <p:cNvSpPr txBox="1"/>
          <p:nvPr/>
        </p:nvSpPr>
        <p:spPr>
          <a:xfrm>
            <a:off x="658368" y="676656"/>
            <a:ext cx="10874959" cy="566928"/>
          </a:xfrm>
          <a:prstGeom prst="rect">
            <a:avLst/>
          </a:prstGeom>
          <a:noFill/>
        </p:spPr>
        <p:txBody>
          <a:bodyPr wrap="square" lIns="0" rIns="0" tIns="0" bIns="0" anchor="t">
            <a:spAutoFit/>
          </a:bodyPr>
          <a:lstStyle/>
          <a:p>
            <a:pPr algn="l">
              <a:lnSpc>
                <a:spcPct val="102000"/>
              </a:lnSpc>
            </a:pPr>
            <a:r>
              <a:rPr sz="2600" b="0">
                <a:solidFill>
                  <a:srgbClr val="10131A"/>
                </a:solidFill>
                <a:latin typeface="Georgia"/>
              </a:rPr>
              <a:t>We know what breaks next, and what we do about it</a:t>
            </a:r>
          </a:p>
        </p:txBody>
      </p:sp>
      <p:sp>
        <p:nvSpPr>
          <p:cNvPr id="5" name="TextBox 4"/>
          <p:cNvSpPr txBox="1"/>
          <p:nvPr/>
        </p:nvSpPr>
        <p:spPr>
          <a:xfrm>
            <a:off x="658368" y="1280160"/>
            <a:ext cx="9787463" cy="384048"/>
          </a:xfrm>
          <a:prstGeom prst="rect">
            <a:avLst/>
          </a:prstGeom>
          <a:noFill/>
        </p:spPr>
        <p:txBody>
          <a:bodyPr wrap="square" lIns="0" rIns="0" tIns="0" bIns="0" anchor="t">
            <a:spAutoFit/>
          </a:bodyPr>
          <a:lstStyle/>
          <a:p>
            <a:pPr algn="l">
              <a:lnSpc>
                <a:spcPct val="124000"/>
              </a:lnSpc>
            </a:pPr>
            <a:r>
              <a:rPr sz="1250" b="0">
                <a:solidFill>
                  <a:srgbClr val="5C6675"/>
                </a:solidFill>
                <a:latin typeface="Calibri"/>
              </a:rPr>
              <a:t>Growth is not a surprise. This is the order in which the system runs out of room, roughly when, and whether the answer is a setting or a new component.</a:t>
            </a:r>
          </a:p>
        </p:txBody>
      </p:sp>
      <p:sp>
        <p:nvSpPr>
          <p:cNvPr id="6" name="Rectangle 5"/>
          <p:cNvSpPr/>
          <p:nvPr/>
        </p:nvSpPr>
        <p:spPr>
          <a:xfrm>
            <a:off x="658368" y="1719072"/>
            <a:ext cx="822960" cy="32004"/>
          </a:xfrm>
          <a:prstGeom prst="rect">
            <a:avLst/>
          </a:prstGeom>
          <a:solidFill>
            <a:srgbClr val="FF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658368" y="1920239"/>
          <a:ext cx="10908792" cy="2519172"/>
        </p:xfrm>
        <a:graphic>
          <a:graphicData uri="http://schemas.openxmlformats.org/drawingml/2006/table">
            <a:tbl>
              <a:tblPr>
                <a:tableStyleId>{5C22544A-7EE6-4342-B048-85BDC9FD1C3A}</a:tableStyleId>
              </a:tblPr>
              <a:tblGrid>
                <a:gridCol w="658368"/>
                <a:gridCol w="3310128"/>
                <a:gridCol w="2212848"/>
                <a:gridCol w="3127248"/>
                <a:gridCol w="1600200"/>
              </a:tblGrid>
              <a:tr h="310896">
                <a:tc>
                  <a:txBody>
                    <a:bodyPr wrap="square"/>
                    <a:lstStyle/>
                    <a:p>
                      <a:pPr algn="l"/>
                      <a:r>
                        <a:rPr sz="950" b="1">
                          <a:solidFill>
                            <a:srgbClr val="FFFFFF"/>
                          </a:solidFill>
                          <a:latin typeface="Calibri"/>
                        </a:rPr>
                        <a:t/>
                      </a:r>
                    </a:p>
                  </a:txBody>
                  <a:tcPr marL="82296" marR="82296" marT="18288" marB="18288" anchor="ctr">
                    <a:solidFill>
                      <a:srgbClr val="22304A"/>
                    </a:solidFill>
                  </a:tcPr>
                </a:tc>
                <a:tc>
                  <a:txBody>
                    <a:bodyPr wrap="square"/>
                    <a:lstStyle/>
                    <a:p>
                      <a:pPr algn="l"/>
                      <a:r>
                        <a:rPr sz="950" b="1">
                          <a:solidFill>
                            <a:srgbClr val="FFFFFF"/>
                          </a:solidFill>
                          <a:latin typeface="Calibri"/>
                        </a:rPr>
                        <a:t>What runs out of room</a:t>
                      </a:r>
                    </a:p>
                  </a:txBody>
                  <a:tcPr marL="82296" marR="82296" marT="18288" marB="18288" anchor="ctr">
                    <a:solidFill>
                      <a:srgbClr val="22304A"/>
                    </a:solidFill>
                  </a:tcPr>
                </a:tc>
                <a:tc>
                  <a:txBody>
                    <a:bodyPr wrap="square"/>
                    <a:lstStyle/>
                    <a:p>
                      <a:pPr algn="l"/>
                      <a:r>
                        <a:rPr sz="950" b="1">
                          <a:solidFill>
                            <a:srgbClr val="FFFFFF"/>
                          </a:solidFill>
                          <a:latin typeface="Calibri"/>
                        </a:rPr>
                        <a:t>At around</a:t>
                      </a:r>
                    </a:p>
                  </a:txBody>
                  <a:tcPr marL="82296" marR="82296" marT="18288" marB="18288" anchor="ctr">
                    <a:solidFill>
                      <a:srgbClr val="22304A"/>
                    </a:solidFill>
                  </a:tcPr>
                </a:tc>
                <a:tc>
                  <a:txBody>
                    <a:bodyPr wrap="square"/>
                    <a:lstStyle/>
                    <a:p>
                      <a:pPr algn="l"/>
                      <a:r>
                        <a:rPr sz="950" b="1">
                          <a:solidFill>
                            <a:srgbClr val="FFFFFF"/>
                          </a:solidFill>
                          <a:latin typeface="Calibri"/>
                        </a:rPr>
                        <a:t>What we do</a:t>
                      </a:r>
                    </a:p>
                  </a:txBody>
                  <a:tcPr marL="82296" marR="82296" marT="18288" marB="18288" anchor="ctr">
                    <a:solidFill>
                      <a:srgbClr val="22304A"/>
                    </a:solidFill>
                  </a:tcPr>
                </a:tc>
                <a:tc>
                  <a:txBody>
                    <a:bodyPr wrap="square"/>
                    <a:lstStyle/>
                    <a:p>
                      <a:pPr algn="l"/>
                      <a:r>
                        <a:rPr sz="950" b="1">
                          <a:solidFill>
                            <a:srgbClr val="FFFFFF"/>
                          </a:solidFill>
                          <a:latin typeface="Calibri"/>
                        </a:rPr>
                        <a:t>Setting or new part?</a:t>
                      </a:r>
                    </a:p>
                  </a:txBody>
                  <a:tcPr marL="82296" marR="82296" marT="18288" marB="18288" anchor="ctr">
                    <a:solidFill>
                      <a:srgbClr val="22304A"/>
                    </a:solidFill>
                  </a:tcPr>
                </a:tc>
              </a:tr>
              <a:tr h="315468">
                <a:tc>
                  <a:txBody>
                    <a:bodyPr wrap="square"/>
                    <a:lstStyle/>
                    <a:p>
                      <a:pPr algn="l"/>
                      <a:r>
                        <a:rPr sz="1050" b="0">
                          <a:solidFill>
                            <a:srgbClr val="10131A"/>
                          </a:solidFill>
                          <a:latin typeface="Calibri"/>
                        </a:rPr>
                        <a:t>1</a:t>
                      </a:r>
                    </a:p>
                  </a:txBody>
                  <a:tcPr marL="82296" marR="82296" marT="18288" marB="18288" anchor="ctr">
                    <a:solidFill>
                      <a:srgbClr val="FFFFFF"/>
                    </a:solidFill>
                  </a:tcPr>
                </a:tc>
                <a:tc>
                  <a:txBody>
                    <a:bodyPr wrap="square"/>
                    <a:lstStyle/>
                    <a:p>
                      <a:pPr algn="l"/>
                      <a:r>
                        <a:rPr sz="1050" b="0">
                          <a:solidFill>
                            <a:srgbClr val="10131A"/>
                          </a:solidFill>
                          <a:latin typeface="Calibri"/>
                        </a:rPr>
                        <a:t>Timeline and gallery reads</a:t>
                      </a:r>
                    </a:p>
                  </a:txBody>
                  <a:tcPr marL="82296" marR="82296" marT="18288" marB="18288" anchor="ctr">
                    <a:solidFill>
                      <a:srgbClr val="FFFFFF"/>
                    </a:solidFill>
                  </a:tcPr>
                </a:tc>
                <a:tc>
                  <a:txBody>
                    <a:bodyPr wrap="square"/>
                    <a:lstStyle/>
                    <a:p>
                      <a:pPr algn="l"/>
                      <a:r>
                        <a:rPr sz="1050" b="0">
                          <a:solidFill>
                            <a:srgbClr val="10131A"/>
                          </a:solidFill>
                          <a:latin typeface="Calibri"/>
                        </a:rPr>
                        <a:t>150,000 users</a:t>
                      </a:r>
                    </a:p>
                  </a:txBody>
                  <a:tcPr marL="82296" marR="82296" marT="18288" marB="18288" anchor="ctr">
                    <a:solidFill>
                      <a:srgbClr val="FFFFFF"/>
                    </a:solidFill>
                  </a:tcPr>
                </a:tc>
                <a:tc>
                  <a:txBody>
                    <a:bodyPr wrap="square"/>
                    <a:lstStyle/>
                    <a:p>
                      <a:pPr algn="l"/>
                      <a:r>
                        <a:rPr sz="1050" b="0">
                          <a:solidFill>
                            <a:srgbClr val="10131A"/>
                          </a:solidFill>
                          <a:latin typeface="Calibri"/>
                        </a:rPr>
                        <a:t>add a database read replica</a:t>
                      </a:r>
                    </a:p>
                  </a:txBody>
                  <a:tcPr marL="82296" marR="82296" marT="18288" marB="18288" anchor="ctr">
                    <a:solidFill>
                      <a:srgbClr val="FFFFFF"/>
                    </a:solidFill>
                  </a:tcPr>
                </a:tc>
                <a:tc>
                  <a:txBody>
                    <a:bodyPr wrap="square"/>
                    <a:lstStyle/>
                    <a:p>
                      <a:pPr algn="l"/>
                      <a:r>
                        <a:rPr sz="1050" b="0">
                          <a:solidFill>
                            <a:srgbClr val="10131A"/>
                          </a:solidFill>
                          <a:latin typeface="Calibri"/>
                        </a:rPr>
                        <a:t>setting</a:t>
                      </a:r>
                    </a:p>
                  </a:txBody>
                  <a:tcPr marL="82296" marR="82296" marT="18288" marB="18288" anchor="ctr">
                    <a:solidFill>
                      <a:srgbClr val="FFFFFF"/>
                    </a:solidFill>
                  </a:tcPr>
                </a:tc>
              </a:tr>
              <a:tr h="315468">
                <a:tc>
                  <a:txBody>
                    <a:bodyPr wrap="square"/>
                    <a:lstStyle/>
                    <a:p>
                      <a:pPr algn="l"/>
                      <a:r>
                        <a:rPr sz="1050" b="0">
                          <a:solidFill>
                            <a:srgbClr val="10131A"/>
                          </a:solidFill>
                          <a:latin typeface="Calibri"/>
                        </a:rPr>
                        <a:t>2</a:t>
                      </a:r>
                    </a:p>
                  </a:txBody>
                  <a:tcPr marL="82296" marR="82296" marT="18288" marB="18288" anchor="ctr">
                    <a:solidFill>
                      <a:srgbClr val="E6F2F0"/>
                    </a:solidFill>
                  </a:tcPr>
                </a:tc>
                <a:tc>
                  <a:txBody>
                    <a:bodyPr wrap="square"/>
                    <a:lstStyle/>
                    <a:p>
                      <a:pPr algn="l"/>
                      <a:r>
                        <a:rPr sz="1050" b="0">
                          <a:solidFill>
                            <a:srgbClr val="10131A"/>
                          </a:solidFill>
                          <a:latin typeface="Calibri"/>
                        </a:rPr>
                        <a:t>The activity log table</a:t>
                      </a:r>
                    </a:p>
                  </a:txBody>
                  <a:tcPr marL="82296" marR="82296" marT="18288" marB="18288" anchor="ctr">
                    <a:solidFill>
                      <a:srgbClr val="E6F2F0"/>
                    </a:solidFill>
                  </a:tcPr>
                </a:tc>
                <a:tc>
                  <a:txBody>
                    <a:bodyPr wrap="square"/>
                    <a:lstStyle/>
                    <a:p>
                      <a:pPr algn="l"/>
                      <a:r>
                        <a:rPr sz="1050" b="0">
                          <a:solidFill>
                            <a:srgbClr val="10131A"/>
                          </a:solidFill>
                          <a:latin typeface="Calibri"/>
                        </a:rPr>
                        <a:t>planned from day one</a:t>
                      </a:r>
                    </a:p>
                  </a:txBody>
                  <a:tcPr marL="82296" marR="82296" marT="18288" marB="18288" anchor="ctr">
                    <a:solidFill>
                      <a:srgbClr val="E6F2F0"/>
                    </a:solidFill>
                  </a:tcPr>
                </a:tc>
                <a:tc>
                  <a:txBody>
                    <a:bodyPr wrap="square"/>
                    <a:lstStyle/>
                    <a:p>
                      <a:pPr algn="l"/>
                      <a:r>
                        <a:rPr sz="1050" b="0">
                          <a:solidFill>
                            <a:srgbClr val="10131A"/>
                          </a:solidFill>
                          <a:latin typeface="Calibri"/>
                        </a:rPr>
                        <a:t>partition it by month</a:t>
                      </a:r>
                    </a:p>
                  </a:txBody>
                  <a:tcPr marL="82296" marR="82296" marT="18288" marB="18288" anchor="ctr">
                    <a:solidFill>
                      <a:srgbClr val="E6F2F0"/>
                    </a:solidFill>
                  </a:tcPr>
                </a:tc>
                <a:tc>
                  <a:txBody>
                    <a:bodyPr wrap="square"/>
                    <a:lstStyle/>
                    <a:p>
                      <a:pPr algn="l"/>
                      <a:r>
                        <a:rPr sz="1050" b="0">
                          <a:solidFill>
                            <a:srgbClr val="10131A"/>
                          </a:solidFill>
                          <a:latin typeface="Calibri"/>
                        </a:rPr>
                        <a:t>setting</a:t>
                      </a:r>
                    </a:p>
                  </a:txBody>
                  <a:tcPr marL="82296" marR="82296" marT="18288" marB="18288" anchor="ctr">
                    <a:solidFill>
                      <a:srgbClr val="E6F2F0"/>
                    </a:solidFill>
                  </a:tcPr>
                </a:tc>
              </a:tr>
              <a:tr h="315468">
                <a:tc>
                  <a:txBody>
                    <a:bodyPr wrap="square"/>
                    <a:lstStyle/>
                    <a:p>
                      <a:pPr algn="l"/>
                      <a:r>
                        <a:rPr sz="1050" b="0">
                          <a:solidFill>
                            <a:srgbClr val="10131A"/>
                          </a:solidFill>
                          <a:latin typeface="Calibri"/>
                        </a:rPr>
                        <a:t>3</a:t>
                      </a:r>
                    </a:p>
                  </a:txBody>
                  <a:tcPr marL="82296" marR="82296" marT="18288" marB="18288" anchor="ctr">
                    <a:solidFill>
                      <a:srgbClr val="FFFFFF"/>
                    </a:solidFill>
                  </a:tcPr>
                </a:tc>
                <a:tc>
                  <a:txBody>
                    <a:bodyPr wrap="square"/>
                    <a:lstStyle/>
                    <a:p>
                      <a:pPr algn="l"/>
                      <a:r>
                        <a:rPr sz="1050" b="0">
                          <a:solidFill>
                            <a:srgbClr val="10131A"/>
                          </a:solidFill>
                          <a:latin typeface="Calibri"/>
                        </a:rPr>
                        <a:t>Text search on the live database</a:t>
                      </a:r>
                    </a:p>
                  </a:txBody>
                  <a:tcPr marL="82296" marR="82296" marT="18288" marB="18288" anchor="ctr">
                    <a:solidFill>
                      <a:srgbClr val="FFFFFF"/>
                    </a:solidFill>
                  </a:tcPr>
                </a:tc>
                <a:tc>
                  <a:txBody>
                    <a:bodyPr wrap="square"/>
                    <a:lstStyle/>
                    <a:p>
                      <a:pPr algn="l"/>
                      <a:r>
                        <a:rPr sz="1050" b="0">
                          <a:solidFill>
                            <a:srgbClr val="10131A"/>
                          </a:solidFill>
                          <a:latin typeface="Calibri"/>
                        </a:rPr>
                        <a:t>when search ships</a:t>
                      </a:r>
                    </a:p>
                  </a:txBody>
                  <a:tcPr marL="82296" marR="82296" marT="18288" marB="18288" anchor="ctr">
                    <a:solidFill>
                      <a:srgbClr val="FFFFFF"/>
                    </a:solidFill>
                  </a:tcPr>
                </a:tc>
                <a:tc>
                  <a:txBody>
                    <a:bodyPr wrap="square"/>
                    <a:lstStyle/>
                    <a:p>
                      <a:pPr algn="l"/>
                      <a:r>
                        <a:rPr sz="1050" b="0">
                          <a:solidFill>
                            <a:srgbClr val="10131A"/>
                          </a:solidFill>
                          <a:latin typeface="Calibri"/>
                        </a:rPr>
                        <a:t>move search to its own service</a:t>
                      </a:r>
                    </a:p>
                  </a:txBody>
                  <a:tcPr marL="82296" marR="82296" marT="18288" marB="18288" anchor="ctr">
                    <a:solidFill>
                      <a:srgbClr val="FFFFFF"/>
                    </a:solidFill>
                  </a:tcPr>
                </a:tc>
                <a:tc>
                  <a:txBody>
                    <a:bodyPr wrap="square"/>
                    <a:lstStyle/>
                    <a:p>
                      <a:pPr algn="l"/>
                      <a:r>
                        <a:rPr sz="1050" b="0">
                          <a:solidFill>
                            <a:srgbClr val="10131A"/>
                          </a:solidFill>
                          <a:latin typeface="Calibri"/>
                        </a:rPr>
                        <a:t>new part</a:t>
                      </a:r>
                    </a:p>
                  </a:txBody>
                  <a:tcPr marL="82296" marR="82296" marT="18288" marB="18288" anchor="ctr">
                    <a:solidFill>
                      <a:srgbClr val="FFFFFF"/>
                    </a:solidFill>
                  </a:tcPr>
                </a:tc>
              </a:tr>
              <a:tr h="315468">
                <a:tc>
                  <a:txBody>
                    <a:bodyPr wrap="square"/>
                    <a:lstStyle/>
                    <a:p>
                      <a:pPr algn="l"/>
                      <a:r>
                        <a:rPr sz="1050" b="0">
                          <a:solidFill>
                            <a:srgbClr val="10131A"/>
                          </a:solidFill>
                          <a:latin typeface="Calibri"/>
                        </a:rPr>
                        <a:t>4</a:t>
                      </a:r>
                    </a:p>
                  </a:txBody>
                  <a:tcPr marL="82296" marR="82296" marT="18288" marB="18288" anchor="ctr">
                    <a:solidFill>
                      <a:srgbClr val="EDF0F5"/>
                    </a:solidFill>
                  </a:tcPr>
                </a:tc>
                <a:tc>
                  <a:txBody>
                    <a:bodyPr wrap="square"/>
                    <a:lstStyle/>
                    <a:p>
                      <a:pPr algn="l"/>
                      <a:r>
                        <a:rPr sz="1050" b="0">
                          <a:solidFill>
                            <a:srgbClr val="10131A"/>
                          </a:solidFill>
                          <a:latin typeface="Calibri"/>
                        </a:rPr>
                        <a:t>Admin reports on live data</a:t>
                      </a:r>
                    </a:p>
                  </a:txBody>
                  <a:tcPr marL="82296" marR="82296" marT="18288" marB="18288" anchor="ctr">
                    <a:solidFill>
                      <a:srgbClr val="EDF0F5"/>
                    </a:solidFill>
                  </a:tcPr>
                </a:tc>
                <a:tc>
                  <a:txBody>
                    <a:bodyPr wrap="square"/>
                    <a:lstStyle/>
                    <a:p>
                      <a:pPr algn="l"/>
                      <a:r>
                        <a:rPr sz="1050" b="0">
                          <a:solidFill>
                            <a:srgbClr val="10131A"/>
                          </a:solidFill>
                          <a:latin typeface="Calibri"/>
                        </a:rPr>
                        <a:t>200,000 users</a:t>
                      </a:r>
                    </a:p>
                  </a:txBody>
                  <a:tcPr marL="82296" marR="82296" marT="18288" marB="18288" anchor="ctr">
                    <a:solidFill>
                      <a:srgbClr val="EDF0F5"/>
                    </a:solidFill>
                  </a:tcPr>
                </a:tc>
                <a:tc>
                  <a:txBody>
                    <a:bodyPr wrap="square"/>
                    <a:lstStyle/>
                    <a:p>
                      <a:pPr algn="l"/>
                      <a:r>
                        <a:rPr sz="1050" b="0">
                          <a:solidFill>
                            <a:srgbClr val="10131A"/>
                          </a:solidFill>
                          <a:latin typeface="Calibri"/>
                        </a:rPr>
                        <a:t>nightly copy into a reporting store</a:t>
                      </a:r>
                    </a:p>
                  </a:txBody>
                  <a:tcPr marL="82296" marR="82296" marT="18288" marB="18288" anchor="ctr">
                    <a:solidFill>
                      <a:srgbClr val="EDF0F5"/>
                    </a:solidFill>
                  </a:tcPr>
                </a:tc>
                <a:tc>
                  <a:txBody>
                    <a:bodyPr wrap="square"/>
                    <a:lstStyle/>
                    <a:p>
                      <a:pPr algn="l"/>
                      <a:r>
                        <a:rPr sz="1050" b="0">
                          <a:solidFill>
                            <a:srgbClr val="10131A"/>
                          </a:solidFill>
                          <a:latin typeface="Calibri"/>
                        </a:rPr>
                        <a:t>new part</a:t>
                      </a:r>
                    </a:p>
                  </a:txBody>
                  <a:tcPr marL="82296" marR="82296" marT="18288" marB="18288" anchor="ctr">
                    <a:solidFill>
                      <a:srgbClr val="EDF0F5"/>
                    </a:solidFill>
                  </a:tcPr>
                </a:tc>
              </a:tr>
              <a:tr h="315468">
                <a:tc>
                  <a:txBody>
                    <a:bodyPr wrap="square"/>
                    <a:lstStyle/>
                    <a:p>
                      <a:pPr algn="l"/>
                      <a:r>
                        <a:rPr sz="1050" b="0">
                          <a:solidFill>
                            <a:srgbClr val="10131A"/>
                          </a:solidFill>
                          <a:latin typeface="Calibri"/>
                        </a:rPr>
                        <a:t>5</a:t>
                      </a:r>
                    </a:p>
                  </a:txBody>
                  <a:tcPr marL="82296" marR="82296" marT="18288" marB="18288" anchor="ctr">
                    <a:solidFill>
                      <a:srgbClr val="FFF0EE"/>
                    </a:solidFill>
                  </a:tcPr>
                </a:tc>
                <a:tc>
                  <a:txBody>
                    <a:bodyPr wrap="square"/>
                    <a:lstStyle/>
                    <a:p>
                      <a:pPr algn="l"/>
                      <a:r>
                        <a:rPr sz="1050" b="0">
                          <a:solidFill>
                            <a:srgbClr val="10131A"/>
                          </a:solidFill>
                          <a:latin typeface="Calibri"/>
                        </a:rPr>
                        <a:t>Write latency in the Americas</a:t>
                      </a:r>
                    </a:p>
                  </a:txBody>
                  <a:tcPr marL="82296" marR="82296" marT="18288" marB="18288" anchor="ctr">
                    <a:solidFill>
                      <a:srgbClr val="FFF0EE"/>
                    </a:solidFill>
                  </a:tcPr>
                </a:tc>
                <a:tc>
                  <a:txBody>
                    <a:bodyPr wrap="square"/>
                    <a:lstStyle/>
                    <a:p>
                      <a:pPr algn="l"/>
                      <a:r>
                        <a:rPr sz="1050" b="0">
                          <a:solidFill>
                            <a:srgbClr val="10131A"/>
                          </a:solidFill>
                          <a:latin typeface="Calibri"/>
                        </a:rPr>
                        <a:t>300,000 users</a:t>
                      </a:r>
                    </a:p>
                  </a:txBody>
                  <a:tcPr marL="82296" marR="82296" marT="18288" marB="18288" anchor="ctr">
                    <a:solidFill>
                      <a:srgbClr val="FFF0EE"/>
                    </a:solidFill>
                  </a:tcPr>
                </a:tc>
                <a:tc>
                  <a:txBody>
                    <a:bodyPr wrap="square"/>
                    <a:lstStyle/>
                    <a:p>
                      <a:pPr algn="l"/>
                      <a:r>
                        <a:rPr sz="1050" b="0">
                          <a:solidFill>
                            <a:srgbClr val="10131A"/>
                          </a:solidFill>
                          <a:latin typeface="Calibri"/>
                        </a:rPr>
                        <a:t>add the second region</a:t>
                      </a:r>
                    </a:p>
                  </a:txBody>
                  <a:tcPr marL="82296" marR="82296" marT="18288" marB="18288" anchor="ctr">
                    <a:solidFill>
                      <a:srgbClr val="FFF0EE"/>
                    </a:solidFill>
                  </a:tcPr>
                </a:tc>
                <a:tc>
                  <a:txBody>
                    <a:bodyPr wrap="square"/>
                    <a:lstStyle/>
                    <a:p>
                      <a:pPr algn="l"/>
                      <a:r>
                        <a:rPr sz="1050" b="0">
                          <a:solidFill>
                            <a:srgbClr val="10131A"/>
                          </a:solidFill>
                          <a:latin typeface="Calibri"/>
                        </a:rPr>
                        <a:t>new part</a:t>
                      </a:r>
                    </a:p>
                  </a:txBody>
                  <a:tcPr marL="82296" marR="82296" marT="18288" marB="18288" anchor="ctr">
                    <a:solidFill>
                      <a:srgbClr val="FFF0EE"/>
                    </a:solidFill>
                  </a:tcPr>
                </a:tc>
              </a:tr>
              <a:tr h="315468">
                <a:tc>
                  <a:txBody>
                    <a:bodyPr wrap="square"/>
                    <a:lstStyle/>
                    <a:p>
                      <a:pPr algn="l"/>
                      <a:r>
                        <a:rPr sz="1050" b="0">
                          <a:solidFill>
                            <a:srgbClr val="10131A"/>
                          </a:solidFill>
                          <a:latin typeface="Calibri"/>
                        </a:rPr>
                        <a:t>6</a:t>
                      </a:r>
                    </a:p>
                  </a:txBody>
                  <a:tcPr marL="82296" marR="82296" marT="18288" marB="18288" anchor="ctr">
                    <a:solidFill>
                      <a:srgbClr val="EDF0F5"/>
                    </a:solidFill>
                  </a:tcPr>
                </a:tc>
                <a:tc>
                  <a:txBody>
                    <a:bodyPr wrap="square"/>
                    <a:lstStyle/>
                    <a:p>
                      <a:pPr algn="l"/>
                      <a:r>
                        <a:rPr sz="1050" b="0">
                          <a:solidFill>
                            <a:srgbClr val="10131A"/>
                          </a:solidFill>
                          <a:latin typeface="Calibri"/>
                        </a:rPr>
                        <a:t>Video processing at evening peaks</a:t>
                      </a:r>
                    </a:p>
                  </a:txBody>
                  <a:tcPr marL="82296" marR="82296" marT="18288" marB="18288" anchor="ctr">
                    <a:solidFill>
                      <a:srgbClr val="EDF0F5"/>
                    </a:solidFill>
                  </a:tcPr>
                </a:tc>
                <a:tc>
                  <a:txBody>
                    <a:bodyPr wrap="square"/>
                    <a:lstStyle/>
                    <a:p>
                      <a:pPr algn="l"/>
                      <a:r>
                        <a:rPr sz="1050" b="0">
                          <a:solidFill>
                            <a:srgbClr val="10131A"/>
                          </a:solidFill>
                          <a:latin typeface="Calibri"/>
                        </a:rPr>
                        <a:t>400,000 users</a:t>
                      </a:r>
                    </a:p>
                  </a:txBody>
                  <a:tcPr marL="82296" marR="82296" marT="18288" marB="18288" anchor="ctr">
                    <a:solidFill>
                      <a:srgbClr val="EDF0F5"/>
                    </a:solidFill>
                  </a:tcPr>
                </a:tc>
                <a:tc>
                  <a:txBody>
                    <a:bodyPr wrap="square"/>
                    <a:lstStyle/>
                    <a:p>
                      <a:pPr algn="l"/>
                      <a:r>
                        <a:rPr sz="1050" b="0">
                          <a:solidFill>
                            <a:srgbClr val="10131A"/>
                          </a:solidFill>
                          <a:latin typeface="Calibri"/>
                        </a:rPr>
                        <a:t>widen the processing pool</a:t>
                      </a:r>
                    </a:p>
                  </a:txBody>
                  <a:tcPr marL="82296" marR="82296" marT="18288" marB="18288" anchor="ctr">
                    <a:solidFill>
                      <a:srgbClr val="EDF0F5"/>
                    </a:solidFill>
                  </a:tcPr>
                </a:tc>
                <a:tc>
                  <a:txBody>
                    <a:bodyPr wrap="square"/>
                    <a:lstStyle/>
                    <a:p>
                      <a:pPr algn="l"/>
                      <a:r>
                        <a:rPr sz="1050" b="0">
                          <a:solidFill>
                            <a:srgbClr val="10131A"/>
                          </a:solidFill>
                          <a:latin typeface="Calibri"/>
                        </a:rPr>
                        <a:t>setting</a:t>
                      </a:r>
                    </a:p>
                  </a:txBody>
                  <a:tcPr marL="82296" marR="82296" marT="18288" marB="18288" anchor="ctr">
                    <a:solidFill>
                      <a:srgbClr val="EDF0F5"/>
                    </a:solidFill>
                  </a:tcPr>
                </a:tc>
              </a:tr>
              <a:tr h="315468">
                <a:tc>
                  <a:txBody>
                    <a:bodyPr wrap="square"/>
                    <a:lstStyle/>
                    <a:p>
                      <a:pPr algn="l"/>
                      <a:r>
                        <a:rPr sz="1050" b="0">
                          <a:solidFill>
                            <a:srgbClr val="10131A"/>
                          </a:solidFill>
                          <a:latin typeface="Calibri"/>
                        </a:rPr>
                        <a:t>7</a:t>
                      </a:r>
                    </a:p>
                  </a:txBody>
                  <a:tcPr marL="82296" marR="82296" marT="18288" marB="18288" anchor="ctr">
                    <a:solidFill>
                      <a:srgbClr val="FFFFFF"/>
                    </a:solidFill>
                  </a:tcPr>
                </a:tc>
                <a:tc>
                  <a:txBody>
                    <a:bodyPr wrap="square"/>
                    <a:lstStyle/>
                    <a:p>
                      <a:pPr algn="l"/>
                      <a:r>
                        <a:rPr sz="1050" b="0">
                          <a:solidFill>
                            <a:srgbClr val="10131A"/>
                          </a:solidFill>
                          <a:latin typeface="Calibri"/>
                        </a:rPr>
                        <a:t>Repeatedly-read hot data</a:t>
                      </a:r>
                    </a:p>
                  </a:txBody>
                  <a:tcPr marL="82296" marR="82296" marT="18288" marB="18288" anchor="ctr">
                    <a:solidFill>
                      <a:srgbClr val="FFFFFF"/>
                    </a:solidFill>
                  </a:tcPr>
                </a:tc>
                <a:tc>
                  <a:txBody>
                    <a:bodyPr wrap="square"/>
                    <a:lstStyle/>
                    <a:p>
                      <a:pPr algn="l"/>
                      <a:r>
                        <a:rPr sz="1050" b="0">
                          <a:solidFill>
                            <a:srgbClr val="10131A"/>
                          </a:solidFill>
                          <a:latin typeface="Calibri"/>
                        </a:rPr>
                        <a:t>700,000 users, if measured</a:t>
                      </a:r>
                    </a:p>
                  </a:txBody>
                  <a:tcPr marL="82296" marR="82296" marT="18288" marB="18288" anchor="ctr">
                    <a:solidFill>
                      <a:srgbClr val="FFFFFF"/>
                    </a:solidFill>
                  </a:tcPr>
                </a:tc>
                <a:tc>
                  <a:txBody>
                    <a:bodyPr wrap="square"/>
                    <a:lstStyle/>
                    <a:p>
                      <a:pPr algn="l"/>
                      <a:r>
                        <a:rPr sz="1050" b="0">
                          <a:solidFill>
                            <a:srgbClr val="10131A"/>
                          </a:solidFill>
                          <a:latin typeface="Calibri"/>
                        </a:rPr>
                        <a:t>add a cache layer</a:t>
                      </a:r>
                    </a:p>
                  </a:txBody>
                  <a:tcPr marL="82296" marR="82296" marT="18288" marB="18288" anchor="ctr">
                    <a:solidFill>
                      <a:srgbClr val="FFFFFF"/>
                    </a:solidFill>
                  </a:tcPr>
                </a:tc>
                <a:tc>
                  <a:txBody>
                    <a:bodyPr wrap="square"/>
                    <a:lstStyle/>
                    <a:p>
                      <a:pPr algn="l"/>
                      <a:r>
                        <a:rPr sz="1050" b="0">
                          <a:solidFill>
                            <a:srgbClr val="10131A"/>
                          </a:solidFill>
                          <a:latin typeface="Calibri"/>
                        </a:rPr>
                        <a:t>new part</a:t>
                      </a:r>
                    </a:p>
                  </a:txBody>
                  <a:tcPr marL="82296" marR="82296" marT="18288" marB="18288" anchor="ctr">
                    <a:solidFill>
                      <a:srgbClr val="FFFFFF"/>
                    </a:solidFill>
                  </a:tcPr>
                </a:tc>
              </a:tr>
            </a:tbl>
          </a:graphicData>
        </a:graphic>
      </p:graphicFrame>
      <p:sp>
        <p:nvSpPr>
          <p:cNvPr id="8" name="Rectangle 7"/>
          <p:cNvSpPr/>
          <p:nvPr/>
        </p:nvSpPr>
        <p:spPr>
          <a:xfrm>
            <a:off x="658368" y="4535423"/>
            <a:ext cx="5300319" cy="1188720"/>
          </a:xfrm>
          <a:prstGeom prst="rect">
            <a:avLst/>
          </a:prstGeom>
          <a:solidFill>
            <a:srgbClr val="E6F2F0"/>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4535423"/>
            <a:ext cx="41148" cy="1188720"/>
          </a:xfrm>
          <a:prstGeom prst="rect">
            <a:avLst/>
          </a:prstGeom>
          <a:solidFill>
            <a:srgbClr val="0E6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4663439"/>
            <a:ext cx="4897983" cy="219456"/>
          </a:xfrm>
          <a:prstGeom prst="rect">
            <a:avLst/>
          </a:prstGeom>
          <a:noFill/>
        </p:spPr>
        <p:txBody>
          <a:bodyPr wrap="square" lIns="0" rIns="0" tIns="0" bIns="0" anchor="t">
            <a:spAutoFit/>
          </a:bodyPr>
          <a:lstStyle/>
          <a:p>
            <a:pPr algn="l"/>
            <a:r>
              <a:rPr sz="950" b="1">
                <a:solidFill>
                  <a:srgbClr val="0E6A60"/>
                </a:solidFill>
                <a:latin typeface="Consolas"/>
              </a:rPr>
              <a:t>TWO OF THESE ARE FREE, AND OFTEN DEFERRED</a:t>
            </a:r>
          </a:p>
        </p:txBody>
      </p:sp>
      <p:sp>
        <p:nvSpPr>
          <p:cNvPr id="11" name="TextBox 10"/>
          <p:cNvSpPr txBox="1"/>
          <p:nvPr/>
        </p:nvSpPr>
        <p:spPr>
          <a:xfrm>
            <a:off x="859536" y="4919471"/>
            <a:ext cx="4897983" cy="676656"/>
          </a:xfrm>
          <a:prstGeom prst="rect">
            <a:avLst/>
          </a:prstGeom>
          <a:noFill/>
        </p:spPr>
        <p:txBody>
          <a:bodyPr wrap="square" lIns="0" rIns="0" tIns="0" bIns="0" anchor="t">
            <a:spAutoFit/>
          </a:bodyPr>
          <a:lstStyle/>
          <a:p>
            <a:pPr algn="l">
              <a:lnSpc>
                <a:spcPct val="128000"/>
              </a:lnSpc>
            </a:pPr>
            <a:r>
              <a:rPr sz="1150" b="0">
                <a:solidFill>
                  <a:srgbClr val="38414F"/>
                </a:solidFill>
                <a:latin typeface="Calibri"/>
              </a:rPr>
              <a:t>Partitioning the activity log and moving reporting off live data are both small pieces of work, and teams usually leave them until they hurt. They are planned from the start here precisely so they never do.</a:t>
            </a:r>
          </a:p>
        </p:txBody>
      </p:sp>
      <p:sp>
        <p:nvSpPr>
          <p:cNvPr id="12" name="Rectangle 11"/>
          <p:cNvSpPr/>
          <p:nvPr/>
        </p:nvSpPr>
        <p:spPr>
          <a:xfrm>
            <a:off x="6233007" y="4535423"/>
            <a:ext cx="5300319" cy="1188720"/>
          </a:xfrm>
          <a:prstGeom prst="rect">
            <a:avLst/>
          </a:prstGeom>
          <a:solidFill>
            <a:srgbClr val="FFFFFF"/>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3007" y="4535423"/>
            <a:ext cx="41148" cy="1188720"/>
          </a:xfrm>
          <a:prstGeom prst="rect">
            <a:avLst/>
          </a:prstGeom>
          <a:solidFill>
            <a:srgbClr val="FF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4175" y="4663439"/>
            <a:ext cx="4897983" cy="219456"/>
          </a:xfrm>
          <a:prstGeom prst="rect">
            <a:avLst/>
          </a:prstGeom>
          <a:noFill/>
        </p:spPr>
        <p:txBody>
          <a:bodyPr wrap="square" lIns="0" rIns="0" tIns="0" bIns="0" anchor="t">
            <a:spAutoFit/>
          </a:bodyPr>
          <a:lstStyle/>
          <a:p>
            <a:pPr algn="l"/>
            <a:r>
              <a:rPr sz="950" b="1">
                <a:solidFill>
                  <a:srgbClr val="AF3327"/>
                </a:solidFill>
                <a:latin typeface="Consolas"/>
              </a:rPr>
              <a:t>“ONLY IF MEASURED” IS A REAL RULE</a:t>
            </a:r>
          </a:p>
        </p:txBody>
      </p:sp>
      <p:sp>
        <p:nvSpPr>
          <p:cNvPr id="15" name="TextBox 14"/>
          <p:cNvSpPr txBox="1"/>
          <p:nvPr/>
        </p:nvSpPr>
        <p:spPr>
          <a:xfrm>
            <a:off x="6434175" y="4919471"/>
            <a:ext cx="4897983" cy="676656"/>
          </a:xfrm>
          <a:prstGeom prst="rect">
            <a:avLst/>
          </a:prstGeom>
          <a:noFill/>
        </p:spPr>
        <p:txBody>
          <a:bodyPr wrap="square" lIns="0" rIns="0" tIns="0" bIns="0" anchor="t">
            <a:spAutoFit/>
          </a:bodyPr>
          <a:lstStyle/>
          <a:p>
            <a:pPr algn="l">
              <a:lnSpc>
                <a:spcPct val="128000"/>
              </a:lnSpc>
            </a:pPr>
            <a:r>
              <a:rPr sz="1150" b="0">
                <a:solidFill>
                  <a:srgbClr val="38414F"/>
                </a:solidFill>
                <a:latin typeface="Calibri"/>
              </a:rPr>
              <a:t>A cache is the classic thing added on suspicion, where it hides a problem instead of solving one. It goes in when measurement asks for it, and not before.</a:t>
            </a:r>
          </a:p>
        </p:txBody>
      </p:sp>
      <p:sp>
        <p:nvSpPr>
          <p:cNvPr id="16" name="TextBox 15"/>
          <p:cNvSpPr txBox="1"/>
          <p:nvPr/>
        </p:nvSpPr>
        <p:spPr>
          <a:xfrm>
            <a:off x="658368" y="6419088"/>
            <a:ext cx="8699967" cy="201168"/>
          </a:xfrm>
          <a:prstGeom prst="rect">
            <a:avLst/>
          </a:prstGeom>
          <a:noFill/>
        </p:spPr>
        <p:txBody>
          <a:bodyPr wrap="square" lIns="0" rIns="0" tIns="0" bIns="0" anchor="t">
            <a:spAutoFit/>
          </a:bodyPr>
          <a:lstStyle/>
          <a:p>
            <a:pPr algn="l"/>
            <a:r>
              <a:rPr sz="950" b="0">
                <a:solidFill>
                  <a:srgbClr val="5C6675"/>
                </a:solidFill>
                <a:latin typeface="Consolas"/>
              </a:rPr>
              <a:t>What breaks next, and when</a:t>
            </a:r>
          </a:p>
        </p:txBody>
      </p:sp>
      <p:sp>
        <p:nvSpPr>
          <p:cNvPr id="17" name="TextBox 16"/>
          <p:cNvSpPr txBox="1"/>
          <p:nvPr/>
        </p:nvSpPr>
        <p:spPr>
          <a:xfrm>
            <a:off x="10618927" y="6419088"/>
            <a:ext cx="914400" cy="201168"/>
          </a:xfrm>
          <a:prstGeom prst="rect">
            <a:avLst/>
          </a:prstGeom>
          <a:noFill/>
        </p:spPr>
        <p:txBody>
          <a:bodyPr wrap="square" lIns="0" rIns="0" tIns="0" bIns="0" anchor="t">
            <a:spAutoFit/>
          </a:bodyPr>
          <a:lstStyle/>
          <a:p>
            <a:pPr algn="r"/>
            <a:r>
              <a:rPr sz="950" b="0">
                <a:solidFill>
                  <a:srgbClr val="5C6675"/>
                </a:solidFill>
                <a:latin typeface="Consolas"/>
              </a:rPr>
              <a:t>10 / 16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pic>
        <p:nvPicPr>
          <p:cNvPr id="2" name="Picture 1" descr="NFCLogo.png"/>
          <p:cNvPicPr>
            <a:picLocks noChangeAspect="1"/>
          </p:cNvPicPr>
          <p:nvPr/>
        </p:nvPicPr>
        <p:blipFill>
          <a:blip r:embed="rId2"/>
          <a:stretch>
            <a:fillRect/>
          </a:stretch>
        </p:blipFill>
        <p:spPr>
          <a:xfrm>
            <a:off x="11206068" y="274320"/>
            <a:ext cx="327259" cy="365760"/>
          </a:xfrm>
          <a:prstGeom prst="rect">
            <a:avLst/>
          </a:prstGeom>
        </p:spPr>
      </p:pic>
      <p:sp>
        <p:nvSpPr>
          <p:cNvPr id="3" name="TextBox 2"/>
          <p:cNvSpPr txBox="1"/>
          <p:nvPr/>
        </p:nvSpPr>
        <p:spPr>
          <a:xfrm>
            <a:off x="658368" y="402336"/>
            <a:ext cx="10874959" cy="219456"/>
          </a:xfrm>
          <a:prstGeom prst="rect">
            <a:avLst/>
          </a:prstGeom>
          <a:noFill/>
        </p:spPr>
        <p:txBody>
          <a:bodyPr wrap="square" lIns="0" rIns="0" tIns="0" bIns="0" anchor="t">
            <a:spAutoFit/>
          </a:bodyPr>
          <a:lstStyle/>
          <a:p>
            <a:pPr algn="l"/>
            <a:r>
              <a:rPr sz="1050" b="1">
                <a:solidFill>
                  <a:srgbClr val="AF3327"/>
                </a:solidFill>
                <a:latin typeface="Consolas"/>
              </a:rPr>
              <a:t>DELIVERY ESTIMATE</a:t>
            </a:r>
          </a:p>
        </p:txBody>
      </p:sp>
      <p:sp>
        <p:nvSpPr>
          <p:cNvPr id="4" name="TextBox 3"/>
          <p:cNvSpPr txBox="1"/>
          <p:nvPr/>
        </p:nvSpPr>
        <p:spPr>
          <a:xfrm>
            <a:off x="658368" y="676656"/>
            <a:ext cx="10874959" cy="566928"/>
          </a:xfrm>
          <a:prstGeom prst="rect">
            <a:avLst/>
          </a:prstGeom>
          <a:noFill/>
        </p:spPr>
        <p:txBody>
          <a:bodyPr wrap="square" lIns="0" rIns="0" tIns="0" bIns="0" anchor="t">
            <a:spAutoFit/>
          </a:bodyPr>
          <a:lstStyle/>
          <a:p>
            <a:pPr algn="l">
              <a:lnSpc>
                <a:spcPct val="102000"/>
              </a:lnSpc>
            </a:pPr>
            <a:r>
              <a:rPr sz="2600" b="0">
                <a:solidFill>
                  <a:srgbClr val="10131A"/>
                </a:solidFill>
                <a:latin typeface="Georgia"/>
              </a:rPr>
              <a:t>Six months to both app stores</a:t>
            </a:r>
          </a:p>
        </p:txBody>
      </p:sp>
      <p:sp>
        <p:nvSpPr>
          <p:cNvPr id="5" name="TextBox 4"/>
          <p:cNvSpPr txBox="1"/>
          <p:nvPr/>
        </p:nvSpPr>
        <p:spPr>
          <a:xfrm>
            <a:off x="658368" y="1280160"/>
            <a:ext cx="9787463" cy="384048"/>
          </a:xfrm>
          <a:prstGeom prst="rect">
            <a:avLst/>
          </a:prstGeom>
          <a:noFill/>
        </p:spPr>
        <p:txBody>
          <a:bodyPr wrap="square" lIns="0" rIns="0" tIns="0" bIns="0" anchor="t">
            <a:spAutoFit/>
          </a:bodyPr>
          <a:lstStyle/>
          <a:p>
            <a:pPr algn="l">
              <a:lnSpc>
                <a:spcPct val="124000"/>
              </a:lnSpc>
            </a:pPr>
            <a:r>
              <a:rPr sz="1250" b="0">
                <a:solidFill>
                  <a:srgbClr val="5C6675"/>
                </a:solidFill>
                <a:latin typeface="Calibri"/>
              </a:rPr>
              <a:t>Two native mobile apps and the admin web panel, built from one shared codebase on the platform foundations that already exist. Bars show when work is in flight; the table below gives the milestone that closes each stretch.</a:t>
            </a:r>
          </a:p>
        </p:txBody>
      </p:sp>
      <p:sp>
        <p:nvSpPr>
          <p:cNvPr id="6" name="Rectangle 5"/>
          <p:cNvSpPr/>
          <p:nvPr/>
        </p:nvSpPr>
        <p:spPr>
          <a:xfrm>
            <a:off x="658368" y="1719072"/>
            <a:ext cx="822960" cy="32004"/>
          </a:xfrm>
          <a:prstGeom prst="rect">
            <a:avLst/>
          </a:prstGeom>
          <a:solidFill>
            <a:srgbClr val="FF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447287" y="1920239"/>
            <a:ext cx="1315669" cy="292608"/>
          </a:xfrm>
          <a:prstGeom prst="rect">
            <a:avLst/>
          </a:prstGeom>
          <a:solidFill>
            <a:srgbClr val="223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47287" y="1984247"/>
            <a:ext cx="1315669" cy="201168"/>
          </a:xfrm>
          <a:prstGeom prst="rect">
            <a:avLst/>
          </a:prstGeom>
          <a:noFill/>
        </p:spPr>
        <p:txBody>
          <a:bodyPr wrap="square" lIns="0" rIns="0" tIns="0" bIns="0" anchor="t">
            <a:spAutoFit/>
          </a:bodyPr>
          <a:lstStyle/>
          <a:p>
            <a:pPr algn="ctr"/>
            <a:r>
              <a:rPr sz="900" b="1">
                <a:solidFill>
                  <a:srgbClr val="FFFFFF"/>
                </a:solidFill>
                <a:latin typeface="Consolas"/>
              </a:rPr>
              <a:t>MONTH 1</a:t>
            </a:r>
          </a:p>
        </p:txBody>
      </p:sp>
      <p:sp>
        <p:nvSpPr>
          <p:cNvPr id="9" name="Rectangle 8"/>
          <p:cNvSpPr/>
          <p:nvPr/>
        </p:nvSpPr>
        <p:spPr>
          <a:xfrm>
            <a:off x="4794961" y="1920239"/>
            <a:ext cx="1315669" cy="292608"/>
          </a:xfrm>
          <a:prstGeom prst="rect">
            <a:avLst/>
          </a:prstGeom>
          <a:solidFill>
            <a:srgbClr val="223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94961" y="1984247"/>
            <a:ext cx="1315669" cy="201168"/>
          </a:xfrm>
          <a:prstGeom prst="rect">
            <a:avLst/>
          </a:prstGeom>
          <a:noFill/>
        </p:spPr>
        <p:txBody>
          <a:bodyPr wrap="square" lIns="0" rIns="0" tIns="0" bIns="0" anchor="t">
            <a:spAutoFit/>
          </a:bodyPr>
          <a:lstStyle/>
          <a:p>
            <a:pPr algn="ctr"/>
            <a:r>
              <a:rPr sz="900" b="1">
                <a:solidFill>
                  <a:srgbClr val="FFFFFF"/>
                </a:solidFill>
                <a:latin typeface="Consolas"/>
              </a:rPr>
              <a:t>MONTH 2</a:t>
            </a:r>
          </a:p>
        </p:txBody>
      </p:sp>
      <p:sp>
        <p:nvSpPr>
          <p:cNvPr id="11" name="Rectangle 10"/>
          <p:cNvSpPr/>
          <p:nvPr/>
        </p:nvSpPr>
        <p:spPr>
          <a:xfrm>
            <a:off x="6142634" y="1920239"/>
            <a:ext cx="1315669" cy="292608"/>
          </a:xfrm>
          <a:prstGeom prst="rect">
            <a:avLst/>
          </a:prstGeom>
          <a:solidFill>
            <a:srgbClr val="223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42634" y="1984247"/>
            <a:ext cx="1315669" cy="201168"/>
          </a:xfrm>
          <a:prstGeom prst="rect">
            <a:avLst/>
          </a:prstGeom>
          <a:noFill/>
        </p:spPr>
        <p:txBody>
          <a:bodyPr wrap="square" lIns="0" rIns="0" tIns="0" bIns="0" anchor="t">
            <a:spAutoFit/>
          </a:bodyPr>
          <a:lstStyle/>
          <a:p>
            <a:pPr algn="ctr"/>
            <a:r>
              <a:rPr sz="900" b="1">
                <a:solidFill>
                  <a:srgbClr val="FFFFFF"/>
                </a:solidFill>
                <a:latin typeface="Consolas"/>
              </a:rPr>
              <a:t>MONTH 3</a:t>
            </a:r>
          </a:p>
        </p:txBody>
      </p:sp>
      <p:sp>
        <p:nvSpPr>
          <p:cNvPr id="13" name="Rectangle 12"/>
          <p:cNvSpPr/>
          <p:nvPr/>
        </p:nvSpPr>
        <p:spPr>
          <a:xfrm>
            <a:off x="7490307" y="1920239"/>
            <a:ext cx="1315669" cy="292608"/>
          </a:xfrm>
          <a:prstGeom prst="rect">
            <a:avLst/>
          </a:prstGeom>
          <a:solidFill>
            <a:srgbClr val="223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0307" y="1984247"/>
            <a:ext cx="1315669" cy="201168"/>
          </a:xfrm>
          <a:prstGeom prst="rect">
            <a:avLst/>
          </a:prstGeom>
          <a:noFill/>
        </p:spPr>
        <p:txBody>
          <a:bodyPr wrap="square" lIns="0" rIns="0" tIns="0" bIns="0" anchor="t">
            <a:spAutoFit/>
          </a:bodyPr>
          <a:lstStyle/>
          <a:p>
            <a:pPr algn="ctr"/>
            <a:r>
              <a:rPr sz="900" b="1">
                <a:solidFill>
                  <a:srgbClr val="FFFFFF"/>
                </a:solidFill>
                <a:latin typeface="Consolas"/>
              </a:rPr>
              <a:t>MONTH 4</a:t>
            </a:r>
          </a:p>
        </p:txBody>
      </p:sp>
      <p:sp>
        <p:nvSpPr>
          <p:cNvPr id="15" name="Rectangle 14"/>
          <p:cNvSpPr/>
          <p:nvPr/>
        </p:nvSpPr>
        <p:spPr>
          <a:xfrm>
            <a:off x="8837980" y="1920239"/>
            <a:ext cx="1315669" cy="292608"/>
          </a:xfrm>
          <a:prstGeom prst="rect">
            <a:avLst/>
          </a:prstGeom>
          <a:solidFill>
            <a:srgbClr val="223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37980" y="1984247"/>
            <a:ext cx="1315669" cy="201168"/>
          </a:xfrm>
          <a:prstGeom prst="rect">
            <a:avLst/>
          </a:prstGeom>
          <a:noFill/>
        </p:spPr>
        <p:txBody>
          <a:bodyPr wrap="square" lIns="0" rIns="0" tIns="0" bIns="0" anchor="t">
            <a:spAutoFit/>
          </a:bodyPr>
          <a:lstStyle/>
          <a:p>
            <a:pPr algn="ctr"/>
            <a:r>
              <a:rPr sz="900" b="1">
                <a:solidFill>
                  <a:srgbClr val="FFFFFF"/>
                </a:solidFill>
                <a:latin typeface="Consolas"/>
              </a:rPr>
              <a:t>MONTH 5</a:t>
            </a:r>
          </a:p>
        </p:txBody>
      </p:sp>
      <p:sp>
        <p:nvSpPr>
          <p:cNvPr id="17" name="Rectangle 16"/>
          <p:cNvSpPr/>
          <p:nvPr/>
        </p:nvSpPr>
        <p:spPr>
          <a:xfrm>
            <a:off x="10185654" y="1920239"/>
            <a:ext cx="1315669" cy="292608"/>
          </a:xfrm>
          <a:prstGeom prst="rect">
            <a:avLst/>
          </a:prstGeom>
          <a:solidFill>
            <a:srgbClr val="223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185654" y="1984247"/>
            <a:ext cx="1315669" cy="201168"/>
          </a:xfrm>
          <a:prstGeom prst="rect">
            <a:avLst/>
          </a:prstGeom>
          <a:noFill/>
        </p:spPr>
        <p:txBody>
          <a:bodyPr wrap="square" lIns="0" rIns="0" tIns="0" bIns="0" anchor="t">
            <a:spAutoFit/>
          </a:bodyPr>
          <a:lstStyle/>
          <a:p>
            <a:pPr algn="ctr"/>
            <a:r>
              <a:rPr sz="900" b="1">
                <a:solidFill>
                  <a:srgbClr val="FFFFFF"/>
                </a:solidFill>
                <a:latin typeface="Consolas"/>
              </a:rPr>
              <a:t>MONTH 6</a:t>
            </a:r>
          </a:p>
        </p:txBody>
      </p:sp>
      <p:sp>
        <p:nvSpPr>
          <p:cNvPr id="19" name="TextBox 18"/>
          <p:cNvSpPr txBox="1"/>
          <p:nvPr/>
        </p:nvSpPr>
        <p:spPr>
          <a:xfrm>
            <a:off x="658368" y="1984247"/>
            <a:ext cx="2697480" cy="201168"/>
          </a:xfrm>
          <a:prstGeom prst="rect">
            <a:avLst/>
          </a:prstGeom>
          <a:noFill/>
        </p:spPr>
        <p:txBody>
          <a:bodyPr wrap="square" lIns="0" rIns="0" tIns="0" bIns="0" anchor="t">
            <a:spAutoFit/>
          </a:bodyPr>
          <a:lstStyle/>
          <a:p>
            <a:pPr algn="l"/>
            <a:r>
              <a:rPr sz="900" b="1">
                <a:solidFill>
                  <a:srgbClr val="5C6675"/>
                </a:solidFill>
                <a:latin typeface="Consolas"/>
              </a:rPr>
              <a:t>WORKSTREAM</a:t>
            </a:r>
          </a:p>
        </p:txBody>
      </p:sp>
      <p:sp>
        <p:nvSpPr>
          <p:cNvPr id="20" name="Rectangle 19"/>
          <p:cNvSpPr/>
          <p:nvPr/>
        </p:nvSpPr>
        <p:spPr>
          <a:xfrm>
            <a:off x="658368" y="2285999"/>
            <a:ext cx="10874959" cy="265176"/>
          </a:xfrm>
          <a:prstGeom prst="rect">
            <a:avLst/>
          </a:prstGeom>
          <a:solidFill>
            <a:srgbClr val="EDF0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787646" y="2285999"/>
            <a:ext cx="14630" cy="265176"/>
          </a:xfrm>
          <a:prstGeom prst="rect">
            <a:avLst/>
          </a:prstGeom>
          <a:solidFill>
            <a:srgbClr val="D9D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35319" y="2285999"/>
            <a:ext cx="14630" cy="265176"/>
          </a:xfrm>
          <a:prstGeom prst="rect">
            <a:avLst/>
          </a:prstGeom>
          <a:solidFill>
            <a:srgbClr val="D9D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482992" y="2285999"/>
            <a:ext cx="14630" cy="265176"/>
          </a:xfrm>
          <a:prstGeom prst="rect">
            <a:avLst/>
          </a:prstGeom>
          <a:solidFill>
            <a:srgbClr val="D9D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830665" y="2285999"/>
            <a:ext cx="14630" cy="265176"/>
          </a:xfrm>
          <a:prstGeom prst="rect">
            <a:avLst/>
          </a:prstGeom>
          <a:solidFill>
            <a:srgbClr val="D9D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0178338" y="2285999"/>
            <a:ext cx="14630" cy="265176"/>
          </a:xfrm>
          <a:prstGeom prst="rect">
            <a:avLst/>
          </a:prstGeom>
          <a:solidFill>
            <a:srgbClr val="D9D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86384" y="2336291"/>
            <a:ext cx="2560320" cy="201168"/>
          </a:xfrm>
          <a:prstGeom prst="rect">
            <a:avLst/>
          </a:prstGeom>
          <a:noFill/>
        </p:spPr>
        <p:txBody>
          <a:bodyPr wrap="square" lIns="0" rIns="0" tIns="0" bIns="0" anchor="t">
            <a:spAutoFit/>
          </a:bodyPr>
          <a:lstStyle/>
          <a:p>
            <a:pPr algn="l"/>
            <a:r>
              <a:rPr sz="1050" b="0">
                <a:solidFill>
                  <a:srgbClr val="10131A"/>
                </a:solidFill>
                <a:latin typeface="Calibri"/>
              </a:rPr>
              <a:t>Foundations and app shells</a:t>
            </a:r>
          </a:p>
        </p:txBody>
      </p:sp>
      <p:sp>
        <p:nvSpPr>
          <p:cNvPr id="27" name="Rectangle 26"/>
          <p:cNvSpPr/>
          <p:nvPr/>
        </p:nvSpPr>
        <p:spPr>
          <a:xfrm>
            <a:off x="3483863" y="2327147"/>
            <a:ext cx="1247089" cy="182880"/>
          </a:xfrm>
          <a:prstGeom prst="rect">
            <a:avLst/>
          </a:prstGeom>
          <a:solidFill>
            <a:srgbClr val="2C3B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58368" y="2592323"/>
            <a:ext cx="10874959" cy="2651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787646" y="2592323"/>
            <a:ext cx="14630" cy="265176"/>
          </a:xfrm>
          <a:prstGeom prst="rect">
            <a:avLst/>
          </a:prstGeom>
          <a:solidFill>
            <a:srgbClr val="D9D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135319" y="2592323"/>
            <a:ext cx="14630" cy="265176"/>
          </a:xfrm>
          <a:prstGeom prst="rect">
            <a:avLst/>
          </a:prstGeom>
          <a:solidFill>
            <a:srgbClr val="D9D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482992" y="2592323"/>
            <a:ext cx="14630" cy="265176"/>
          </a:xfrm>
          <a:prstGeom prst="rect">
            <a:avLst/>
          </a:prstGeom>
          <a:solidFill>
            <a:srgbClr val="D9D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30665" y="2592323"/>
            <a:ext cx="14630" cy="265176"/>
          </a:xfrm>
          <a:prstGeom prst="rect">
            <a:avLst/>
          </a:prstGeom>
          <a:solidFill>
            <a:srgbClr val="D9D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0178338" y="2592323"/>
            <a:ext cx="14630" cy="265176"/>
          </a:xfrm>
          <a:prstGeom prst="rect">
            <a:avLst/>
          </a:prstGeom>
          <a:solidFill>
            <a:srgbClr val="D9D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86384" y="2642615"/>
            <a:ext cx="2560320" cy="201168"/>
          </a:xfrm>
          <a:prstGeom prst="rect">
            <a:avLst/>
          </a:prstGeom>
          <a:noFill/>
        </p:spPr>
        <p:txBody>
          <a:bodyPr wrap="square" lIns="0" rIns="0" tIns="0" bIns="0" anchor="t">
            <a:spAutoFit/>
          </a:bodyPr>
          <a:lstStyle/>
          <a:p>
            <a:pPr algn="l"/>
            <a:r>
              <a:rPr sz="1050" b="0">
                <a:solidFill>
                  <a:srgbClr val="10131A"/>
                </a:solidFill>
                <a:latin typeface="Calibri"/>
              </a:rPr>
              <a:t>Capture, media and the timeline</a:t>
            </a:r>
          </a:p>
        </p:txBody>
      </p:sp>
      <p:sp>
        <p:nvSpPr>
          <p:cNvPr id="35" name="Rectangle 34"/>
          <p:cNvSpPr/>
          <p:nvPr/>
        </p:nvSpPr>
        <p:spPr>
          <a:xfrm>
            <a:off x="4157700" y="2633471"/>
            <a:ext cx="3268599" cy="182880"/>
          </a:xfrm>
          <a:prstGeom prst="rect">
            <a:avLst/>
          </a:prstGeom>
          <a:solidFill>
            <a:srgbClr val="223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58368" y="2898647"/>
            <a:ext cx="10874959" cy="265176"/>
          </a:xfrm>
          <a:prstGeom prst="rect">
            <a:avLst/>
          </a:prstGeom>
          <a:solidFill>
            <a:srgbClr val="EDF0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787646" y="2898647"/>
            <a:ext cx="14630" cy="265176"/>
          </a:xfrm>
          <a:prstGeom prst="rect">
            <a:avLst/>
          </a:prstGeom>
          <a:solidFill>
            <a:srgbClr val="D9D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135319" y="2898647"/>
            <a:ext cx="14630" cy="265176"/>
          </a:xfrm>
          <a:prstGeom prst="rect">
            <a:avLst/>
          </a:prstGeom>
          <a:solidFill>
            <a:srgbClr val="D9D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7482992" y="2898647"/>
            <a:ext cx="14630" cy="265176"/>
          </a:xfrm>
          <a:prstGeom prst="rect">
            <a:avLst/>
          </a:prstGeom>
          <a:solidFill>
            <a:srgbClr val="D9D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830665" y="2898647"/>
            <a:ext cx="14630" cy="265176"/>
          </a:xfrm>
          <a:prstGeom prst="rect">
            <a:avLst/>
          </a:prstGeom>
          <a:solidFill>
            <a:srgbClr val="D9D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10178338" y="2898647"/>
            <a:ext cx="14630" cy="265176"/>
          </a:xfrm>
          <a:prstGeom prst="rect">
            <a:avLst/>
          </a:prstGeom>
          <a:solidFill>
            <a:srgbClr val="D9D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86384" y="2948939"/>
            <a:ext cx="2560320" cy="201168"/>
          </a:xfrm>
          <a:prstGeom prst="rect">
            <a:avLst/>
          </a:prstGeom>
          <a:noFill/>
        </p:spPr>
        <p:txBody>
          <a:bodyPr wrap="square" lIns="0" rIns="0" tIns="0" bIns="0" anchor="t">
            <a:spAutoFit/>
          </a:bodyPr>
          <a:lstStyle/>
          <a:p>
            <a:pPr algn="l"/>
            <a:r>
              <a:rPr sz="1050" b="0">
                <a:solidFill>
                  <a:srgbClr val="10131A"/>
                </a:solidFill>
                <a:latin typeface="Calibri"/>
              </a:rPr>
              <a:t>Capsules, sealing and delivery</a:t>
            </a:r>
          </a:p>
        </p:txBody>
      </p:sp>
      <p:sp>
        <p:nvSpPr>
          <p:cNvPr id="43" name="Rectangle 42"/>
          <p:cNvSpPr/>
          <p:nvPr/>
        </p:nvSpPr>
        <p:spPr>
          <a:xfrm>
            <a:off x="6179210" y="2939795"/>
            <a:ext cx="2594762" cy="182880"/>
          </a:xfrm>
          <a:prstGeom prst="rect">
            <a:avLst/>
          </a:prstGeom>
          <a:solidFill>
            <a:srgbClr val="223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58368" y="3204972"/>
            <a:ext cx="10874959" cy="2651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4787646" y="3204972"/>
            <a:ext cx="14630" cy="265176"/>
          </a:xfrm>
          <a:prstGeom prst="rect">
            <a:avLst/>
          </a:prstGeom>
          <a:solidFill>
            <a:srgbClr val="D9D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135319" y="3204972"/>
            <a:ext cx="14630" cy="265176"/>
          </a:xfrm>
          <a:prstGeom prst="rect">
            <a:avLst/>
          </a:prstGeom>
          <a:solidFill>
            <a:srgbClr val="D9D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7482992" y="3204972"/>
            <a:ext cx="14630" cy="265176"/>
          </a:xfrm>
          <a:prstGeom prst="rect">
            <a:avLst/>
          </a:prstGeom>
          <a:solidFill>
            <a:srgbClr val="D9D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8830665" y="3204972"/>
            <a:ext cx="14630" cy="265176"/>
          </a:xfrm>
          <a:prstGeom prst="rect">
            <a:avLst/>
          </a:prstGeom>
          <a:solidFill>
            <a:srgbClr val="D9D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0178338" y="3204972"/>
            <a:ext cx="14630" cy="265176"/>
          </a:xfrm>
          <a:prstGeom prst="rect">
            <a:avLst/>
          </a:prstGeom>
          <a:solidFill>
            <a:srgbClr val="D9D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86384" y="3255264"/>
            <a:ext cx="2560320" cy="201168"/>
          </a:xfrm>
          <a:prstGeom prst="rect">
            <a:avLst/>
          </a:prstGeom>
          <a:noFill/>
        </p:spPr>
        <p:txBody>
          <a:bodyPr wrap="square" lIns="0" rIns="0" tIns="0" bIns="0" anchor="t">
            <a:spAutoFit/>
          </a:bodyPr>
          <a:lstStyle/>
          <a:p>
            <a:pPr algn="l"/>
            <a:r>
              <a:rPr sz="1050" b="0">
                <a:solidFill>
                  <a:srgbClr val="10131A"/>
                </a:solidFill>
                <a:latin typeface="Calibri"/>
              </a:rPr>
              <a:t>Admin web panel</a:t>
            </a:r>
          </a:p>
        </p:txBody>
      </p:sp>
      <p:sp>
        <p:nvSpPr>
          <p:cNvPr id="51" name="Rectangle 50"/>
          <p:cNvSpPr/>
          <p:nvPr/>
        </p:nvSpPr>
        <p:spPr>
          <a:xfrm>
            <a:off x="4831537" y="3246120"/>
            <a:ext cx="4616272" cy="182880"/>
          </a:xfrm>
          <a:prstGeom prst="rect">
            <a:avLst/>
          </a:prstGeom>
          <a:solidFill>
            <a:srgbClr val="2C3B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658368" y="3511296"/>
            <a:ext cx="10874959" cy="265176"/>
          </a:xfrm>
          <a:prstGeom prst="rect">
            <a:avLst/>
          </a:prstGeom>
          <a:solidFill>
            <a:srgbClr val="EDF0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4787646" y="3511296"/>
            <a:ext cx="14630" cy="265176"/>
          </a:xfrm>
          <a:prstGeom prst="rect">
            <a:avLst/>
          </a:prstGeom>
          <a:solidFill>
            <a:srgbClr val="D9D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6135319" y="3511296"/>
            <a:ext cx="14630" cy="265176"/>
          </a:xfrm>
          <a:prstGeom prst="rect">
            <a:avLst/>
          </a:prstGeom>
          <a:solidFill>
            <a:srgbClr val="D9D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7482992" y="3511296"/>
            <a:ext cx="14630" cy="265176"/>
          </a:xfrm>
          <a:prstGeom prst="rect">
            <a:avLst/>
          </a:prstGeom>
          <a:solidFill>
            <a:srgbClr val="D9D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8830665" y="3511296"/>
            <a:ext cx="14630" cy="265176"/>
          </a:xfrm>
          <a:prstGeom prst="rect">
            <a:avLst/>
          </a:prstGeom>
          <a:solidFill>
            <a:srgbClr val="D9D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10178338" y="3511296"/>
            <a:ext cx="14630" cy="265176"/>
          </a:xfrm>
          <a:prstGeom prst="rect">
            <a:avLst/>
          </a:prstGeom>
          <a:solidFill>
            <a:srgbClr val="D9D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86384" y="3561588"/>
            <a:ext cx="2560320" cy="201168"/>
          </a:xfrm>
          <a:prstGeom prst="rect">
            <a:avLst/>
          </a:prstGeom>
          <a:noFill/>
        </p:spPr>
        <p:txBody>
          <a:bodyPr wrap="square" lIns="0" rIns="0" tIns="0" bIns="0" anchor="t">
            <a:spAutoFit/>
          </a:bodyPr>
          <a:lstStyle/>
          <a:p>
            <a:pPr algn="l"/>
            <a:r>
              <a:rPr sz="1050" b="0">
                <a:solidFill>
                  <a:srgbClr val="10131A"/>
                </a:solidFill>
                <a:latin typeface="Calibri"/>
              </a:rPr>
              <a:t>Plans, notifications and polish</a:t>
            </a:r>
          </a:p>
        </p:txBody>
      </p:sp>
      <p:sp>
        <p:nvSpPr>
          <p:cNvPr id="59" name="Rectangle 58"/>
          <p:cNvSpPr/>
          <p:nvPr/>
        </p:nvSpPr>
        <p:spPr>
          <a:xfrm>
            <a:off x="8200720" y="3552444"/>
            <a:ext cx="1920925" cy="182880"/>
          </a:xfrm>
          <a:prstGeom prst="rect">
            <a:avLst/>
          </a:prstGeom>
          <a:solidFill>
            <a:srgbClr val="223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658368" y="3817620"/>
            <a:ext cx="10874959" cy="2651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4787646" y="3817620"/>
            <a:ext cx="14630" cy="265176"/>
          </a:xfrm>
          <a:prstGeom prst="rect">
            <a:avLst/>
          </a:prstGeom>
          <a:solidFill>
            <a:srgbClr val="D9D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6135319" y="3817620"/>
            <a:ext cx="14630" cy="265176"/>
          </a:xfrm>
          <a:prstGeom prst="rect">
            <a:avLst/>
          </a:prstGeom>
          <a:solidFill>
            <a:srgbClr val="D9D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7482992" y="3817620"/>
            <a:ext cx="14630" cy="265176"/>
          </a:xfrm>
          <a:prstGeom prst="rect">
            <a:avLst/>
          </a:prstGeom>
          <a:solidFill>
            <a:srgbClr val="D9D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8830665" y="3817620"/>
            <a:ext cx="14630" cy="265176"/>
          </a:xfrm>
          <a:prstGeom prst="rect">
            <a:avLst/>
          </a:prstGeom>
          <a:solidFill>
            <a:srgbClr val="D9D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10178338" y="3817620"/>
            <a:ext cx="14630" cy="265176"/>
          </a:xfrm>
          <a:prstGeom prst="rect">
            <a:avLst/>
          </a:prstGeom>
          <a:solidFill>
            <a:srgbClr val="D9D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786384" y="3867911"/>
            <a:ext cx="2560320" cy="201168"/>
          </a:xfrm>
          <a:prstGeom prst="rect">
            <a:avLst/>
          </a:prstGeom>
          <a:noFill/>
        </p:spPr>
        <p:txBody>
          <a:bodyPr wrap="square" lIns="0" rIns="0" tIns="0" bIns="0" anchor="t">
            <a:spAutoFit/>
          </a:bodyPr>
          <a:lstStyle/>
          <a:p>
            <a:pPr algn="l"/>
            <a:r>
              <a:rPr sz="1050" b="0">
                <a:solidFill>
                  <a:srgbClr val="10131A"/>
                </a:solidFill>
                <a:latin typeface="Calibri"/>
              </a:rPr>
              <a:t>Hardening, beta and store review</a:t>
            </a:r>
          </a:p>
        </p:txBody>
      </p:sp>
      <p:sp>
        <p:nvSpPr>
          <p:cNvPr id="67" name="Rectangle 66"/>
          <p:cNvSpPr/>
          <p:nvPr/>
        </p:nvSpPr>
        <p:spPr>
          <a:xfrm>
            <a:off x="9548393" y="3858768"/>
            <a:ext cx="1920925" cy="182880"/>
          </a:xfrm>
          <a:prstGeom prst="rect">
            <a:avLst/>
          </a:prstGeom>
          <a:solidFill>
            <a:srgbClr val="FF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8" name="Table 67"/>
          <p:cNvGraphicFramePr>
            <a:graphicFrameLocks noGrp="1"/>
          </p:cNvGraphicFramePr>
          <p:nvPr/>
        </p:nvGraphicFramePr>
        <p:xfrm>
          <a:off x="658368" y="4306824"/>
          <a:ext cx="10872216" cy="1705356"/>
        </p:xfrm>
        <a:graphic>
          <a:graphicData uri="http://schemas.openxmlformats.org/drawingml/2006/table">
            <a:tbl>
              <a:tblPr>
                <a:tableStyleId>{5C22544A-7EE6-4342-B048-85BDC9FD1C3A}</a:tableStyleId>
              </a:tblPr>
              <a:tblGrid>
                <a:gridCol w="1234440"/>
                <a:gridCol w="6309360"/>
                <a:gridCol w="3328416"/>
              </a:tblGrid>
              <a:tr h="310896">
                <a:tc>
                  <a:txBody>
                    <a:bodyPr wrap="square"/>
                    <a:lstStyle/>
                    <a:p>
                      <a:pPr algn="l"/>
                      <a:r>
                        <a:rPr sz="950" b="1">
                          <a:solidFill>
                            <a:srgbClr val="FFFFFF"/>
                          </a:solidFill>
                          <a:latin typeface="Calibri"/>
                        </a:rPr>
                        <a:t>Ends</a:t>
                      </a:r>
                    </a:p>
                  </a:txBody>
                  <a:tcPr marL="82296" marR="82296" marT="18288" marB="18288" anchor="ctr">
                    <a:solidFill>
                      <a:srgbClr val="22304A"/>
                    </a:solidFill>
                  </a:tcPr>
                </a:tc>
                <a:tc>
                  <a:txBody>
                    <a:bodyPr wrap="square"/>
                    <a:lstStyle/>
                    <a:p>
                      <a:pPr algn="l"/>
                      <a:r>
                        <a:rPr sz="950" b="1">
                          <a:solidFill>
                            <a:srgbClr val="FFFFFF"/>
                          </a:solidFill>
                          <a:latin typeface="Calibri"/>
                        </a:rPr>
                        <a:t>The milestone</a:t>
                      </a:r>
                    </a:p>
                  </a:txBody>
                  <a:tcPr marL="82296" marR="82296" marT="18288" marB="18288" anchor="ctr">
                    <a:solidFill>
                      <a:srgbClr val="22304A"/>
                    </a:solidFill>
                  </a:tcPr>
                </a:tc>
                <a:tc>
                  <a:txBody>
                    <a:bodyPr wrap="square"/>
                    <a:lstStyle/>
                    <a:p>
                      <a:pPr algn="l"/>
                      <a:r>
                        <a:rPr sz="950" b="1">
                          <a:solidFill>
                            <a:srgbClr val="FFFFFF"/>
                          </a:solidFill>
                          <a:latin typeface="Calibri"/>
                        </a:rPr>
                        <a:t>What it proves</a:t>
                      </a:r>
                    </a:p>
                  </a:txBody>
                  <a:tcPr marL="82296" marR="82296" marT="18288" marB="18288" anchor="ctr">
                    <a:solidFill>
                      <a:srgbClr val="22304A"/>
                    </a:solidFill>
                  </a:tcPr>
                </a:tc>
              </a:tr>
              <a:tr h="278892">
                <a:tc>
                  <a:txBody>
                    <a:bodyPr wrap="square"/>
                    <a:lstStyle/>
                    <a:p>
                      <a:pPr algn="l"/>
                      <a:r>
                        <a:rPr sz="1050" b="1">
                          <a:solidFill>
                            <a:srgbClr val="10131A"/>
                          </a:solidFill>
                          <a:latin typeface="Calibri"/>
                        </a:rPr>
                        <a:t>Month 1</a:t>
                      </a:r>
                    </a:p>
                  </a:txBody>
                  <a:tcPr marL="82296" marR="82296" marT="18288" marB="18288" anchor="ctr">
                    <a:solidFill>
                      <a:srgbClr val="FFFFFF"/>
                    </a:solidFill>
                  </a:tcPr>
                </a:tc>
                <a:tc>
                  <a:txBody>
                    <a:bodyPr wrap="square"/>
                    <a:lstStyle/>
                    <a:p>
                      <a:pPr algn="l"/>
                      <a:r>
                        <a:rPr sz="1050" b="0">
                          <a:solidFill>
                            <a:srgbClr val="10131A"/>
                          </a:solidFill>
                          <a:latin typeface="Calibri"/>
                        </a:rPr>
                        <a:t>Both apps run on real devices, signed in against the live API</a:t>
                      </a:r>
                    </a:p>
                  </a:txBody>
                  <a:tcPr marL="82296" marR="82296" marT="18288" marB="18288" anchor="ctr">
                    <a:solidFill>
                      <a:srgbClr val="FFFFFF"/>
                    </a:solidFill>
                  </a:tcPr>
                </a:tc>
                <a:tc>
                  <a:txBody>
                    <a:bodyPr wrap="square"/>
                    <a:lstStyle/>
                    <a:p>
                      <a:pPr algn="l"/>
                      <a:r>
                        <a:rPr sz="1050" b="0">
                          <a:solidFill>
                            <a:srgbClr val="10131A"/>
                          </a:solidFill>
                          <a:latin typeface="Calibri"/>
                        </a:rPr>
                        <a:t>the foundations hold</a:t>
                      </a:r>
                    </a:p>
                  </a:txBody>
                  <a:tcPr marL="82296" marR="82296" marT="18288" marB="18288" anchor="ctr">
                    <a:solidFill>
                      <a:srgbClr val="FFFFFF"/>
                    </a:solidFill>
                  </a:tcPr>
                </a:tc>
              </a:tr>
              <a:tr h="278892">
                <a:tc>
                  <a:txBody>
                    <a:bodyPr wrap="square"/>
                    <a:lstStyle/>
                    <a:p>
                      <a:pPr algn="l"/>
                      <a:r>
                        <a:rPr sz="1050" b="1">
                          <a:solidFill>
                            <a:srgbClr val="10131A"/>
                          </a:solidFill>
                          <a:latin typeface="Calibri"/>
                        </a:rPr>
                        <a:t>Month 3</a:t>
                      </a:r>
                    </a:p>
                  </a:txBody>
                  <a:tcPr marL="82296" marR="82296" marT="18288" marB="18288" anchor="ctr">
                    <a:solidFill>
                      <a:srgbClr val="EDF0F5"/>
                    </a:solidFill>
                  </a:tcPr>
                </a:tc>
                <a:tc>
                  <a:txBody>
                    <a:bodyPr wrap="square"/>
                    <a:lstStyle/>
                    <a:p>
                      <a:pPr algn="l"/>
                      <a:r>
                        <a:rPr sz="1050" b="0">
                          <a:solidFill>
                            <a:srgbClr val="10131A"/>
                          </a:solidFill>
                          <a:latin typeface="Calibri"/>
                        </a:rPr>
                        <a:t>A memory captured on a phone appears on the timeline</a:t>
                      </a:r>
                    </a:p>
                  </a:txBody>
                  <a:tcPr marL="82296" marR="82296" marT="18288" marB="18288" anchor="ctr">
                    <a:solidFill>
                      <a:srgbClr val="EDF0F5"/>
                    </a:solidFill>
                  </a:tcPr>
                </a:tc>
                <a:tc>
                  <a:txBody>
                    <a:bodyPr wrap="square"/>
                    <a:lstStyle/>
                    <a:p>
                      <a:pPr algn="l"/>
                      <a:r>
                        <a:rPr sz="1050" b="0">
                          <a:solidFill>
                            <a:srgbClr val="10131A"/>
                          </a:solidFill>
                          <a:latin typeface="Calibri"/>
                        </a:rPr>
                        <a:t>the core loop works</a:t>
                      </a:r>
                    </a:p>
                  </a:txBody>
                  <a:tcPr marL="82296" marR="82296" marT="18288" marB="18288" anchor="ctr">
                    <a:solidFill>
                      <a:srgbClr val="EDF0F5"/>
                    </a:solidFill>
                  </a:tcPr>
                </a:tc>
              </a:tr>
              <a:tr h="278892">
                <a:tc>
                  <a:txBody>
                    <a:bodyPr wrap="square"/>
                    <a:lstStyle/>
                    <a:p>
                      <a:pPr algn="l"/>
                      <a:r>
                        <a:rPr sz="1050" b="1">
                          <a:solidFill>
                            <a:srgbClr val="10131A"/>
                          </a:solidFill>
                          <a:latin typeface="Calibri"/>
                        </a:rPr>
                        <a:t>Month 4</a:t>
                      </a:r>
                    </a:p>
                  </a:txBody>
                  <a:tcPr marL="82296" marR="82296" marT="18288" marB="18288" anchor="ctr">
                    <a:solidFill>
                      <a:srgbClr val="FFFFFF"/>
                    </a:solidFill>
                  </a:tcPr>
                </a:tc>
                <a:tc>
                  <a:txBody>
                    <a:bodyPr wrap="square"/>
                    <a:lstStyle/>
                    <a:p>
                      <a:pPr algn="l"/>
                      <a:r>
                        <a:rPr sz="1050" b="0">
                          <a:solidFill>
                            <a:srgbClr val="10131A"/>
                          </a:solidFill>
                          <a:latin typeface="Calibri"/>
                        </a:rPr>
                        <a:t>A capsule sealed on a phone is delivered on its date</a:t>
                      </a:r>
                    </a:p>
                  </a:txBody>
                  <a:tcPr marL="82296" marR="82296" marT="18288" marB="18288" anchor="ctr">
                    <a:solidFill>
                      <a:srgbClr val="FFFFFF"/>
                    </a:solidFill>
                  </a:tcPr>
                </a:tc>
                <a:tc>
                  <a:txBody>
                    <a:bodyPr wrap="square"/>
                    <a:lstStyle/>
                    <a:p>
                      <a:pPr algn="l"/>
                      <a:r>
                        <a:rPr sz="1050" b="0">
                          <a:solidFill>
                            <a:srgbClr val="10131A"/>
                          </a:solidFill>
                          <a:latin typeface="Calibri"/>
                        </a:rPr>
                        <a:t>the promise is real</a:t>
                      </a:r>
                    </a:p>
                  </a:txBody>
                  <a:tcPr marL="82296" marR="82296" marT="18288" marB="18288" anchor="ctr">
                    <a:solidFill>
                      <a:srgbClr val="FFFFFF"/>
                    </a:solidFill>
                  </a:tcPr>
                </a:tc>
              </a:tr>
              <a:tr h="278892">
                <a:tc>
                  <a:txBody>
                    <a:bodyPr wrap="square"/>
                    <a:lstStyle/>
                    <a:p>
                      <a:pPr algn="l"/>
                      <a:r>
                        <a:rPr sz="1050" b="1">
                          <a:solidFill>
                            <a:srgbClr val="10131A"/>
                          </a:solidFill>
                          <a:latin typeface="Calibri"/>
                        </a:rPr>
                        <a:t>Month 5</a:t>
                      </a:r>
                    </a:p>
                  </a:txBody>
                  <a:tcPr marL="82296" marR="82296" marT="18288" marB="18288" anchor="ctr">
                    <a:solidFill>
                      <a:srgbClr val="EDF0F5"/>
                    </a:solidFill>
                  </a:tcPr>
                </a:tc>
                <a:tc>
                  <a:txBody>
                    <a:bodyPr wrap="square"/>
                    <a:lstStyle/>
                    <a:p>
                      <a:pPr algn="l"/>
                      <a:r>
                        <a:rPr sz="1050" b="0">
                          <a:solidFill>
                            <a:srgbClr val="10131A"/>
                          </a:solidFill>
                          <a:latin typeface="Calibri"/>
                        </a:rPr>
                        <a:t>Feature complete — offline, accessibility, security review done</a:t>
                      </a:r>
                    </a:p>
                  </a:txBody>
                  <a:tcPr marL="82296" marR="82296" marT="18288" marB="18288" anchor="ctr">
                    <a:solidFill>
                      <a:srgbClr val="EDF0F5"/>
                    </a:solidFill>
                  </a:tcPr>
                </a:tc>
                <a:tc>
                  <a:txBody>
                    <a:bodyPr wrap="square"/>
                    <a:lstStyle/>
                    <a:p>
                      <a:pPr algn="l"/>
                      <a:r>
                        <a:rPr sz="1050" b="0">
                          <a:solidFill>
                            <a:srgbClr val="10131A"/>
                          </a:solidFill>
                          <a:latin typeface="Calibri"/>
                        </a:rPr>
                        <a:t>it is ready to be judged</a:t>
                      </a:r>
                    </a:p>
                  </a:txBody>
                  <a:tcPr marL="82296" marR="82296" marT="18288" marB="18288" anchor="ctr">
                    <a:solidFill>
                      <a:srgbClr val="EDF0F5"/>
                    </a:solidFill>
                  </a:tcPr>
                </a:tc>
              </a:tr>
              <a:tr h="278892">
                <a:tc>
                  <a:txBody>
                    <a:bodyPr wrap="square"/>
                    <a:lstStyle/>
                    <a:p>
                      <a:pPr algn="l"/>
                      <a:r>
                        <a:rPr sz="1050" b="1">
                          <a:solidFill>
                            <a:srgbClr val="10131A"/>
                          </a:solidFill>
                          <a:latin typeface="Calibri"/>
                        </a:rPr>
                        <a:t>Month 6</a:t>
                      </a:r>
                    </a:p>
                  </a:txBody>
                  <a:tcPr marL="82296" marR="82296" marT="18288" marB="18288" anchor="ctr">
                    <a:solidFill>
                      <a:srgbClr val="FFF0EE"/>
                    </a:solidFill>
                  </a:tcPr>
                </a:tc>
                <a:tc>
                  <a:txBody>
                    <a:bodyPr wrap="square"/>
                    <a:lstStyle/>
                    <a:p>
                      <a:pPr algn="l"/>
                      <a:r>
                        <a:rPr sz="1050" b="0">
                          <a:solidFill>
                            <a:srgbClr val="10131A"/>
                          </a:solidFill>
                          <a:latin typeface="Calibri"/>
                        </a:rPr>
                        <a:t>Live in the App Store and Google Play</a:t>
                      </a:r>
                    </a:p>
                  </a:txBody>
                  <a:tcPr marL="82296" marR="82296" marT="18288" marB="18288" anchor="ctr">
                    <a:solidFill>
                      <a:srgbClr val="FFF0EE"/>
                    </a:solidFill>
                  </a:tcPr>
                </a:tc>
                <a:tc>
                  <a:txBody>
                    <a:bodyPr wrap="square"/>
                    <a:lstStyle/>
                    <a:p>
                      <a:pPr algn="l"/>
                      <a:r>
                        <a:rPr sz="1050" b="0">
                          <a:solidFill>
                            <a:srgbClr val="10131A"/>
                          </a:solidFill>
                          <a:latin typeface="Calibri"/>
                        </a:rPr>
                        <a:t>we have launched</a:t>
                      </a:r>
                    </a:p>
                  </a:txBody>
                  <a:tcPr marL="82296" marR="82296" marT="18288" marB="18288" anchor="ctr">
                    <a:solidFill>
                      <a:srgbClr val="FFF0EE"/>
                    </a:solidFill>
                  </a:tcPr>
                </a:tc>
              </a:tr>
            </a:tbl>
          </a:graphicData>
        </a:graphic>
      </p:graphicFrame>
      <p:sp>
        <p:nvSpPr>
          <p:cNvPr id="69" name="TextBox 68"/>
          <p:cNvSpPr txBox="1"/>
          <p:nvPr/>
        </p:nvSpPr>
        <p:spPr>
          <a:xfrm>
            <a:off x="658368" y="6419088"/>
            <a:ext cx="8699967" cy="201168"/>
          </a:xfrm>
          <a:prstGeom prst="rect">
            <a:avLst/>
          </a:prstGeom>
          <a:noFill/>
        </p:spPr>
        <p:txBody>
          <a:bodyPr wrap="square" lIns="0" rIns="0" tIns="0" bIns="0" anchor="t">
            <a:spAutoFit/>
          </a:bodyPr>
          <a:lstStyle/>
          <a:p>
            <a:pPr algn="l"/>
            <a:r>
              <a:rPr sz="950" b="0">
                <a:solidFill>
                  <a:srgbClr val="5C6675"/>
                </a:solidFill>
                <a:latin typeface="Consolas"/>
              </a:rPr>
              <a:t>Delivery estimate · six months</a:t>
            </a:r>
          </a:p>
        </p:txBody>
      </p:sp>
      <p:sp>
        <p:nvSpPr>
          <p:cNvPr id="70" name="TextBox 69"/>
          <p:cNvSpPr txBox="1"/>
          <p:nvPr/>
        </p:nvSpPr>
        <p:spPr>
          <a:xfrm>
            <a:off x="10618927" y="6419088"/>
            <a:ext cx="914400" cy="201168"/>
          </a:xfrm>
          <a:prstGeom prst="rect">
            <a:avLst/>
          </a:prstGeom>
          <a:noFill/>
        </p:spPr>
        <p:txBody>
          <a:bodyPr wrap="square" lIns="0" rIns="0" tIns="0" bIns="0" anchor="t">
            <a:spAutoFit/>
          </a:bodyPr>
          <a:lstStyle/>
          <a:p>
            <a:pPr algn="r"/>
            <a:r>
              <a:rPr sz="950" b="0">
                <a:solidFill>
                  <a:srgbClr val="5C6675"/>
                </a:solidFill>
                <a:latin typeface="Consolas"/>
              </a:rPr>
              <a:t>11 / 16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pic>
        <p:nvPicPr>
          <p:cNvPr id="2" name="Picture 1" descr="NFCLogo.png"/>
          <p:cNvPicPr>
            <a:picLocks noChangeAspect="1"/>
          </p:cNvPicPr>
          <p:nvPr/>
        </p:nvPicPr>
        <p:blipFill>
          <a:blip r:embed="rId2"/>
          <a:stretch>
            <a:fillRect/>
          </a:stretch>
        </p:blipFill>
        <p:spPr>
          <a:xfrm>
            <a:off x="11206068" y="274320"/>
            <a:ext cx="327259" cy="365760"/>
          </a:xfrm>
          <a:prstGeom prst="rect">
            <a:avLst/>
          </a:prstGeom>
        </p:spPr>
      </p:pic>
      <p:sp>
        <p:nvSpPr>
          <p:cNvPr id="3" name="TextBox 2"/>
          <p:cNvSpPr txBox="1"/>
          <p:nvPr/>
        </p:nvSpPr>
        <p:spPr>
          <a:xfrm>
            <a:off x="658368" y="402336"/>
            <a:ext cx="10874959" cy="219456"/>
          </a:xfrm>
          <a:prstGeom prst="rect">
            <a:avLst/>
          </a:prstGeom>
          <a:noFill/>
        </p:spPr>
        <p:txBody>
          <a:bodyPr wrap="square" lIns="0" rIns="0" tIns="0" bIns="0" anchor="t">
            <a:spAutoFit/>
          </a:bodyPr>
          <a:lstStyle/>
          <a:p>
            <a:pPr algn="l"/>
            <a:r>
              <a:rPr sz="1050" b="1">
                <a:solidFill>
                  <a:srgbClr val="AF3327"/>
                </a:solidFill>
                <a:latin typeface="Consolas"/>
              </a:rPr>
              <a:t>WHAT THE SIX MONTHS DELIVERS</a:t>
            </a:r>
          </a:p>
        </p:txBody>
      </p:sp>
      <p:sp>
        <p:nvSpPr>
          <p:cNvPr id="4" name="TextBox 3"/>
          <p:cNvSpPr txBox="1"/>
          <p:nvPr/>
        </p:nvSpPr>
        <p:spPr>
          <a:xfrm>
            <a:off x="658368" y="676656"/>
            <a:ext cx="10874959" cy="566928"/>
          </a:xfrm>
          <a:prstGeom prst="rect">
            <a:avLst/>
          </a:prstGeom>
          <a:noFill/>
        </p:spPr>
        <p:txBody>
          <a:bodyPr wrap="square" lIns="0" rIns="0" tIns="0" bIns="0" anchor="t">
            <a:spAutoFit/>
          </a:bodyPr>
          <a:lstStyle/>
          <a:p>
            <a:pPr algn="l">
              <a:lnSpc>
                <a:spcPct val="102000"/>
              </a:lnSpc>
            </a:pPr>
            <a:r>
              <a:rPr sz="2600" b="0">
                <a:solidFill>
                  <a:srgbClr val="10131A"/>
                </a:solidFill>
                <a:latin typeface="Georgia"/>
              </a:rPr>
              <a:t>Two apps and one panel — no browser product</a:t>
            </a:r>
          </a:p>
        </p:txBody>
      </p:sp>
      <p:sp>
        <p:nvSpPr>
          <p:cNvPr id="5" name="TextBox 4"/>
          <p:cNvSpPr txBox="1"/>
          <p:nvPr/>
        </p:nvSpPr>
        <p:spPr>
          <a:xfrm>
            <a:off x="658368" y="1280160"/>
            <a:ext cx="9787463" cy="384048"/>
          </a:xfrm>
          <a:prstGeom prst="rect">
            <a:avLst/>
          </a:prstGeom>
          <a:noFill/>
        </p:spPr>
        <p:txBody>
          <a:bodyPr wrap="square" lIns="0" rIns="0" tIns="0" bIns="0" anchor="t">
            <a:spAutoFit/>
          </a:bodyPr>
          <a:lstStyle/>
          <a:p>
            <a:pPr algn="l">
              <a:lnSpc>
                <a:spcPct val="124000"/>
              </a:lnSpc>
            </a:pPr>
            <a:r>
              <a:rPr sz="1250" b="0">
                <a:solidFill>
                  <a:srgbClr val="5C6675"/>
                </a:solidFill>
                <a:latin typeface="Calibri"/>
              </a:rPr>
              <a:t>The decision is native mobile only. Everything a family touches is in the apps; everything we operate is in the admin panel on the web.</a:t>
            </a:r>
          </a:p>
        </p:txBody>
      </p:sp>
      <p:sp>
        <p:nvSpPr>
          <p:cNvPr id="6" name="Rectangle 5"/>
          <p:cNvSpPr/>
          <p:nvPr/>
        </p:nvSpPr>
        <p:spPr>
          <a:xfrm>
            <a:off x="658368" y="1719072"/>
            <a:ext cx="822960" cy="32004"/>
          </a:xfrm>
          <a:prstGeom prst="rect">
            <a:avLst/>
          </a:prstGeom>
          <a:solidFill>
            <a:srgbClr val="FF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920239"/>
            <a:ext cx="5291175" cy="2359152"/>
          </a:xfrm>
          <a:prstGeom prst="rect">
            <a:avLst/>
          </a:prstGeom>
          <a:solidFill>
            <a:srgbClr val="FFFFFF"/>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920239"/>
            <a:ext cx="5291175" cy="420624"/>
          </a:xfrm>
          <a:prstGeom prst="rect">
            <a:avLst/>
          </a:prstGeom>
          <a:solidFill>
            <a:srgbClr val="223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7" y="2020823"/>
            <a:ext cx="4888839" cy="237744"/>
          </a:xfrm>
          <a:prstGeom prst="rect">
            <a:avLst/>
          </a:prstGeom>
          <a:noFill/>
        </p:spPr>
        <p:txBody>
          <a:bodyPr wrap="square" lIns="0" rIns="0" tIns="0" bIns="0" anchor="t">
            <a:spAutoFit/>
          </a:bodyPr>
          <a:lstStyle/>
          <a:p>
            <a:pPr algn="l"/>
            <a:r>
              <a:rPr sz="1000" b="1">
                <a:solidFill>
                  <a:srgbClr val="FFFFFF"/>
                </a:solidFill>
                <a:latin typeface="Consolas"/>
              </a:rPr>
              <a:t>iOS AND ANDROID APPS</a:t>
            </a:r>
          </a:p>
        </p:txBody>
      </p:sp>
      <p:sp>
        <p:nvSpPr>
          <p:cNvPr id="10" name="Rectangle 9"/>
          <p:cNvSpPr/>
          <p:nvPr/>
        </p:nvSpPr>
        <p:spPr>
          <a:xfrm>
            <a:off x="841247" y="2532887"/>
            <a:ext cx="25603" cy="210312"/>
          </a:xfrm>
          <a:prstGeom prst="rect">
            <a:avLst/>
          </a:prstGeom>
          <a:solidFill>
            <a:srgbClr val="FF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9264" y="2487168"/>
            <a:ext cx="4742535" cy="192024"/>
          </a:xfrm>
          <a:prstGeom prst="rect">
            <a:avLst/>
          </a:prstGeom>
          <a:noFill/>
        </p:spPr>
        <p:txBody>
          <a:bodyPr wrap="square" lIns="0" rIns="0" tIns="0" bIns="0" anchor="t">
            <a:spAutoFit/>
          </a:bodyPr>
          <a:lstStyle/>
          <a:p>
            <a:pPr algn="l"/>
            <a:r>
              <a:rPr sz="1050" b="1">
                <a:solidFill>
                  <a:srgbClr val="10131A"/>
                </a:solidFill>
                <a:latin typeface="Calibri"/>
              </a:rPr>
              <a:t>Joining a vault</a:t>
            </a:r>
          </a:p>
        </p:txBody>
      </p:sp>
      <p:sp>
        <p:nvSpPr>
          <p:cNvPr id="12" name="TextBox 11"/>
          <p:cNvSpPr txBox="1"/>
          <p:nvPr/>
        </p:nvSpPr>
        <p:spPr>
          <a:xfrm>
            <a:off x="969264" y="2665475"/>
            <a:ext cx="4742535" cy="182880"/>
          </a:xfrm>
          <a:prstGeom prst="rect">
            <a:avLst/>
          </a:prstGeom>
          <a:noFill/>
        </p:spPr>
        <p:txBody>
          <a:bodyPr wrap="square" lIns="0" rIns="0" tIns="0" bIns="0" anchor="t">
            <a:spAutoFit/>
          </a:bodyPr>
          <a:lstStyle/>
          <a:p>
            <a:pPr algn="l"/>
            <a:r>
              <a:rPr sz="950" b="0">
                <a:solidFill>
                  <a:srgbClr val="5C6675"/>
                </a:solidFill>
                <a:latin typeface="Calibri"/>
              </a:rPr>
              <a:t>invitations, membership and roles</a:t>
            </a:r>
          </a:p>
        </p:txBody>
      </p:sp>
      <p:sp>
        <p:nvSpPr>
          <p:cNvPr id="13" name="Rectangle 12"/>
          <p:cNvSpPr/>
          <p:nvPr/>
        </p:nvSpPr>
        <p:spPr>
          <a:xfrm>
            <a:off x="841247" y="2884931"/>
            <a:ext cx="25603" cy="210312"/>
          </a:xfrm>
          <a:prstGeom prst="rect">
            <a:avLst/>
          </a:prstGeom>
          <a:solidFill>
            <a:srgbClr val="FF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2839211"/>
            <a:ext cx="4742535" cy="192024"/>
          </a:xfrm>
          <a:prstGeom prst="rect">
            <a:avLst/>
          </a:prstGeom>
          <a:noFill/>
        </p:spPr>
        <p:txBody>
          <a:bodyPr wrap="square" lIns="0" rIns="0" tIns="0" bIns="0" anchor="t">
            <a:spAutoFit/>
          </a:bodyPr>
          <a:lstStyle/>
          <a:p>
            <a:pPr algn="l"/>
            <a:r>
              <a:rPr sz="1050" b="1">
                <a:solidFill>
                  <a:srgbClr val="10131A"/>
                </a:solidFill>
                <a:latin typeface="Calibri"/>
              </a:rPr>
              <a:t>Capture</a:t>
            </a:r>
          </a:p>
        </p:txBody>
      </p:sp>
      <p:sp>
        <p:nvSpPr>
          <p:cNvPr id="15" name="TextBox 14"/>
          <p:cNvSpPr txBox="1"/>
          <p:nvPr/>
        </p:nvSpPr>
        <p:spPr>
          <a:xfrm>
            <a:off x="969264" y="3017519"/>
            <a:ext cx="4742535" cy="182880"/>
          </a:xfrm>
          <a:prstGeom prst="rect">
            <a:avLst/>
          </a:prstGeom>
          <a:noFill/>
        </p:spPr>
        <p:txBody>
          <a:bodyPr wrap="square" lIns="0" rIns="0" tIns="0" bIns="0" anchor="t">
            <a:spAutoFit/>
          </a:bodyPr>
          <a:lstStyle/>
          <a:p>
            <a:pPr algn="l"/>
            <a:r>
              <a:rPr sz="950" b="0">
                <a:solidFill>
                  <a:srgbClr val="5C6675"/>
                </a:solidFill>
                <a:latin typeface="Calibri"/>
              </a:rPr>
              <a:t>photos, video and voice notes, queued when offline</a:t>
            </a:r>
          </a:p>
        </p:txBody>
      </p:sp>
      <p:sp>
        <p:nvSpPr>
          <p:cNvPr id="16" name="Rectangle 15"/>
          <p:cNvSpPr/>
          <p:nvPr/>
        </p:nvSpPr>
        <p:spPr>
          <a:xfrm>
            <a:off x="841247" y="3236975"/>
            <a:ext cx="25603" cy="210312"/>
          </a:xfrm>
          <a:prstGeom prst="rect">
            <a:avLst/>
          </a:prstGeom>
          <a:solidFill>
            <a:srgbClr val="FF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191256"/>
            <a:ext cx="4742535" cy="192024"/>
          </a:xfrm>
          <a:prstGeom prst="rect">
            <a:avLst/>
          </a:prstGeom>
          <a:noFill/>
        </p:spPr>
        <p:txBody>
          <a:bodyPr wrap="square" lIns="0" rIns="0" tIns="0" bIns="0" anchor="t">
            <a:spAutoFit/>
          </a:bodyPr>
          <a:lstStyle/>
          <a:p>
            <a:pPr algn="l"/>
            <a:r>
              <a:rPr sz="1050" b="1">
                <a:solidFill>
                  <a:srgbClr val="10131A"/>
                </a:solidFill>
                <a:latin typeface="Calibri"/>
              </a:rPr>
              <a:t>The timeline</a:t>
            </a:r>
          </a:p>
        </p:txBody>
      </p:sp>
      <p:sp>
        <p:nvSpPr>
          <p:cNvPr id="18" name="TextBox 17"/>
          <p:cNvSpPr txBox="1"/>
          <p:nvPr/>
        </p:nvSpPr>
        <p:spPr>
          <a:xfrm>
            <a:off x="969264" y="3369563"/>
            <a:ext cx="4742535" cy="182880"/>
          </a:xfrm>
          <a:prstGeom prst="rect">
            <a:avLst/>
          </a:prstGeom>
          <a:noFill/>
        </p:spPr>
        <p:txBody>
          <a:bodyPr wrap="square" lIns="0" rIns="0" tIns="0" bIns="0" anchor="t">
            <a:spAutoFit/>
          </a:bodyPr>
          <a:lstStyle/>
          <a:p>
            <a:pPr algn="l"/>
            <a:r>
              <a:rPr sz="950" b="0">
                <a:solidFill>
                  <a:srgbClr val="5C6675"/>
                </a:solidFill>
                <a:latin typeface="Calibri"/>
              </a:rPr>
              <a:t>browse and search, exact or approximate dates</a:t>
            </a:r>
          </a:p>
        </p:txBody>
      </p:sp>
      <p:sp>
        <p:nvSpPr>
          <p:cNvPr id="19" name="Rectangle 18"/>
          <p:cNvSpPr/>
          <p:nvPr/>
        </p:nvSpPr>
        <p:spPr>
          <a:xfrm>
            <a:off x="841247" y="3589020"/>
            <a:ext cx="25603" cy="210312"/>
          </a:xfrm>
          <a:prstGeom prst="rect">
            <a:avLst/>
          </a:prstGeom>
          <a:solidFill>
            <a:srgbClr val="FF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3543300"/>
            <a:ext cx="4742535" cy="192024"/>
          </a:xfrm>
          <a:prstGeom prst="rect">
            <a:avLst/>
          </a:prstGeom>
          <a:noFill/>
        </p:spPr>
        <p:txBody>
          <a:bodyPr wrap="square" lIns="0" rIns="0" tIns="0" bIns="0" anchor="t">
            <a:spAutoFit/>
          </a:bodyPr>
          <a:lstStyle/>
          <a:p>
            <a:pPr algn="l"/>
            <a:r>
              <a:rPr sz="1050" b="1">
                <a:solidFill>
                  <a:srgbClr val="10131A"/>
                </a:solidFill>
                <a:latin typeface="Calibri"/>
              </a:rPr>
              <a:t>Capsules</a:t>
            </a:r>
          </a:p>
        </p:txBody>
      </p:sp>
      <p:sp>
        <p:nvSpPr>
          <p:cNvPr id="21" name="TextBox 20"/>
          <p:cNvSpPr txBox="1"/>
          <p:nvPr/>
        </p:nvSpPr>
        <p:spPr>
          <a:xfrm>
            <a:off x="969264" y="3721608"/>
            <a:ext cx="4742535" cy="182880"/>
          </a:xfrm>
          <a:prstGeom prst="rect">
            <a:avLst/>
          </a:prstGeom>
          <a:noFill/>
        </p:spPr>
        <p:txBody>
          <a:bodyPr wrap="square" lIns="0" rIns="0" tIns="0" bIns="0" anchor="t">
            <a:spAutoFit/>
          </a:bodyPr>
          <a:lstStyle/>
          <a:p>
            <a:pPr algn="l"/>
            <a:r>
              <a:rPr sz="950" b="0">
                <a:solidFill>
                  <a:srgbClr val="5C6675"/>
                </a:solidFill>
                <a:latin typeface="Calibri"/>
              </a:rPr>
              <a:t>write, seal, and set the date it opens</a:t>
            </a:r>
          </a:p>
        </p:txBody>
      </p:sp>
      <p:sp>
        <p:nvSpPr>
          <p:cNvPr id="22" name="Rectangle 21"/>
          <p:cNvSpPr/>
          <p:nvPr/>
        </p:nvSpPr>
        <p:spPr>
          <a:xfrm>
            <a:off x="841247" y="3941063"/>
            <a:ext cx="25603" cy="210312"/>
          </a:xfrm>
          <a:prstGeom prst="rect">
            <a:avLst/>
          </a:prstGeom>
          <a:solidFill>
            <a:srgbClr val="FF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69264" y="3895344"/>
            <a:ext cx="4742535" cy="192024"/>
          </a:xfrm>
          <a:prstGeom prst="rect">
            <a:avLst/>
          </a:prstGeom>
          <a:noFill/>
        </p:spPr>
        <p:txBody>
          <a:bodyPr wrap="square" lIns="0" rIns="0" tIns="0" bIns="0" anchor="t">
            <a:spAutoFit/>
          </a:bodyPr>
          <a:lstStyle/>
          <a:p>
            <a:pPr algn="l"/>
            <a:r>
              <a:rPr sz="1050" b="1">
                <a:solidFill>
                  <a:srgbClr val="10131A"/>
                </a:solidFill>
                <a:latin typeface="Calibri"/>
              </a:rPr>
              <a:t>Receiving</a:t>
            </a:r>
          </a:p>
        </p:txBody>
      </p:sp>
      <p:sp>
        <p:nvSpPr>
          <p:cNvPr id="24" name="TextBox 23"/>
          <p:cNvSpPr txBox="1"/>
          <p:nvPr/>
        </p:nvSpPr>
        <p:spPr>
          <a:xfrm>
            <a:off x="969264" y="4073652"/>
            <a:ext cx="4742535" cy="182880"/>
          </a:xfrm>
          <a:prstGeom prst="rect">
            <a:avLst/>
          </a:prstGeom>
          <a:noFill/>
        </p:spPr>
        <p:txBody>
          <a:bodyPr wrap="square" lIns="0" rIns="0" tIns="0" bIns="0" anchor="t">
            <a:spAutoFit/>
          </a:bodyPr>
          <a:lstStyle/>
          <a:p>
            <a:pPr algn="l"/>
            <a:r>
              <a:rPr sz="950" b="0">
                <a:solidFill>
                  <a:srgbClr val="5C6675"/>
                </a:solidFill>
                <a:latin typeface="Calibri"/>
              </a:rPr>
              <a:t>open a delivered capsule from a link that lasts</a:t>
            </a:r>
          </a:p>
        </p:txBody>
      </p:sp>
      <p:sp>
        <p:nvSpPr>
          <p:cNvPr id="25" name="Rectangle 24"/>
          <p:cNvSpPr/>
          <p:nvPr/>
        </p:nvSpPr>
        <p:spPr>
          <a:xfrm>
            <a:off x="6242151" y="1920239"/>
            <a:ext cx="5291175" cy="2359152"/>
          </a:xfrm>
          <a:prstGeom prst="rect">
            <a:avLst/>
          </a:prstGeom>
          <a:solidFill>
            <a:srgbClr val="FFFFFF"/>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42151" y="1920239"/>
            <a:ext cx="5291175" cy="420624"/>
          </a:xfrm>
          <a:prstGeom prst="rect">
            <a:avLst/>
          </a:prstGeom>
          <a:solidFill>
            <a:srgbClr val="2C3B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25031" y="2020823"/>
            <a:ext cx="4888839" cy="237744"/>
          </a:xfrm>
          <a:prstGeom prst="rect">
            <a:avLst/>
          </a:prstGeom>
          <a:noFill/>
        </p:spPr>
        <p:txBody>
          <a:bodyPr wrap="square" lIns="0" rIns="0" tIns="0" bIns="0" anchor="t">
            <a:spAutoFit/>
          </a:bodyPr>
          <a:lstStyle/>
          <a:p>
            <a:pPr algn="l"/>
            <a:r>
              <a:rPr sz="1000" b="1">
                <a:solidFill>
                  <a:srgbClr val="FFFFFF"/>
                </a:solidFill>
                <a:latin typeface="Consolas"/>
              </a:rPr>
              <a:t>ADMIN WEB PANEL</a:t>
            </a:r>
          </a:p>
        </p:txBody>
      </p:sp>
      <p:sp>
        <p:nvSpPr>
          <p:cNvPr id="28" name="Rectangle 27"/>
          <p:cNvSpPr/>
          <p:nvPr/>
        </p:nvSpPr>
        <p:spPr>
          <a:xfrm>
            <a:off x="6425031" y="2532887"/>
            <a:ext cx="25603" cy="210312"/>
          </a:xfrm>
          <a:prstGeom prst="rect">
            <a:avLst/>
          </a:prstGeom>
          <a:solidFill>
            <a:srgbClr val="223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53047" y="2487168"/>
            <a:ext cx="4742535" cy="192024"/>
          </a:xfrm>
          <a:prstGeom prst="rect">
            <a:avLst/>
          </a:prstGeom>
          <a:noFill/>
        </p:spPr>
        <p:txBody>
          <a:bodyPr wrap="square" lIns="0" rIns="0" tIns="0" bIns="0" anchor="t">
            <a:spAutoFit/>
          </a:bodyPr>
          <a:lstStyle/>
          <a:p>
            <a:pPr algn="l"/>
            <a:r>
              <a:rPr sz="1050" b="1">
                <a:solidFill>
                  <a:srgbClr val="10131A"/>
                </a:solidFill>
                <a:latin typeface="Calibri"/>
              </a:rPr>
              <a:t>Accounts and vaults</a:t>
            </a:r>
          </a:p>
        </p:txBody>
      </p:sp>
      <p:sp>
        <p:nvSpPr>
          <p:cNvPr id="30" name="TextBox 29"/>
          <p:cNvSpPr txBox="1"/>
          <p:nvPr/>
        </p:nvSpPr>
        <p:spPr>
          <a:xfrm>
            <a:off x="6553047" y="2665475"/>
            <a:ext cx="4742535" cy="182880"/>
          </a:xfrm>
          <a:prstGeom prst="rect">
            <a:avLst/>
          </a:prstGeom>
          <a:noFill/>
        </p:spPr>
        <p:txBody>
          <a:bodyPr wrap="square" lIns="0" rIns="0" tIns="0" bIns="0" anchor="t">
            <a:spAutoFit/>
          </a:bodyPr>
          <a:lstStyle/>
          <a:p>
            <a:pPr algn="l"/>
            <a:r>
              <a:rPr sz="950" b="0">
                <a:solidFill>
                  <a:srgbClr val="5C6675"/>
                </a:solidFill>
                <a:latin typeface="Calibri"/>
              </a:rPr>
              <a:t>look up, assist, and act on a request</a:t>
            </a:r>
          </a:p>
        </p:txBody>
      </p:sp>
      <p:sp>
        <p:nvSpPr>
          <p:cNvPr id="31" name="Rectangle 30"/>
          <p:cNvSpPr/>
          <p:nvPr/>
        </p:nvSpPr>
        <p:spPr>
          <a:xfrm>
            <a:off x="6425031" y="2884931"/>
            <a:ext cx="25603" cy="210312"/>
          </a:xfrm>
          <a:prstGeom prst="rect">
            <a:avLst/>
          </a:prstGeom>
          <a:solidFill>
            <a:srgbClr val="223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53047" y="2839211"/>
            <a:ext cx="4742535" cy="192024"/>
          </a:xfrm>
          <a:prstGeom prst="rect">
            <a:avLst/>
          </a:prstGeom>
          <a:noFill/>
        </p:spPr>
        <p:txBody>
          <a:bodyPr wrap="square" lIns="0" rIns="0" tIns="0" bIns="0" anchor="t">
            <a:spAutoFit/>
          </a:bodyPr>
          <a:lstStyle/>
          <a:p>
            <a:pPr algn="l"/>
            <a:r>
              <a:rPr sz="1050" b="1">
                <a:solidFill>
                  <a:srgbClr val="10131A"/>
                </a:solidFill>
                <a:latin typeface="Calibri"/>
              </a:rPr>
              <a:t>Delivery watch</a:t>
            </a:r>
          </a:p>
        </p:txBody>
      </p:sp>
      <p:sp>
        <p:nvSpPr>
          <p:cNvPr id="33" name="TextBox 32"/>
          <p:cNvSpPr txBox="1"/>
          <p:nvPr/>
        </p:nvSpPr>
        <p:spPr>
          <a:xfrm>
            <a:off x="6553047" y="3017519"/>
            <a:ext cx="4742535" cy="182880"/>
          </a:xfrm>
          <a:prstGeom prst="rect">
            <a:avLst/>
          </a:prstGeom>
          <a:noFill/>
        </p:spPr>
        <p:txBody>
          <a:bodyPr wrap="square" lIns="0" rIns="0" tIns="0" bIns="0" anchor="t">
            <a:spAutoFit/>
          </a:bodyPr>
          <a:lstStyle/>
          <a:p>
            <a:pPr algn="l"/>
            <a:r>
              <a:rPr sz="950" b="0">
                <a:solidFill>
                  <a:srgbClr val="5C6675"/>
                </a:solidFill>
                <a:latin typeface="Calibri"/>
              </a:rPr>
              <a:t>what is scheduled, delivering, or has failed</a:t>
            </a:r>
          </a:p>
        </p:txBody>
      </p:sp>
      <p:sp>
        <p:nvSpPr>
          <p:cNvPr id="34" name="Rectangle 33"/>
          <p:cNvSpPr/>
          <p:nvPr/>
        </p:nvSpPr>
        <p:spPr>
          <a:xfrm>
            <a:off x="6425031" y="3236975"/>
            <a:ext cx="25603" cy="210312"/>
          </a:xfrm>
          <a:prstGeom prst="rect">
            <a:avLst/>
          </a:prstGeom>
          <a:solidFill>
            <a:srgbClr val="223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53047" y="3191256"/>
            <a:ext cx="4742535" cy="192024"/>
          </a:xfrm>
          <a:prstGeom prst="rect">
            <a:avLst/>
          </a:prstGeom>
          <a:noFill/>
        </p:spPr>
        <p:txBody>
          <a:bodyPr wrap="square" lIns="0" rIns="0" tIns="0" bIns="0" anchor="t">
            <a:spAutoFit/>
          </a:bodyPr>
          <a:lstStyle/>
          <a:p>
            <a:pPr algn="l"/>
            <a:r>
              <a:rPr sz="1050" b="1">
                <a:solidFill>
                  <a:srgbClr val="10131A"/>
                </a:solidFill>
                <a:latin typeface="Calibri"/>
              </a:rPr>
              <a:t>Reports queue</a:t>
            </a:r>
          </a:p>
        </p:txBody>
      </p:sp>
      <p:sp>
        <p:nvSpPr>
          <p:cNvPr id="36" name="TextBox 35"/>
          <p:cNvSpPr txBox="1"/>
          <p:nvPr/>
        </p:nvSpPr>
        <p:spPr>
          <a:xfrm>
            <a:off x="6553047" y="3369563"/>
            <a:ext cx="4742535" cy="182880"/>
          </a:xfrm>
          <a:prstGeom prst="rect">
            <a:avLst/>
          </a:prstGeom>
          <a:noFill/>
        </p:spPr>
        <p:txBody>
          <a:bodyPr wrap="square" lIns="0" rIns="0" tIns="0" bIns="0" anchor="t">
            <a:spAutoFit/>
          </a:bodyPr>
          <a:lstStyle/>
          <a:p>
            <a:pPr algn="l"/>
            <a:r>
              <a:rPr sz="950" b="0">
                <a:solidFill>
                  <a:srgbClr val="5C6675"/>
                </a:solidFill>
                <a:latin typeface="Calibri"/>
              </a:rPr>
              <a:t>moderation, with an audit trail</a:t>
            </a:r>
          </a:p>
        </p:txBody>
      </p:sp>
      <p:sp>
        <p:nvSpPr>
          <p:cNvPr id="37" name="Rectangle 36"/>
          <p:cNvSpPr/>
          <p:nvPr/>
        </p:nvSpPr>
        <p:spPr>
          <a:xfrm>
            <a:off x="6425031" y="3589020"/>
            <a:ext cx="25603" cy="210312"/>
          </a:xfrm>
          <a:prstGeom prst="rect">
            <a:avLst/>
          </a:prstGeom>
          <a:solidFill>
            <a:srgbClr val="223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553047" y="3543300"/>
            <a:ext cx="4742535" cy="192024"/>
          </a:xfrm>
          <a:prstGeom prst="rect">
            <a:avLst/>
          </a:prstGeom>
          <a:noFill/>
        </p:spPr>
        <p:txBody>
          <a:bodyPr wrap="square" lIns="0" rIns="0" tIns="0" bIns="0" anchor="t">
            <a:spAutoFit/>
          </a:bodyPr>
          <a:lstStyle/>
          <a:p>
            <a:pPr algn="l"/>
            <a:r>
              <a:rPr sz="1050" b="1">
                <a:solidFill>
                  <a:srgbClr val="10131A"/>
                </a:solidFill>
                <a:latin typeface="Calibri"/>
              </a:rPr>
              <a:t>Plans and limits</a:t>
            </a:r>
          </a:p>
        </p:txBody>
      </p:sp>
      <p:sp>
        <p:nvSpPr>
          <p:cNvPr id="39" name="TextBox 38"/>
          <p:cNvSpPr txBox="1"/>
          <p:nvPr/>
        </p:nvSpPr>
        <p:spPr>
          <a:xfrm>
            <a:off x="6553047" y="3721608"/>
            <a:ext cx="4742535" cy="182880"/>
          </a:xfrm>
          <a:prstGeom prst="rect">
            <a:avLst/>
          </a:prstGeom>
          <a:noFill/>
        </p:spPr>
        <p:txBody>
          <a:bodyPr wrap="square" lIns="0" rIns="0" tIns="0" bIns="0" anchor="t">
            <a:spAutoFit/>
          </a:bodyPr>
          <a:lstStyle/>
          <a:p>
            <a:pPr algn="l"/>
            <a:r>
              <a:rPr sz="950" b="0">
                <a:solidFill>
                  <a:srgbClr val="5C6675"/>
                </a:solidFill>
                <a:latin typeface="Calibri"/>
              </a:rPr>
              <a:t>what each account is entitled to</a:t>
            </a:r>
          </a:p>
        </p:txBody>
      </p:sp>
      <p:sp>
        <p:nvSpPr>
          <p:cNvPr id="40" name="Rectangle 39"/>
          <p:cNvSpPr/>
          <p:nvPr/>
        </p:nvSpPr>
        <p:spPr>
          <a:xfrm>
            <a:off x="6425031" y="3941063"/>
            <a:ext cx="25603" cy="210312"/>
          </a:xfrm>
          <a:prstGeom prst="rect">
            <a:avLst/>
          </a:prstGeom>
          <a:solidFill>
            <a:srgbClr val="223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553047" y="3895344"/>
            <a:ext cx="4742535" cy="192024"/>
          </a:xfrm>
          <a:prstGeom prst="rect">
            <a:avLst/>
          </a:prstGeom>
          <a:noFill/>
        </p:spPr>
        <p:txBody>
          <a:bodyPr wrap="square" lIns="0" rIns="0" tIns="0" bIns="0" anchor="t">
            <a:spAutoFit/>
          </a:bodyPr>
          <a:lstStyle/>
          <a:p>
            <a:pPr algn="l"/>
            <a:r>
              <a:rPr sz="1050" b="1">
                <a:solidFill>
                  <a:srgbClr val="10131A"/>
                </a:solidFill>
                <a:latin typeface="Calibri"/>
              </a:rPr>
              <a:t>Operations view</a:t>
            </a:r>
          </a:p>
        </p:txBody>
      </p:sp>
      <p:sp>
        <p:nvSpPr>
          <p:cNvPr id="42" name="TextBox 41"/>
          <p:cNvSpPr txBox="1"/>
          <p:nvPr/>
        </p:nvSpPr>
        <p:spPr>
          <a:xfrm>
            <a:off x="6553047" y="4073652"/>
            <a:ext cx="4742535" cy="182880"/>
          </a:xfrm>
          <a:prstGeom prst="rect">
            <a:avLst/>
          </a:prstGeom>
          <a:noFill/>
        </p:spPr>
        <p:txBody>
          <a:bodyPr wrap="square" lIns="0" rIns="0" tIns="0" bIns="0" anchor="t">
            <a:spAutoFit/>
          </a:bodyPr>
          <a:lstStyle/>
          <a:p>
            <a:pPr algn="l"/>
            <a:r>
              <a:rPr sz="950" b="0">
                <a:solidFill>
                  <a:srgbClr val="5C6675"/>
                </a:solidFill>
                <a:latin typeface="Calibri"/>
              </a:rPr>
              <a:t>health, storage held, usage over time</a:t>
            </a:r>
          </a:p>
        </p:txBody>
      </p:sp>
      <p:sp>
        <p:nvSpPr>
          <p:cNvPr id="43" name="Rectangle 42"/>
          <p:cNvSpPr/>
          <p:nvPr/>
        </p:nvSpPr>
        <p:spPr>
          <a:xfrm>
            <a:off x="658368" y="4443983"/>
            <a:ext cx="5291175" cy="1481328"/>
          </a:xfrm>
          <a:prstGeom prst="rect">
            <a:avLst/>
          </a:prstGeom>
          <a:solidFill>
            <a:srgbClr val="FFFFFF"/>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58368" y="4443983"/>
            <a:ext cx="41148" cy="1481328"/>
          </a:xfrm>
          <a:prstGeom prst="rect">
            <a:avLst/>
          </a:prstGeom>
          <a:solidFill>
            <a:srgbClr val="FF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59536" y="4571999"/>
            <a:ext cx="4888839" cy="219456"/>
          </a:xfrm>
          <a:prstGeom prst="rect">
            <a:avLst/>
          </a:prstGeom>
          <a:noFill/>
        </p:spPr>
        <p:txBody>
          <a:bodyPr wrap="square" lIns="0" rIns="0" tIns="0" bIns="0" anchor="t">
            <a:spAutoFit/>
          </a:bodyPr>
          <a:lstStyle/>
          <a:p>
            <a:pPr algn="l"/>
            <a:r>
              <a:rPr sz="950" b="1">
                <a:solidFill>
                  <a:srgbClr val="AF3327"/>
                </a:solidFill>
                <a:latin typeface="Consolas"/>
              </a:rPr>
              <a:t>WHY NATIVE APPS AND NOT A BROWSER PRODUCT</a:t>
            </a:r>
          </a:p>
        </p:txBody>
      </p:sp>
      <p:sp>
        <p:nvSpPr>
          <p:cNvPr id="46" name="TextBox 45"/>
          <p:cNvSpPr txBox="1"/>
          <p:nvPr/>
        </p:nvSpPr>
        <p:spPr>
          <a:xfrm>
            <a:off x="859536" y="4828031"/>
            <a:ext cx="4888839" cy="969264"/>
          </a:xfrm>
          <a:prstGeom prst="rect">
            <a:avLst/>
          </a:prstGeom>
          <a:noFill/>
        </p:spPr>
        <p:txBody>
          <a:bodyPr wrap="square" lIns="0" rIns="0" tIns="0" bIns="0" anchor="t">
            <a:spAutoFit/>
          </a:bodyPr>
          <a:lstStyle/>
          <a:p>
            <a:pPr algn="l">
              <a:lnSpc>
                <a:spcPct val="128000"/>
              </a:lnSpc>
            </a:pPr>
            <a:r>
              <a:rPr sz="1100" b="0">
                <a:solidFill>
                  <a:srgbClr val="38414F"/>
                </a:solidFill>
                <a:latin typeface="Calibri"/>
              </a:rPr>
              <a:t>A capsule may need to announce itself years from now, on a phone that has been replaced twice. Only a real app can hold a reliable push notification, upload video in the background, reach the camera directly, and be found by name in a store.</a:t>
            </a:r>
          </a:p>
        </p:txBody>
      </p:sp>
      <p:sp>
        <p:nvSpPr>
          <p:cNvPr id="47" name="Rectangle 46"/>
          <p:cNvSpPr/>
          <p:nvPr/>
        </p:nvSpPr>
        <p:spPr>
          <a:xfrm>
            <a:off x="6242151" y="4443983"/>
            <a:ext cx="5291175" cy="1481328"/>
          </a:xfrm>
          <a:prstGeom prst="rect">
            <a:avLst/>
          </a:prstGeom>
          <a:solidFill>
            <a:srgbClr val="E6F2F0"/>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242151" y="4443983"/>
            <a:ext cx="41148" cy="1481328"/>
          </a:xfrm>
          <a:prstGeom prst="rect">
            <a:avLst/>
          </a:prstGeom>
          <a:solidFill>
            <a:srgbClr val="0E6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443319" y="4571999"/>
            <a:ext cx="4888839" cy="219456"/>
          </a:xfrm>
          <a:prstGeom prst="rect">
            <a:avLst/>
          </a:prstGeom>
          <a:noFill/>
        </p:spPr>
        <p:txBody>
          <a:bodyPr wrap="square" lIns="0" rIns="0" tIns="0" bIns="0" anchor="t">
            <a:spAutoFit/>
          </a:bodyPr>
          <a:lstStyle/>
          <a:p>
            <a:pPr algn="l"/>
            <a:r>
              <a:rPr sz="950" b="1">
                <a:solidFill>
                  <a:srgbClr val="0E6A60"/>
                </a:solidFill>
                <a:latin typeface="Consolas"/>
              </a:rPr>
              <a:t>WHAT SIX MONTHS ASSUMES</a:t>
            </a:r>
          </a:p>
        </p:txBody>
      </p:sp>
      <p:sp>
        <p:nvSpPr>
          <p:cNvPr id="50" name="TextBox 49"/>
          <p:cNvSpPr txBox="1"/>
          <p:nvPr/>
        </p:nvSpPr>
        <p:spPr>
          <a:xfrm>
            <a:off x="6443319" y="4828031"/>
            <a:ext cx="4888839" cy="969264"/>
          </a:xfrm>
          <a:prstGeom prst="rect">
            <a:avLst/>
          </a:prstGeom>
          <a:noFill/>
        </p:spPr>
        <p:txBody>
          <a:bodyPr wrap="square" lIns="0" rIns="0" tIns="0" bIns="0" anchor="t">
            <a:spAutoFit/>
          </a:bodyPr>
          <a:lstStyle/>
          <a:p>
            <a:pPr algn="l">
              <a:lnSpc>
                <a:spcPct val="128000"/>
              </a:lnSpc>
            </a:pPr>
            <a:r>
              <a:rPr sz="1100" b="0">
                <a:solidFill>
                  <a:srgbClr val="38414F"/>
                </a:solidFill>
                <a:latin typeface="Calibri"/>
              </a:rPr>
              <a:t>The database, migrations and interface foundations are already built. One shared codebase serves both platforms. A screen is designed before it is built. Store review happens inside month 6, not after it.</a:t>
            </a:r>
          </a:p>
        </p:txBody>
      </p:sp>
      <p:sp>
        <p:nvSpPr>
          <p:cNvPr id="51" name="TextBox 50"/>
          <p:cNvSpPr txBox="1"/>
          <p:nvPr/>
        </p:nvSpPr>
        <p:spPr>
          <a:xfrm>
            <a:off x="658368" y="6419088"/>
            <a:ext cx="8699967" cy="201168"/>
          </a:xfrm>
          <a:prstGeom prst="rect">
            <a:avLst/>
          </a:prstGeom>
          <a:noFill/>
        </p:spPr>
        <p:txBody>
          <a:bodyPr wrap="square" lIns="0" rIns="0" tIns="0" bIns="0" anchor="t">
            <a:spAutoFit/>
          </a:bodyPr>
          <a:lstStyle/>
          <a:p>
            <a:pPr algn="l"/>
            <a:r>
              <a:rPr sz="950" b="0">
                <a:solidFill>
                  <a:srgbClr val="5C6675"/>
                </a:solidFill>
                <a:latin typeface="Consolas"/>
              </a:rPr>
              <a:t>Scope of the six months</a:t>
            </a:r>
          </a:p>
        </p:txBody>
      </p:sp>
      <p:sp>
        <p:nvSpPr>
          <p:cNvPr id="52" name="TextBox 51"/>
          <p:cNvSpPr txBox="1"/>
          <p:nvPr/>
        </p:nvSpPr>
        <p:spPr>
          <a:xfrm>
            <a:off x="10618927" y="6419088"/>
            <a:ext cx="914400" cy="201168"/>
          </a:xfrm>
          <a:prstGeom prst="rect">
            <a:avLst/>
          </a:prstGeom>
          <a:noFill/>
        </p:spPr>
        <p:txBody>
          <a:bodyPr wrap="square" lIns="0" rIns="0" tIns="0" bIns="0" anchor="t">
            <a:spAutoFit/>
          </a:bodyPr>
          <a:lstStyle/>
          <a:p>
            <a:pPr algn="r"/>
            <a:r>
              <a:rPr sz="950" b="0">
                <a:solidFill>
                  <a:srgbClr val="5C6675"/>
                </a:solidFill>
                <a:latin typeface="Consolas"/>
              </a:rPr>
              <a:t>12 / 16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pic>
        <p:nvPicPr>
          <p:cNvPr id="2" name="Picture 1" descr="NFCLogo.png"/>
          <p:cNvPicPr>
            <a:picLocks noChangeAspect="1"/>
          </p:cNvPicPr>
          <p:nvPr/>
        </p:nvPicPr>
        <p:blipFill>
          <a:blip r:embed="rId2"/>
          <a:stretch>
            <a:fillRect/>
          </a:stretch>
        </p:blipFill>
        <p:spPr>
          <a:xfrm>
            <a:off x="11206068" y="274320"/>
            <a:ext cx="327259" cy="365760"/>
          </a:xfrm>
          <a:prstGeom prst="rect">
            <a:avLst/>
          </a:prstGeom>
        </p:spPr>
      </p:pic>
      <p:sp>
        <p:nvSpPr>
          <p:cNvPr id="3" name="TextBox 2"/>
          <p:cNvSpPr txBox="1"/>
          <p:nvPr/>
        </p:nvSpPr>
        <p:spPr>
          <a:xfrm>
            <a:off x="658368" y="402336"/>
            <a:ext cx="10874959" cy="219456"/>
          </a:xfrm>
          <a:prstGeom prst="rect">
            <a:avLst/>
          </a:prstGeom>
          <a:noFill/>
        </p:spPr>
        <p:txBody>
          <a:bodyPr wrap="square" lIns="0" rIns="0" tIns="0" bIns="0" anchor="t">
            <a:spAutoFit/>
          </a:bodyPr>
          <a:lstStyle/>
          <a:p>
            <a:pPr algn="l"/>
            <a:r>
              <a:rPr sz="1050" b="1">
                <a:solidFill>
                  <a:srgbClr val="AF3327"/>
                </a:solidFill>
                <a:latin typeface="Consolas"/>
              </a:rPr>
              <a:t>RELEASE PLAN</a:t>
            </a:r>
          </a:p>
        </p:txBody>
      </p:sp>
      <p:sp>
        <p:nvSpPr>
          <p:cNvPr id="4" name="TextBox 3"/>
          <p:cNvSpPr txBox="1"/>
          <p:nvPr/>
        </p:nvSpPr>
        <p:spPr>
          <a:xfrm>
            <a:off x="658368" y="676656"/>
            <a:ext cx="10874959" cy="566928"/>
          </a:xfrm>
          <a:prstGeom prst="rect">
            <a:avLst/>
          </a:prstGeom>
          <a:noFill/>
        </p:spPr>
        <p:txBody>
          <a:bodyPr wrap="square" lIns="0" rIns="0" tIns="0" bIns="0" anchor="t">
            <a:spAutoFit/>
          </a:bodyPr>
          <a:lstStyle/>
          <a:p>
            <a:pPr algn="l">
              <a:lnSpc>
                <a:spcPct val="102000"/>
              </a:lnSpc>
            </a:pPr>
            <a:r>
              <a:rPr sz="2600" b="0">
                <a:solidFill>
                  <a:srgbClr val="10131A"/>
                </a:solidFill>
                <a:latin typeface="Georgia"/>
              </a:rPr>
              <a:t>Six releases, one public launch</a:t>
            </a:r>
          </a:p>
        </p:txBody>
      </p:sp>
      <p:sp>
        <p:nvSpPr>
          <p:cNvPr id="5" name="TextBox 4"/>
          <p:cNvSpPr txBox="1"/>
          <p:nvPr/>
        </p:nvSpPr>
        <p:spPr>
          <a:xfrm>
            <a:off x="658368" y="1280160"/>
            <a:ext cx="9787463" cy="384048"/>
          </a:xfrm>
          <a:prstGeom prst="rect">
            <a:avLst/>
          </a:prstGeom>
          <a:noFill/>
        </p:spPr>
        <p:txBody>
          <a:bodyPr wrap="square" lIns="0" rIns="0" tIns="0" bIns="0" anchor="t">
            <a:spAutoFit/>
          </a:bodyPr>
          <a:lstStyle/>
          <a:p>
            <a:pPr algn="l">
              <a:lnSpc>
                <a:spcPct val="124000"/>
              </a:lnSpc>
            </a:pPr>
            <a:r>
              <a:rPr sz="1250" b="0">
                <a:solidFill>
                  <a:srgbClr val="5C6675"/>
                </a:solidFill>
                <a:latin typeface="Calibri"/>
              </a:rPr>
              <a:t>Something testable leaves the team every month. The first five go to invited testers through TestFlight and Play; only the sixth goes to the stores.</a:t>
            </a:r>
          </a:p>
        </p:txBody>
      </p:sp>
      <p:sp>
        <p:nvSpPr>
          <p:cNvPr id="6" name="Rectangle 5"/>
          <p:cNvSpPr/>
          <p:nvPr/>
        </p:nvSpPr>
        <p:spPr>
          <a:xfrm>
            <a:off x="658368" y="1719072"/>
            <a:ext cx="822960" cy="32004"/>
          </a:xfrm>
          <a:prstGeom prst="rect">
            <a:avLst/>
          </a:prstGeom>
          <a:solidFill>
            <a:srgbClr val="FF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658368" y="1920239"/>
          <a:ext cx="10872216" cy="2263140"/>
        </p:xfrm>
        <a:graphic>
          <a:graphicData uri="http://schemas.openxmlformats.org/drawingml/2006/table">
            <a:tbl>
              <a:tblPr>
                <a:tableStyleId>{5C22544A-7EE6-4342-B048-85BDC9FD1C3A}</a:tableStyleId>
              </a:tblPr>
              <a:tblGrid>
                <a:gridCol w="1572768"/>
                <a:gridCol w="932688"/>
                <a:gridCol w="2395728"/>
                <a:gridCol w="3593592"/>
                <a:gridCol w="2377440"/>
              </a:tblGrid>
              <a:tr h="310896">
                <a:tc>
                  <a:txBody>
                    <a:bodyPr wrap="square"/>
                    <a:lstStyle/>
                    <a:p>
                      <a:pPr algn="l"/>
                      <a:r>
                        <a:rPr sz="900" b="1">
                          <a:solidFill>
                            <a:srgbClr val="FFFFFF"/>
                          </a:solidFill>
                          <a:latin typeface="Calibri"/>
                        </a:rPr>
                        <a:t>Release</a:t>
                      </a:r>
                    </a:p>
                  </a:txBody>
                  <a:tcPr marL="82296" marR="82296" marT="18288" marB="18288" anchor="ctr">
                    <a:solidFill>
                      <a:srgbClr val="22304A"/>
                    </a:solidFill>
                  </a:tcPr>
                </a:tc>
                <a:tc>
                  <a:txBody>
                    <a:bodyPr wrap="square"/>
                    <a:lstStyle/>
                    <a:p>
                      <a:pPr algn="l"/>
                      <a:r>
                        <a:rPr sz="900" b="1">
                          <a:solidFill>
                            <a:srgbClr val="FFFFFF"/>
                          </a:solidFill>
                          <a:latin typeface="Calibri"/>
                        </a:rPr>
                        <a:t>Ends</a:t>
                      </a:r>
                    </a:p>
                  </a:txBody>
                  <a:tcPr marL="82296" marR="82296" marT="18288" marB="18288" anchor="ctr">
                    <a:solidFill>
                      <a:srgbClr val="22304A"/>
                    </a:solidFill>
                  </a:tcPr>
                </a:tc>
                <a:tc>
                  <a:txBody>
                    <a:bodyPr wrap="square"/>
                    <a:lstStyle/>
                    <a:p>
                      <a:pPr algn="l"/>
                      <a:r>
                        <a:rPr sz="900" b="1">
                          <a:solidFill>
                            <a:srgbClr val="FFFFFF"/>
                          </a:solidFill>
                          <a:latin typeface="Calibri"/>
                        </a:rPr>
                        <a:t>Channel</a:t>
                      </a:r>
                    </a:p>
                  </a:txBody>
                  <a:tcPr marL="82296" marR="82296" marT="18288" marB="18288" anchor="ctr">
                    <a:solidFill>
                      <a:srgbClr val="22304A"/>
                    </a:solidFill>
                  </a:tcPr>
                </a:tc>
                <a:tc>
                  <a:txBody>
                    <a:bodyPr wrap="square"/>
                    <a:lstStyle/>
                    <a:p>
                      <a:pPr algn="l"/>
                      <a:r>
                        <a:rPr sz="900" b="1">
                          <a:solidFill>
                            <a:srgbClr val="FFFFFF"/>
                          </a:solidFill>
                          <a:latin typeface="Calibri"/>
                        </a:rPr>
                        <a:t>What is in it</a:t>
                      </a:r>
                    </a:p>
                  </a:txBody>
                  <a:tcPr marL="82296" marR="82296" marT="18288" marB="18288" anchor="ctr">
                    <a:solidFill>
                      <a:srgbClr val="22304A"/>
                    </a:solidFill>
                  </a:tcPr>
                </a:tc>
                <a:tc>
                  <a:txBody>
                    <a:bodyPr wrap="square"/>
                    <a:lstStyle/>
                    <a:p>
                      <a:pPr algn="l"/>
                      <a:r>
                        <a:rPr sz="900" b="1">
                          <a:solidFill>
                            <a:srgbClr val="FFFFFF"/>
                          </a:solidFill>
                          <a:latin typeface="Calibri"/>
                        </a:rPr>
                        <a:t>Who gets it</a:t>
                      </a:r>
                    </a:p>
                  </a:txBody>
                  <a:tcPr marL="82296" marR="82296" marT="18288" marB="18288" anchor="ctr">
                    <a:solidFill>
                      <a:srgbClr val="22304A"/>
                    </a:solidFill>
                  </a:tcPr>
                </a:tc>
              </a:tr>
              <a:tr h="278892">
                <a:tc>
                  <a:txBody>
                    <a:bodyPr wrap="square"/>
                    <a:lstStyle/>
                    <a:p>
                      <a:pPr algn="l"/>
                      <a:r>
                        <a:rPr sz="1000" b="1">
                          <a:solidFill>
                            <a:srgbClr val="10131A"/>
                          </a:solidFill>
                          <a:latin typeface="Calibri"/>
                        </a:rPr>
                        <a:t>v0.1  Internal</a:t>
                      </a:r>
                    </a:p>
                  </a:txBody>
                  <a:tcPr marL="82296" marR="82296" marT="18288" marB="18288" anchor="ctr">
                    <a:solidFill>
                      <a:srgbClr val="FFFFFF"/>
                    </a:solidFill>
                  </a:tcPr>
                </a:tc>
                <a:tc>
                  <a:txBody>
                    <a:bodyPr wrap="square"/>
                    <a:lstStyle/>
                    <a:p>
                      <a:pPr algn="l"/>
                      <a:r>
                        <a:rPr sz="1000" b="0">
                          <a:solidFill>
                            <a:srgbClr val="10131A"/>
                          </a:solidFill>
                          <a:latin typeface="Calibri"/>
                        </a:rPr>
                        <a:t>Month 1</a:t>
                      </a:r>
                    </a:p>
                  </a:txBody>
                  <a:tcPr marL="82296" marR="82296" marT="18288" marB="18288" anchor="ctr">
                    <a:solidFill>
                      <a:srgbClr val="FFFFFF"/>
                    </a:solidFill>
                  </a:tcPr>
                </a:tc>
                <a:tc>
                  <a:txBody>
                    <a:bodyPr wrap="square"/>
                    <a:lstStyle/>
                    <a:p>
                      <a:pPr algn="l"/>
                      <a:r>
                        <a:rPr sz="1000" b="0">
                          <a:solidFill>
                            <a:srgbClr val="10131A"/>
                          </a:solidFill>
                          <a:latin typeface="Calibri"/>
                        </a:rPr>
                        <a:t>TestFlight / Play internal</a:t>
                      </a:r>
                    </a:p>
                  </a:txBody>
                  <a:tcPr marL="82296" marR="82296" marT="18288" marB="18288" anchor="ctr">
                    <a:solidFill>
                      <a:srgbClr val="FFFFFF"/>
                    </a:solidFill>
                  </a:tcPr>
                </a:tc>
                <a:tc>
                  <a:txBody>
                    <a:bodyPr wrap="square"/>
                    <a:lstStyle/>
                    <a:p>
                      <a:pPr algn="l"/>
                      <a:r>
                        <a:rPr sz="1000" b="0">
                          <a:solidFill>
                            <a:srgbClr val="10131A"/>
                          </a:solidFill>
                          <a:latin typeface="Calibri"/>
                        </a:rPr>
                        <a:t>App shells, sign-in, joining a vault, live API</a:t>
                      </a:r>
                    </a:p>
                  </a:txBody>
                  <a:tcPr marL="82296" marR="82296" marT="18288" marB="18288" anchor="ctr">
                    <a:solidFill>
                      <a:srgbClr val="FFFFFF"/>
                    </a:solidFill>
                  </a:tcPr>
                </a:tc>
                <a:tc>
                  <a:txBody>
                    <a:bodyPr wrap="square"/>
                    <a:lstStyle/>
                    <a:p>
                      <a:pPr algn="l"/>
                      <a:r>
                        <a:rPr sz="1000" b="0">
                          <a:solidFill>
                            <a:srgbClr val="10131A"/>
                          </a:solidFill>
                          <a:latin typeface="Calibri"/>
                        </a:rPr>
                        <a:t>the team only</a:t>
                      </a:r>
                    </a:p>
                  </a:txBody>
                  <a:tcPr marL="82296" marR="82296" marT="18288" marB="18288" anchor="ctr">
                    <a:solidFill>
                      <a:srgbClr val="FFFFFF"/>
                    </a:solidFill>
                  </a:tcPr>
                </a:tc>
              </a:tr>
              <a:tr h="278892">
                <a:tc>
                  <a:txBody>
                    <a:bodyPr wrap="square"/>
                    <a:lstStyle/>
                    <a:p>
                      <a:pPr algn="l"/>
                      <a:r>
                        <a:rPr sz="1000" b="1">
                          <a:solidFill>
                            <a:srgbClr val="10131A"/>
                          </a:solidFill>
                          <a:latin typeface="Calibri"/>
                        </a:rPr>
                        <a:t>v0.2  Alpha</a:t>
                      </a:r>
                    </a:p>
                  </a:txBody>
                  <a:tcPr marL="82296" marR="82296" marT="18288" marB="18288" anchor="ctr">
                    <a:solidFill>
                      <a:srgbClr val="EDF0F5"/>
                    </a:solidFill>
                  </a:tcPr>
                </a:tc>
                <a:tc>
                  <a:txBody>
                    <a:bodyPr wrap="square"/>
                    <a:lstStyle/>
                    <a:p>
                      <a:pPr algn="l"/>
                      <a:r>
                        <a:rPr sz="1000" b="0">
                          <a:solidFill>
                            <a:srgbClr val="10131A"/>
                          </a:solidFill>
                          <a:latin typeface="Calibri"/>
                        </a:rPr>
                        <a:t>Month 2</a:t>
                      </a:r>
                    </a:p>
                  </a:txBody>
                  <a:tcPr marL="82296" marR="82296" marT="18288" marB="18288" anchor="ctr">
                    <a:solidFill>
                      <a:srgbClr val="EDF0F5"/>
                    </a:solidFill>
                  </a:tcPr>
                </a:tc>
                <a:tc>
                  <a:txBody>
                    <a:bodyPr wrap="square"/>
                    <a:lstStyle/>
                    <a:p>
                      <a:pPr algn="l"/>
                      <a:r>
                        <a:rPr sz="1000" b="0">
                          <a:solidFill>
                            <a:srgbClr val="10131A"/>
                          </a:solidFill>
                          <a:latin typeface="Calibri"/>
                        </a:rPr>
                        <a:t>TestFlight / Play internal</a:t>
                      </a:r>
                    </a:p>
                  </a:txBody>
                  <a:tcPr marL="82296" marR="82296" marT="18288" marB="18288" anchor="ctr">
                    <a:solidFill>
                      <a:srgbClr val="EDF0F5"/>
                    </a:solidFill>
                  </a:tcPr>
                </a:tc>
                <a:tc>
                  <a:txBody>
                    <a:bodyPr wrap="square"/>
                    <a:lstStyle/>
                    <a:p>
                      <a:pPr algn="l"/>
                      <a:r>
                        <a:rPr sz="1000" b="0">
                          <a:solidFill>
                            <a:srgbClr val="10131A"/>
                          </a:solidFill>
                          <a:latin typeface="Calibri"/>
                        </a:rPr>
                        <a:t>Capture — photos, video, voice notes, upload queue</a:t>
                      </a:r>
                    </a:p>
                  </a:txBody>
                  <a:tcPr marL="82296" marR="82296" marT="18288" marB="18288" anchor="ctr">
                    <a:solidFill>
                      <a:srgbClr val="EDF0F5"/>
                    </a:solidFill>
                  </a:tcPr>
                </a:tc>
                <a:tc>
                  <a:txBody>
                    <a:bodyPr wrap="square"/>
                    <a:lstStyle/>
                    <a:p>
                      <a:pPr algn="l"/>
                      <a:r>
                        <a:rPr sz="1000" b="0">
                          <a:solidFill>
                            <a:srgbClr val="10131A"/>
                          </a:solidFill>
                          <a:latin typeface="Calibri"/>
                        </a:rPr>
                        <a:t>team and stakeholders</a:t>
                      </a:r>
                    </a:p>
                  </a:txBody>
                  <a:tcPr marL="82296" marR="82296" marT="18288" marB="18288" anchor="ctr">
                    <a:solidFill>
                      <a:srgbClr val="EDF0F5"/>
                    </a:solidFill>
                  </a:tcPr>
                </a:tc>
              </a:tr>
              <a:tr h="278892">
                <a:tc>
                  <a:txBody>
                    <a:bodyPr wrap="square"/>
                    <a:lstStyle/>
                    <a:p>
                      <a:pPr algn="l"/>
                      <a:r>
                        <a:rPr sz="1000" b="1">
                          <a:solidFill>
                            <a:srgbClr val="10131A"/>
                          </a:solidFill>
                          <a:latin typeface="Calibri"/>
                        </a:rPr>
                        <a:t>v0.3  Closed beta</a:t>
                      </a:r>
                    </a:p>
                  </a:txBody>
                  <a:tcPr marL="82296" marR="82296" marT="18288" marB="18288" anchor="ctr">
                    <a:solidFill>
                      <a:srgbClr val="FFFFFF"/>
                    </a:solidFill>
                  </a:tcPr>
                </a:tc>
                <a:tc>
                  <a:txBody>
                    <a:bodyPr wrap="square"/>
                    <a:lstStyle/>
                    <a:p>
                      <a:pPr algn="l"/>
                      <a:r>
                        <a:rPr sz="1000" b="0">
                          <a:solidFill>
                            <a:srgbClr val="10131A"/>
                          </a:solidFill>
                          <a:latin typeface="Calibri"/>
                        </a:rPr>
                        <a:t>Month 3</a:t>
                      </a:r>
                    </a:p>
                  </a:txBody>
                  <a:tcPr marL="82296" marR="82296" marT="18288" marB="18288" anchor="ctr">
                    <a:solidFill>
                      <a:srgbClr val="FFFFFF"/>
                    </a:solidFill>
                  </a:tcPr>
                </a:tc>
                <a:tc>
                  <a:txBody>
                    <a:bodyPr wrap="square"/>
                    <a:lstStyle/>
                    <a:p>
                      <a:pPr algn="l"/>
                      <a:r>
                        <a:rPr sz="1000" b="0">
                          <a:solidFill>
                            <a:srgbClr val="10131A"/>
                          </a:solidFill>
                          <a:latin typeface="Calibri"/>
                        </a:rPr>
                        <a:t>TestFlight / Play closed</a:t>
                      </a:r>
                    </a:p>
                  </a:txBody>
                  <a:tcPr marL="82296" marR="82296" marT="18288" marB="18288" anchor="ctr">
                    <a:solidFill>
                      <a:srgbClr val="FFFFFF"/>
                    </a:solidFill>
                  </a:tcPr>
                </a:tc>
                <a:tc>
                  <a:txBody>
                    <a:bodyPr wrap="square"/>
                    <a:lstStyle/>
                    <a:p>
                      <a:pPr algn="l"/>
                      <a:r>
                        <a:rPr sz="1000" b="0">
                          <a:solidFill>
                            <a:srgbClr val="10131A"/>
                          </a:solidFill>
                          <a:latin typeface="Calibri"/>
                        </a:rPr>
                        <a:t>The timeline — capture working end to end</a:t>
                      </a:r>
                    </a:p>
                  </a:txBody>
                  <a:tcPr marL="82296" marR="82296" marT="18288" marB="18288" anchor="ctr">
                    <a:solidFill>
                      <a:srgbClr val="FFFFFF"/>
                    </a:solidFill>
                  </a:tcPr>
                </a:tc>
                <a:tc>
                  <a:txBody>
                    <a:bodyPr wrap="square"/>
                    <a:lstStyle/>
                    <a:p>
                      <a:pPr algn="l"/>
                      <a:r>
                        <a:rPr sz="1000" b="0">
                          <a:solidFill>
                            <a:srgbClr val="10131A"/>
                          </a:solidFill>
                          <a:latin typeface="Calibri"/>
                        </a:rPr>
                        <a:t>around 20 invited families</a:t>
                      </a:r>
                    </a:p>
                  </a:txBody>
                  <a:tcPr marL="82296" marR="82296" marT="18288" marB="18288" anchor="ctr">
                    <a:solidFill>
                      <a:srgbClr val="FFFFFF"/>
                    </a:solidFill>
                  </a:tcPr>
                </a:tc>
              </a:tr>
              <a:tr h="278892">
                <a:tc>
                  <a:txBody>
                    <a:bodyPr wrap="square"/>
                    <a:lstStyle/>
                    <a:p>
                      <a:pPr algn="l"/>
                      <a:r>
                        <a:rPr sz="1000" b="1">
                          <a:solidFill>
                            <a:srgbClr val="10131A"/>
                          </a:solidFill>
                          <a:latin typeface="Calibri"/>
                        </a:rPr>
                        <a:t>v0.4  Beta</a:t>
                      </a:r>
                    </a:p>
                  </a:txBody>
                  <a:tcPr marL="82296" marR="82296" marT="18288" marB="18288" anchor="ctr">
                    <a:solidFill>
                      <a:srgbClr val="EDF0F5"/>
                    </a:solidFill>
                  </a:tcPr>
                </a:tc>
                <a:tc>
                  <a:txBody>
                    <a:bodyPr wrap="square"/>
                    <a:lstStyle/>
                    <a:p>
                      <a:pPr algn="l"/>
                      <a:r>
                        <a:rPr sz="1000" b="0">
                          <a:solidFill>
                            <a:srgbClr val="10131A"/>
                          </a:solidFill>
                          <a:latin typeface="Calibri"/>
                        </a:rPr>
                        <a:t>Month 4</a:t>
                      </a:r>
                    </a:p>
                  </a:txBody>
                  <a:tcPr marL="82296" marR="82296" marT="18288" marB="18288" anchor="ctr">
                    <a:solidFill>
                      <a:srgbClr val="EDF0F5"/>
                    </a:solidFill>
                  </a:tcPr>
                </a:tc>
                <a:tc>
                  <a:txBody>
                    <a:bodyPr wrap="square"/>
                    <a:lstStyle/>
                    <a:p>
                      <a:pPr algn="l"/>
                      <a:r>
                        <a:rPr sz="1000" b="0">
                          <a:solidFill>
                            <a:srgbClr val="10131A"/>
                          </a:solidFill>
                          <a:latin typeface="Calibri"/>
                        </a:rPr>
                        <a:t>TestFlight / Play closed</a:t>
                      </a:r>
                    </a:p>
                  </a:txBody>
                  <a:tcPr marL="82296" marR="82296" marT="18288" marB="18288" anchor="ctr">
                    <a:solidFill>
                      <a:srgbClr val="EDF0F5"/>
                    </a:solidFill>
                  </a:tcPr>
                </a:tc>
                <a:tc>
                  <a:txBody>
                    <a:bodyPr wrap="square"/>
                    <a:lstStyle/>
                    <a:p>
                      <a:pPr algn="l"/>
                      <a:r>
                        <a:rPr sz="1000" b="0">
                          <a:solidFill>
                            <a:srgbClr val="10131A"/>
                          </a:solidFill>
                          <a:latin typeface="Calibri"/>
                        </a:rPr>
                        <a:t>Capsules — write, seal, schedule, deliver</a:t>
                      </a:r>
                    </a:p>
                  </a:txBody>
                  <a:tcPr marL="82296" marR="82296" marT="18288" marB="18288" anchor="ctr">
                    <a:solidFill>
                      <a:srgbClr val="EDF0F5"/>
                    </a:solidFill>
                  </a:tcPr>
                </a:tc>
                <a:tc>
                  <a:txBody>
                    <a:bodyPr wrap="square"/>
                    <a:lstStyle/>
                    <a:p>
                      <a:pPr algn="l"/>
                      <a:r>
                        <a:rPr sz="1000" b="0">
                          <a:solidFill>
                            <a:srgbClr val="10131A"/>
                          </a:solidFill>
                          <a:latin typeface="Calibri"/>
                        </a:rPr>
                        <a:t>around 100 invited families</a:t>
                      </a:r>
                    </a:p>
                  </a:txBody>
                  <a:tcPr marL="82296" marR="82296" marT="18288" marB="18288" anchor="ctr">
                    <a:solidFill>
                      <a:srgbClr val="EDF0F5"/>
                    </a:solidFill>
                  </a:tcPr>
                </a:tc>
              </a:tr>
              <a:tr h="278892">
                <a:tc>
                  <a:txBody>
                    <a:bodyPr wrap="square"/>
                    <a:lstStyle/>
                    <a:p>
                      <a:pPr algn="l"/>
                      <a:r>
                        <a:rPr sz="1000" b="1">
                          <a:solidFill>
                            <a:srgbClr val="10131A"/>
                          </a:solidFill>
                          <a:latin typeface="Calibri"/>
                        </a:rPr>
                        <a:t>Admin v1.0</a:t>
                      </a:r>
                    </a:p>
                  </a:txBody>
                  <a:tcPr marL="82296" marR="82296" marT="18288" marB="18288" anchor="ctr">
                    <a:solidFill>
                      <a:srgbClr val="EDF0F5"/>
                    </a:solidFill>
                  </a:tcPr>
                </a:tc>
                <a:tc>
                  <a:txBody>
                    <a:bodyPr wrap="square"/>
                    <a:lstStyle/>
                    <a:p>
                      <a:pPr algn="l"/>
                      <a:r>
                        <a:rPr sz="1000" b="0">
                          <a:solidFill>
                            <a:srgbClr val="10131A"/>
                          </a:solidFill>
                          <a:latin typeface="Calibri"/>
                        </a:rPr>
                        <a:t>Month 4</a:t>
                      </a:r>
                    </a:p>
                  </a:txBody>
                  <a:tcPr marL="82296" marR="82296" marT="18288" marB="18288" anchor="ctr">
                    <a:solidFill>
                      <a:srgbClr val="EDF0F5"/>
                    </a:solidFill>
                  </a:tcPr>
                </a:tc>
                <a:tc>
                  <a:txBody>
                    <a:bodyPr wrap="square"/>
                    <a:lstStyle/>
                    <a:p>
                      <a:pPr algn="l"/>
                      <a:r>
                        <a:rPr sz="1000" b="0">
                          <a:solidFill>
                            <a:srgbClr val="10131A"/>
                          </a:solidFill>
                          <a:latin typeface="Calibri"/>
                        </a:rPr>
                        <a:t>Web, internal</a:t>
                      </a:r>
                    </a:p>
                  </a:txBody>
                  <a:tcPr marL="82296" marR="82296" marT="18288" marB="18288" anchor="ctr">
                    <a:solidFill>
                      <a:srgbClr val="EDF0F5"/>
                    </a:solidFill>
                  </a:tcPr>
                </a:tc>
                <a:tc>
                  <a:txBody>
                    <a:bodyPr wrap="square"/>
                    <a:lstStyle/>
                    <a:p>
                      <a:pPr algn="l"/>
                      <a:r>
                        <a:rPr sz="1000" b="0">
                          <a:solidFill>
                            <a:srgbClr val="10131A"/>
                          </a:solidFill>
                          <a:latin typeface="Calibri"/>
                        </a:rPr>
                        <a:t>Accounts, delivery watch, reports queue</a:t>
                      </a:r>
                    </a:p>
                  </a:txBody>
                  <a:tcPr marL="82296" marR="82296" marT="18288" marB="18288" anchor="ctr">
                    <a:solidFill>
                      <a:srgbClr val="EDF0F5"/>
                    </a:solidFill>
                  </a:tcPr>
                </a:tc>
                <a:tc>
                  <a:txBody>
                    <a:bodyPr wrap="square"/>
                    <a:lstStyle/>
                    <a:p>
                      <a:pPr algn="l"/>
                      <a:r>
                        <a:rPr sz="1000" b="0">
                          <a:solidFill>
                            <a:srgbClr val="10131A"/>
                          </a:solidFill>
                          <a:latin typeface="Calibri"/>
                        </a:rPr>
                        <a:t>support and operations</a:t>
                      </a:r>
                    </a:p>
                  </a:txBody>
                  <a:tcPr marL="82296" marR="82296" marT="18288" marB="18288" anchor="ctr">
                    <a:solidFill>
                      <a:srgbClr val="EDF0F5"/>
                    </a:solidFill>
                  </a:tcPr>
                </a:tc>
              </a:tr>
              <a:tr h="278892">
                <a:tc>
                  <a:txBody>
                    <a:bodyPr wrap="square"/>
                    <a:lstStyle/>
                    <a:p>
                      <a:pPr algn="l"/>
                      <a:r>
                        <a:rPr sz="1000" b="1">
                          <a:solidFill>
                            <a:srgbClr val="10131A"/>
                          </a:solidFill>
                          <a:latin typeface="Calibri"/>
                        </a:rPr>
                        <a:t>v0.9  Candidate</a:t>
                      </a:r>
                    </a:p>
                  </a:txBody>
                  <a:tcPr marL="82296" marR="82296" marT="18288" marB="18288" anchor="ctr">
                    <a:solidFill>
                      <a:srgbClr val="EDF0F5"/>
                    </a:solidFill>
                  </a:tcPr>
                </a:tc>
                <a:tc>
                  <a:txBody>
                    <a:bodyPr wrap="square"/>
                    <a:lstStyle/>
                    <a:p>
                      <a:pPr algn="l"/>
                      <a:r>
                        <a:rPr sz="1000" b="0">
                          <a:solidFill>
                            <a:srgbClr val="10131A"/>
                          </a:solidFill>
                          <a:latin typeface="Calibri"/>
                        </a:rPr>
                        <a:t>Month 5</a:t>
                      </a:r>
                    </a:p>
                  </a:txBody>
                  <a:tcPr marL="82296" marR="82296" marT="18288" marB="18288" anchor="ctr">
                    <a:solidFill>
                      <a:srgbClr val="EDF0F5"/>
                    </a:solidFill>
                  </a:tcPr>
                </a:tc>
                <a:tc>
                  <a:txBody>
                    <a:bodyPr wrap="square"/>
                    <a:lstStyle/>
                    <a:p>
                      <a:pPr algn="l"/>
                      <a:r>
                        <a:rPr sz="1000" b="0">
                          <a:solidFill>
                            <a:srgbClr val="10131A"/>
                          </a:solidFill>
                          <a:latin typeface="Calibri"/>
                        </a:rPr>
                        <a:t>Open beta</a:t>
                      </a:r>
                    </a:p>
                  </a:txBody>
                  <a:tcPr marL="82296" marR="82296" marT="18288" marB="18288" anchor="ctr">
                    <a:solidFill>
                      <a:srgbClr val="EDF0F5"/>
                    </a:solidFill>
                  </a:tcPr>
                </a:tc>
                <a:tc>
                  <a:txBody>
                    <a:bodyPr wrap="square"/>
                    <a:lstStyle/>
                    <a:p>
                      <a:pPr algn="l"/>
                      <a:r>
                        <a:rPr sz="1000" b="0">
                          <a:solidFill>
                            <a:srgbClr val="10131A"/>
                          </a:solidFill>
                          <a:latin typeface="Calibri"/>
                        </a:rPr>
                        <a:t>Plans, notifications, offline, accessibility</a:t>
                      </a:r>
                    </a:p>
                  </a:txBody>
                  <a:tcPr marL="82296" marR="82296" marT="18288" marB="18288" anchor="ctr">
                    <a:solidFill>
                      <a:srgbClr val="EDF0F5"/>
                    </a:solidFill>
                  </a:tcPr>
                </a:tc>
                <a:tc>
                  <a:txBody>
                    <a:bodyPr wrap="square"/>
                    <a:lstStyle/>
                    <a:p>
                      <a:pPr algn="l"/>
                      <a:r>
                        <a:rPr sz="1000" b="0">
                          <a:solidFill>
                            <a:srgbClr val="10131A"/>
                          </a:solidFill>
                          <a:latin typeface="Calibri"/>
                        </a:rPr>
                        <a:t>the public waitlist</a:t>
                      </a:r>
                    </a:p>
                  </a:txBody>
                  <a:tcPr marL="82296" marR="82296" marT="18288" marB="18288" anchor="ctr">
                    <a:solidFill>
                      <a:srgbClr val="EDF0F5"/>
                    </a:solidFill>
                  </a:tcPr>
                </a:tc>
              </a:tr>
              <a:tr h="278892">
                <a:tc>
                  <a:txBody>
                    <a:bodyPr wrap="square"/>
                    <a:lstStyle/>
                    <a:p>
                      <a:pPr algn="l"/>
                      <a:r>
                        <a:rPr sz="1000" b="1">
                          <a:solidFill>
                            <a:srgbClr val="10131A"/>
                          </a:solidFill>
                          <a:latin typeface="Calibri"/>
                        </a:rPr>
                        <a:t>v1.0  Launch</a:t>
                      </a:r>
                    </a:p>
                  </a:txBody>
                  <a:tcPr marL="82296" marR="82296" marT="18288" marB="18288" anchor="ctr">
                    <a:solidFill>
                      <a:srgbClr val="FFF0EE"/>
                    </a:solidFill>
                  </a:tcPr>
                </a:tc>
                <a:tc>
                  <a:txBody>
                    <a:bodyPr wrap="square"/>
                    <a:lstStyle/>
                    <a:p>
                      <a:pPr algn="l"/>
                      <a:r>
                        <a:rPr sz="1000" b="1">
                          <a:solidFill>
                            <a:srgbClr val="10131A"/>
                          </a:solidFill>
                          <a:latin typeface="Calibri"/>
                        </a:rPr>
                        <a:t>Month 6</a:t>
                      </a:r>
                    </a:p>
                  </a:txBody>
                  <a:tcPr marL="82296" marR="82296" marT="18288" marB="18288" anchor="ctr">
                    <a:solidFill>
                      <a:srgbClr val="FFF0EE"/>
                    </a:solidFill>
                  </a:tcPr>
                </a:tc>
                <a:tc>
                  <a:txBody>
                    <a:bodyPr wrap="square"/>
                    <a:lstStyle/>
                    <a:p>
                      <a:pPr algn="l"/>
                      <a:r>
                        <a:rPr sz="1000" b="1">
                          <a:solidFill>
                            <a:srgbClr val="10131A"/>
                          </a:solidFill>
                          <a:latin typeface="Calibri"/>
                        </a:rPr>
                        <a:t>App Store and Google Play</a:t>
                      </a:r>
                    </a:p>
                  </a:txBody>
                  <a:tcPr marL="82296" marR="82296" marT="18288" marB="18288" anchor="ctr">
                    <a:solidFill>
                      <a:srgbClr val="FFF0EE"/>
                    </a:solidFill>
                  </a:tcPr>
                </a:tc>
                <a:tc>
                  <a:txBody>
                    <a:bodyPr wrap="square"/>
                    <a:lstStyle/>
                    <a:p>
                      <a:pPr algn="l"/>
                      <a:r>
                        <a:rPr sz="1000" b="1">
                          <a:solidFill>
                            <a:srgbClr val="10131A"/>
                          </a:solidFill>
                          <a:latin typeface="Calibri"/>
                        </a:rPr>
                        <a:t>Feature complete and store approved</a:t>
                      </a:r>
                    </a:p>
                  </a:txBody>
                  <a:tcPr marL="82296" marR="82296" marT="18288" marB="18288" anchor="ctr">
                    <a:solidFill>
                      <a:srgbClr val="FFF0EE"/>
                    </a:solidFill>
                  </a:tcPr>
                </a:tc>
                <a:tc>
                  <a:txBody>
                    <a:bodyPr wrap="square"/>
                    <a:lstStyle/>
                    <a:p>
                      <a:pPr algn="l"/>
                      <a:r>
                        <a:rPr sz="1000" b="1">
                          <a:solidFill>
                            <a:srgbClr val="10131A"/>
                          </a:solidFill>
                          <a:latin typeface="Calibri"/>
                        </a:rPr>
                        <a:t>everyone</a:t>
                      </a:r>
                    </a:p>
                  </a:txBody>
                  <a:tcPr marL="82296" marR="82296" marT="18288" marB="18288" anchor="ctr">
                    <a:solidFill>
                      <a:srgbClr val="FFF0EE"/>
                    </a:solidFill>
                  </a:tcPr>
                </a:tc>
              </a:tr>
            </a:tbl>
          </a:graphicData>
        </a:graphic>
      </p:graphicFrame>
      <p:sp>
        <p:nvSpPr>
          <p:cNvPr id="8" name="Rectangle 7"/>
          <p:cNvSpPr/>
          <p:nvPr/>
        </p:nvSpPr>
        <p:spPr>
          <a:xfrm>
            <a:off x="658368" y="4384547"/>
            <a:ext cx="5300319" cy="1225296"/>
          </a:xfrm>
          <a:prstGeom prst="rect">
            <a:avLst/>
          </a:prstGeom>
          <a:solidFill>
            <a:srgbClr val="FFFFFF"/>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4384547"/>
            <a:ext cx="41148" cy="1225296"/>
          </a:xfrm>
          <a:prstGeom prst="rect">
            <a:avLst/>
          </a:prstGeom>
          <a:solidFill>
            <a:srgbClr val="FF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4512563"/>
            <a:ext cx="4897983" cy="219456"/>
          </a:xfrm>
          <a:prstGeom prst="rect">
            <a:avLst/>
          </a:prstGeom>
          <a:noFill/>
        </p:spPr>
        <p:txBody>
          <a:bodyPr wrap="square" lIns="0" rIns="0" tIns="0" bIns="0" anchor="t">
            <a:spAutoFit/>
          </a:bodyPr>
          <a:lstStyle/>
          <a:p>
            <a:pPr algn="l"/>
            <a:r>
              <a:rPr sz="950" b="1">
                <a:solidFill>
                  <a:srgbClr val="AF3327"/>
                </a:solidFill>
                <a:latin typeface="Consolas"/>
              </a:rPr>
              <a:t>STORE REVIEW IS THE ONE DATE WE DO NOT CONTROL</a:t>
            </a:r>
          </a:p>
        </p:txBody>
      </p:sp>
      <p:sp>
        <p:nvSpPr>
          <p:cNvPr id="11" name="TextBox 10"/>
          <p:cNvSpPr txBox="1"/>
          <p:nvPr/>
        </p:nvSpPr>
        <p:spPr>
          <a:xfrm>
            <a:off x="859536" y="4768595"/>
            <a:ext cx="4897983" cy="713232"/>
          </a:xfrm>
          <a:prstGeom prst="rect">
            <a:avLst/>
          </a:prstGeom>
          <a:noFill/>
        </p:spPr>
        <p:txBody>
          <a:bodyPr wrap="square" lIns="0" rIns="0" tIns="0" bIns="0" anchor="t">
            <a:spAutoFit/>
          </a:bodyPr>
          <a:lstStyle/>
          <a:p>
            <a:pPr algn="l">
              <a:lnSpc>
                <a:spcPct val="128000"/>
              </a:lnSpc>
            </a:pPr>
            <a:r>
              <a:rPr sz="1100" b="0">
                <a:solidFill>
                  <a:srgbClr val="38414F"/>
                </a:solidFill>
                <a:latin typeface="Calibri"/>
              </a:rPr>
              <a:t>We submit in week three of month 6 and allow two weeks of review on both stores. A rejection means a resubmission, not a rebuild — which is why hardening finishes in month 5 and not month 6.</a:t>
            </a:r>
          </a:p>
        </p:txBody>
      </p:sp>
      <p:sp>
        <p:nvSpPr>
          <p:cNvPr id="12" name="Rectangle 11"/>
          <p:cNvSpPr/>
          <p:nvPr/>
        </p:nvSpPr>
        <p:spPr>
          <a:xfrm>
            <a:off x="6233007" y="4384547"/>
            <a:ext cx="5300319" cy="1225296"/>
          </a:xfrm>
          <a:prstGeom prst="rect">
            <a:avLst/>
          </a:prstGeom>
          <a:solidFill>
            <a:srgbClr val="E6F2F0"/>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3007" y="4384547"/>
            <a:ext cx="41148" cy="1225296"/>
          </a:xfrm>
          <a:prstGeom prst="rect">
            <a:avLst/>
          </a:prstGeom>
          <a:solidFill>
            <a:srgbClr val="0E6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4175" y="4512563"/>
            <a:ext cx="4897983" cy="219456"/>
          </a:xfrm>
          <a:prstGeom prst="rect">
            <a:avLst/>
          </a:prstGeom>
          <a:noFill/>
        </p:spPr>
        <p:txBody>
          <a:bodyPr wrap="square" lIns="0" rIns="0" tIns="0" bIns="0" anchor="t">
            <a:spAutoFit/>
          </a:bodyPr>
          <a:lstStyle/>
          <a:p>
            <a:pPr algn="l"/>
            <a:r>
              <a:rPr sz="950" b="1">
                <a:solidFill>
                  <a:srgbClr val="0E6A60"/>
                </a:solidFill>
                <a:latin typeface="Consolas"/>
              </a:rPr>
              <a:t>THE ADMIN PANEL IS NOT HELD TO THAT</a:t>
            </a:r>
          </a:p>
        </p:txBody>
      </p:sp>
      <p:sp>
        <p:nvSpPr>
          <p:cNvPr id="15" name="TextBox 14"/>
          <p:cNvSpPr txBox="1"/>
          <p:nvPr/>
        </p:nvSpPr>
        <p:spPr>
          <a:xfrm>
            <a:off x="6434175" y="4768595"/>
            <a:ext cx="4897983" cy="713232"/>
          </a:xfrm>
          <a:prstGeom prst="rect">
            <a:avLst/>
          </a:prstGeom>
          <a:noFill/>
        </p:spPr>
        <p:txBody>
          <a:bodyPr wrap="square" lIns="0" rIns="0" tIns="0" bIns="0" anchor="t">
            <a:spAutoFit/>
          </a:bodyPr>
          <a:lstStyle/>
          <a:p>
            <a:pPr algn="l">
              <a:lnSpc>
                <a:spcPct val="128000"/>
              </a:lnSpc>
            </a:pPr>
            <a:r>
              <a:rPr sz="1100" b="0">
                <a:solidFill>
                  <a:srgbClr val="38414F"/>
                </a:solidFill>
                <a:latin typeface="Calibri"/>
              </a:rPr>
              <a:t>It is a web application, so it has no store review and is released as it is built. An internal version is usable from month 2; the one support actually runs on lands in month 4.</a:t>
            </a:r>
          </a:p>
        </p:txBody>
      </p:sp>
      <p:sp>
        <p:nvSpPr>
          <p:cNvPr id="16" name="TextBox 15"/>
          <p:cNvSpPr txBox="1"/>
          <p:nvPr/>
        </p:nvSpPr>
        <p:spPr>
          <a:xfrm>
            <a:off x="658368" y="6419088"/>
            <a:ext cx="8699967" cy="201168"/>
          </a:xfrm>
          <a:prstGeom prst="rect">
            <a:avLst/>
          </a:prstGeom>
          <a:noFill/>
        </p:spPr>
        <p:txBody>
          <a:bodyPr wrap="square" lIns="0" rIns="0" tIns="0" bIns="0" anchor="t">
            <a:spAutoFit/>
          </a:bodyPr>
          <a:lstStyle/>
          <a:p>
            <a:pPr algn="l"/>
            <a:r>
              <a:rPr sz="950" b="0">
                <a:solidFill>
                  <a:srgbClr val="5C6675"/>
                </a:solidFill>
                <a:latin typeface="Consolas"/>
              </a:rPr>
              <a:t>Release plan</a:t>
            </a:r>
          </a:p>
        </p:txBody>
      </p:sp>
      <p:sp>
        <p:nvSpPr>
          <p:cNvPr id="17" name="TextBox 16"/>
          <p:cNvSpPr txBox="1"/>
          <p:nvPr/>
        </p:nvSpPr>
        <p:spPr>
          <a:xfrm>
            <a:off x="10618927" y="6419088"/>
            <a:ext cx="914400" cy="201168"/>
          </a:xfrm>
          <a:prstGeom prst="rect">
            <a:avLst/>
          </a:prstGeom>
          <a:noFill/>
        </p:spPr>
        <p:txBody>
          <a:bodyPr wrap="square" lIns="0" rIns="0" tIns="0" bIns="0" anchor="t">
            <a:spAutoFit/>
          </a:bodyPr>
          <a:lstStyle/>
          <a:p>
            <a:pPr algn="r"/>
            <a:r>
              <a:rPr sz="950" b="0">
                <a:solidFill>
                  <a:srgbClr val="5C6675"/>
                </a:solidFill>
                <a:latin typeface="Consolas"/>
              </a:rPr>
              <a:t>13 / 16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pic>
        <p:nvPicPr>
          <p:cNvPr id="2" name="Picture 1" descr="NFCLogo.png"/>
          <p:cNvPicPr>
            <a:picLocks noChangeAspect="1"/>
          </p:cNvPicPr>
          <p:nvPr/>
        </p:nvPicPr>
        <p:blipFill>
          <a:blip r:embed="rId2"/>
          <a:stretch>
            <a:fillRect/>
          </a:stretch>
        </p:blipFill>
        <p:spPr>
          <a:xfrm>
            <a:off x="11206068" y="274320"/>
            <a:ext cx="327259" cy="365760"/>
          </a:xfrm>
          <a:prstGeom prst="rect">
            <a:avLst/>
          </a:prstGeom>
        </p:spPr>
      </p:pic>
      <p:sp>
        <p:nvSpPr>
          <p:cNvPr id="3" name="TextBox 2"/>
          <p:cNvSpPr txBox="1"/>
          <p:nvPr/>
        </p:nvSpPr>
        <p:spPr>
          <a:xfrm>
            <a:off x="658368" y="402336"/>
            <a:ext cx="10874959" cy="219456"/>
          </a:xfrm>
          <a:prstGeom prst="rect">
            <a:avLst/>
          </a:prstGeom>
          <a:noFill/>
        </p:spPr>
        <p:txBody>
          <a:bodyPr wrap="square" lIns="0" rIns="0" tIns="0" bIns="0" anchor="t">
            <a:spAutoFit/>
          </a:bodyPr>
          <a:lstStyle/>
          <a:p>
            <a:pPr algn="l"/>
            <a:r>
              <a:rPr sz="1050" b="1">
                <a:solidFill>
                  <a:srgbClr val="AF3327"/>
                </a:solidFill>
                <a:latin typeface="Consolas"/>
              </a:rPr>
              <a:t>DEVELOPMENT EFFORT</a:t>
            </a:r>
          </a:p>
        </p:txBody>
      </p:sp>
      <p:sp>
        <p:nvSpPr>
          <p:cNvPr id="4" name="TextBox 3"/>
          <p:cNvSpPr txBox="1"/>
          <p:nvPr/>
        </p:nvSpPr>
        <p:spPr>
          <a:xfrm>
            <a:off x="658368" y="676656"/>
            <a:ext cx="10874959" cy="566928"/>
          </a:xfrm>
          <a:prstGeom prst="rect">
            <a:avLst/>
          </a:prstGeom>
          <a:noFill/>
        </p:spPr>
        <p:txBody>
          <a:bodyPr wrap="square" lIns="0" rIns="0" tIns="0" bIns="0" anchor="t">
            <a:spAutoFit/>
          </a:bodyPr>
          <a:lstStyle/>
          <a:p>
            <a:pPr algn="l">
              <a:lnSpc>
                <a:spcPct val="102000"/>
              </a:lnSpc>
            </a:pPr>
            <a:r>
              <a:rPr sz="2600" b="0">
                <a:solidFill>
                  <a:srgbClr val="10131A"/>
                </a:solidFill>
                <a:latin typeface="Georgia"/>
              </a:rPr>
              <a:t>8,448 hours across six months</a:t>
            </a:r>
          </a:p>
        </p:txBody>
      </p:sp>
      <p:sp>
        <p:nvSpPr>
          <p:cNvPr id="5" name="TextBox 4"/>
          <p:cNvSpPr txBox="1"/>
          <p:nvPr/>
        </p:nvSpPr>
        <p:spPr>
          <a:xfrm>
            <a:off x="658368" y="1280160"/>
            <a:ext cx="9787463" cy="384048"/>
          </a:xfrm>
          <a:prstGeom prst="rect">
            <a:avLst/>
          </a:prstGeom>
          <a:noFill/>
        </p:spPr>
        <p:txBody>
          <a:bodyPr wrap="square" lIns="0" rIns="0" tIns="0" bIns="0" anchor="t">
            <a:spAutoFit/>
          </a:bodyPr>
          <a:lstStyle/>
          <a:p>
            <a:pPr algn="l">
              <a:lnSpc>
                <a:spcPct val="124000"/>
              </a:lnSpc>
            </a:pPr>
            <a:r>
              <a:rPr sz="1250" b="0">
                <a:solidFill>
                  <a:srgbClr val="5C6675"/>
                </a:solidFill>
                <a:latin typeface="Calibri"/>
              </a:rPr>
              <a:t>Eight people for the full six months, QA and design included. A flat model on purpose — one number that can be checked, rather than a curve to be re-argued every month.</a:t>
            </a:r>
          </a:p>
        </p:txBody>
      </p:sp>
      <p:sp>
        <p:nvSpPr>
          <p:cNvPr id="6" name="Rectangle 5"/>
          <p:cNvSpPr/>
          <p:nvPr/>
        </p:nvSpPr>
        <p:spPr>
          <a:xfrm>
            <a:off x="658368" y="1719072"/>
            <a:ext cx="822960" cy="32004"/>
          </a:xfrm>
          <a:prstGeom prst="rect">
            <a:avLst/>
          </a:prstGeom>
          <a:solidFill>
            <a:srgbClr val="FF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920239"/>
            <a:ext cx="10874959" cy="1042415"/>
          </a:xfrm>
          <a:prstGeom prst="rect">
            <a:avLst/>
          </a:prstGeom>
          <a:solidFill>
            <a:srgbClr val="223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2057399"/>
            <a:ext cx="10399471" cy="219456"/>
          </a:xfrm>
          <a:prstGeom prst="rect">
            <a:avLst/>
          </a:prstGeom>
          <a:noFill/>
        </p:spPr>
        <p:txBody>
          <a:bodyPr wrap="square" lIns="0" rIns="0" tIns="0" bIns="0" anchor="t">
            <a:spAutoFit/>
          </a:bodyPr>
          <a:lstStyle/>
          <a:p>
            <a:pPr algn="l"/>
            <a:r>
              <a:rPr sz="950" b="1">
                <a:solidFill>
                  <a:srgbClr val="FF6B5E"/>
                </a:solidFill>
                <a:latin typeface="Consolas"/>
              </a:rPr>
              <a:t>THE CALCULATION</a:t>
            </a:r>
          </a:p>
        </p:txBody>
      </p:sp>
      <p:sp>
        <p:nvSpPr>
          <p:cNvPr id="9" name="TextBox 8"/>
          <p:cNvSpPr txBox="1"/>
          <p:nvPr/>
        </p:nvSpPr>
        <p:spPr>
          <a:xfrm>
            <a:off x="658368" y="2359151"/>
            <a:ext cx="10874959" cy="420624"/>
          </a:xfrm>
          <a:prstGeom prst="rect">
            <a:avLst/>
          </a:prstGeom>
          <a:noFill/>
        </p:spPr>
        <p:txBody>
          <a:bodyPr wrap="square" lIns="0" rIns="0" tIns="0" bIns="0" anchor="t">
            <a:spAutoFit/>
          </a:bodyPr>
          <a:lstStyle/>
          <a:p>
            <a:pPr algn="ctr"/>
            <a:r>
              <a:rPr sz="1900" b="1">
                <a:solidFill>
                  <a:srgbClr val="FFFFFF"/>
                </a:solidFill>
                <a:latin typeface="Consolas"/>
              </a:rPr>
              <a:t>22</a:t>
            </a:r>
            <a:r>
              <a:rPr sz="1250" b="0">
                <a:solidFill>
                  <a:srgbClr val="C3CAD6"/>
                </a:solidFill>
                <a:latin typeface="Consolas"/>
              </a:rPr>
              <a:t> working days </a:t>
            </a:r>
            <a:r>
              <a:rPr sz="1500" b="1">
                <a:solidFill>
                  <a:srgbClr val="FF6B5E"/>
                </a:solidFill>
                <a:latin typeface="Consolas"/>
              </a:rPr>
              <a:t>×</a:t>
            </a:r>
            <a:r>
              <a:rPr sz="1900" b="1">
                <a:solidFill>
                  <a:srgbClr val="FFFFFF"/>
                </a:solidFill>
                <a:latin typeface="Consolas"/>
              </a:rPr>
              <a:t>  8</a:t>
            </a:r>
            <a:r>
              <a:rPr sz="1250" b="0">
                <a:solidFill>
                  <a:srgbClr val="C3CAD6"/>
                </a:solidFill>
                <a:latin typeface="Consolas"/>
              </a:rPr>
              <a:t> resources </a:t>
            </a:r>
            <a:r>
              <a:rPr sz="1500" b="1">
                <a:solidFill>
                  <a:srgbClr val="FF6B5E"/>
                </a:solidFill>
                <a:latin typeface="Consolas"/>
              </a:rPr>
              <a:t>×</a:t>
            </a:r>
            <a:r>
              <a:rPr sz="1900" b="1">
                <a:solidFill>
                  <a:srgbClr val="FFFFFF"/>
                </a:solidFill>
                <a:latin typeface="Consolas"/>
              </a:rPr>
              <a:t>  8</a:t>
            </a:r>
            <a:r>
              <a:rPr sz="1250" b="0">
                <a:solidFill>
                  <a:srgbClr val="C3CAD6"/>
                </a:solidFill>
                <a:latin typeface="Consolas"/>
              </a:rPr>
              <a:t> hours a day </a:t>
            </a:r>
            <a:r>
              <a:rPr sz="1500" b="1">
                <a:solidFill>
                  <a:srgbClr val="FF6B5E"/>
                </a:solidFill>
                <a:latin typeface="Consolas"/>
              </a:rPr>
              <a:t>×</a:t>
            </a:r>
            <a:r>
              <a:rPr sz="1900" b="1">
                <a:solidFill>
                  <a:srgbClr val="FFFFFF"/>
                </a:solidFill>
                <a:latin typeface="Consolas"/>
              </a:rPr>
              <a:t>  6</a:t>
            </a:r>
            <a:r>
              <a:rPr sz="1250" b="0">
                <a:solidFill>
                  <a:srgbClr val="C3CAD6"/>
                </a:solidFill>
                <a:latin typeface="Consolas"/>
              </a:rPr>
              <a:t> months </a:t>
            </a:r>
            <a:r>
              <a:rPr sz="1500" b="1">
                <a:solidFill>
                  <a:srgbClr val="FF6B5E"/>
                </a:solidFill>
                <a:latin typeface="Consolas"/>
              </a:rPr>
              <a:t>=</a:t>
            </a:r>
            <a:r>
              <a:rPr sz="2200" b="1">
                <a:solidFill>
                  <a:srgbClr val="FF6B5E"/>
                </a:solidFill>
                <a:latin typeface="Consolas"/>
              </a:rPr>
              <a:t>  8,448</a:t>
            </a:r>
            <a:r>
              <a:rPr sz="1250" b="0">
                <a:solidFill>
                  <a:srgbClr val="FFFFFF"/>
                </a:solidFill>
                <a:latin typeface="Consolas"/>
              </a:rPr>
              <a:t> hours</a:t>
            </a:r>
          </a:p>
        </p:txBody>
      </p:sp>
      <p:graphicFrame>
        <p:nvGraphicFramePr>
          <p:cNvPr id="10" name="Table 9"/>
          <p:cNvGraphicFramePr>
            <a:graphicFrameLocks noGrp="1"/>
          </p:cNvGraphicFramePr>
          <p:nvPr/>
        </p:nvGraphicFramePr>
        <p:xfrm>
          <a:off x="658368" y="3127248"/>
          <a:ext cx="10872216" cy="1956816"/>
        </p:xfrm>
        <a:graphic>
          <a:graphicData uri="http://schemas.openxmlformats.org/drawingml/2006/table">
            <a:tbl>
              <a:tblPr>
                <a:tableStyleId>{5C22544A-7EE6-4342-B048-85BDC9FD1C3A}</a:tableStyleId>
              </a:tblPr>
              <a:tblGrid>
                <a:gridCol w="2514600"/>
                <a:gridCol w="1170432"/>
                <a:gridCol w="1664208"/>
                <a:gridCol w="2212848"/>
                <a:gridCol w="3310128"/>
              </a:tblGrid>
              <a:tr h="310896">
                <a:tc>
                  <a:txBody>
                    <a:bodyPr wrap="square"/>
                    <a:lstStyle/>
                    <a:p>
                      <a:pPr algn="l"/>
                      <a:r>
                        <a:rPr sz="900" b="1">
                          <a:solidFill>
                            <a:srgbClr val="FFFFFF"/>
                          </a:solidFill>
                          <a:latin typeface="Calibri"/>
                        </a:rPr>
                        <a:t>Role</a:t>
                      </a:r>
                    </a:p>
                  </a:txBody>
                  <a:tcPr marL="82296" marR="82296" marT="18288" marB="18288" anchor="ctr">
                    <a:solidFill>
                      <a:srgbClr val="22304A"/>
                    </a:solidFill>
                  </a:tcPr>
                </a:tc>
                <a:tc>
                  <a:txBody>
                    <a:bodyPr wrap="square"/>
                    <a:lstStyle/>
                    <a:p>
                      <a:pPr algn="r"/>
                      <a:r>
                        <a:rPr sz="900" b="1">
                          <a:solidFill>
                            <a:srgbClr val="FFFFFF"/>
                          </a:solidFill>
                          <a:latin typeface="Calibri"/>
                        </a:rPr>
                        <a:t>Resources</a:t>
                      </a:r>
                    </a:p>
                  </a:txBody>
                  <a:tcPr marL="82296" marR="82296" marT="18288" marB="18288" anchor="ctr">
                    <a:solidFill>
                      <a:srgbClr val="22304A"/>
                    </a:solidFill>
                  </a:tcPr>
                </a:tc>
                <a:tc>
                  <a:txBody>
                    <a:bodyPr wrap="square"/>
                    <a:lstStyle/>
                    <a:p>
                      <a:pPr algn="r"/>
                      <a:r>
                        <a:rPr sz="900" b="1">
                          <a:solidFill>
                            <a:srgbClr val="FFFFFF"/>
                          </a:solidFill>
                          <a:latin typeface="Calibri"/>
                        </a:rPr>
                        <a:t>Hours a month</a:t>
                      </a:r>
                    </a:p>
                  </a:txBody>
                  <a:tcPr marL="82296" marR="82296" marT="18288" marB="18288" anchor="ctr">
                    <a:solidFill>
                      <a:srgbClr val="22304A"/>
                    </a:solidFill>
                  </a:tcPr>
                </a:tc>
                <a:tc>
                  <a:txBody>
                    <a:bodyPr wrap="square"/>
                    <a:lstStyle/>
                    <a:p>
                      <a:pPr algn="r"/>
                      <a:r>
                        <a:rPr sz="900" b="1">
                          <a:solidFill>
                            <a:srgbClr val="FFFFFF"/>
                          </a:solidFill>
                          <a:latin typeface="Calibri"/>
                        </a:rPr>
                        <a:t>Hours over six months</a:t>
                      </a:r>
                    </a:p>
                  </a:txBody>
                  <a:tcPr marL="82296" marR="82296" marT="18288" marB="18288" anchor="ctr">
                    <a:solidFill>
                      <a:srgbClr val="22304A"/>
                    </a:solidFill>
                  </a:tcPr>
                </a:tc>
                <a:tc>
                  <a:txBody>
                    <a:bodyPr wrap="square"/>
                    <a:lstStyle/>
                    <a:p>
                      <a:pPr algn="l"/>
                      <a:r>
                        <a:rPr sz="900" b="1">
                          <a:solidFill>
                            <a:srgbClr val="FFFFFF"/>
                          </a:solidFill>
                          <a:latin typeface="Calibri"/>
                        </a:rPr>
                        <a:t>What they own</a:t>
                      </a:r>
                    </a:p>
                  </a:txBody>
                  <a:tcPr marL="82296" marR="82296" marT="18288" marB="18288" anchor="ctr">
                    <a:solidFill>
                      <a:srgbClr val="22304A"/>
                    </a:solidFill>
                  </a:tcPr>
                </a:tc>
              </a:tr>
              <a:tr h="274320">
                <a:tc>
                  <a:txBody>
                    <a:bodyPr wrap="square"/>
                    <a:lstStyle/>
                    <a:p>
                      <a:pPr algn="l"/>
                      <a:r>
                        <a:rPr sz="1050" b="0">
                          <a:solidFill>
                            <a:srgbClr val="10131A"/>
                          </a:solidFill>
                          <a:latin typeface="Calibri"/>
                        </a:rPr>
                        <a:t>Mobile engineers</a:t>
                      </a:r>
                    </a:p>
                  </a:txBody>
                  <a:tcPr marL="82296" marR="82296" marT="18288" marB="18288" anchor="ctr">
                    <a:solidFill>
                      <a:srgbClr val="FFFFFF"/>
                    </a:solidFill>
                  </a:tcPr>
                </a:tc>
                <a:tc>
                  <a:txBody>
                    <a:bodyPr wrap="square"/>
                    <a:lstStyle/>
                    <a:p>
                      <a:pPr algn="r"/>
                      <a:r>
                        <a:rPr sz="1050" b="0">
                          <a:solidFill>
                            <a:srgbClr val="10131A"/>
                          </a:solidFill>
                          <a:latin typeface="Consolas"/>
                        </a:rPr>
                        <a:t>3</a:t>
                      </a:r>
                    </a:p>
                  </a:txBody>
                  <a:tcPr marL="82296" marR="82296" marT="18288" marB="18288" anchor="ctr">
                    <a:solidFill>
                      <a:srgbClr val="FFFFFF"/>
                    </a:solidFill>
                  </a:tcPr>
                </a:tc>
                <a:tc>
                  <a:txBody>
                    <a:bodyPr wrap="square"/>
                    <a:lstStyle/>
                    <a:p>
                      <a:pPr algn="r"/>
                      <a:r>
                        <a:rPr sz="1050" b="0">
                          <a:solidFill>
                            <a:srgbClr val="10131A"/>
                          </a:solidFill>
                          <a:latin typeface="Consolas"/>
                        </a:rPr>
                        <a:t>528</a:t>
                      </a:r>
                    </a:p>
                  </a:txBody>
                  <a:tcPr marL="82296" marR="82296" marT="18288" marB="18288" anchor="ctr">
                    <a:solidFill>
                      <a:srgbClr val="FFFFFF"/>
                    </a:solidFill>
                  </a:tcPr>
                </a:tc>
                <a:tc>
                  <a:txBody>
                    <a:bodyPr wrap="square"/>
                    <a:lstStyle/>
                    <a:p>
                      <a:pPr algn="r"/>
                      <a:r>
                        <a:rPr sz="1050" b="0">
                          <a:solidFill>
                            <a:srgbClr val="10131A"/>
                          </a:solidFill>
                          <a:latin typeface="Consolas"/>
                        </a:rPr>
                        <a:t>3,168</a:t>
                      </a:r>
                    </a:p>
                  </a:txBody>
                  <a:tcPr marL="82296" marR="82296" marT="18288" marB="18288" anchor="ctr">
                    <a:solidFill>
                      <a:srgbClr val="FFFFFF"/>
                    </a:solidFill>
                  </a:tcPr>
                </a:tc>
                <a:tc>
                  <a:txBody>
                    <a:bodyPr wrap="square"/>
                    <a:lstStyle/>
                    <a:p>
                      <a:pPr algn="l"/>
                      <a:r>
                        <a:rPr sz="1050" b="0">
                          <a:solidFill>
                            <a:srgbClr val="10131A"/>
                          </a:solidFill>
                          <a:latin typeface="Calibri"/>
                        </a:rPr>
                        <a:t>both apps, from one shared codebase</a:t>
                      </a:r>
                    </a:p>
                  </a:txBody>
                  <a:tcPr marL="82296" marR="82296" marT="18288" marB="18288" anchor="ctr">
                    <a:solidFill>
                      <a:srgbClr val="FFFFFF"/>
                    </a:solidFill>
                  </a:tcPr>
                </a:tc>
              </a:tr>
              <a:tr h="274320">
                <a:tc>
                  <a:txBody>
                    <a:bodyPr wrap="square"/>
                    <a:lstStyle/>
                    <a:p>
                      <a:pPr algn="l"/>
                      <a:r>
                        <a:rPr sz="1050" b="0">
                          <a:solidFill>
                            <a:srgbClr val="10131A"/>
                          </a:solidFill>
                          <a:latin typeface="Calibri"/>
                        </a:rPr>
                        <a:t>Backend and API engineers</a:t>
                      </a:r>
                    </a:p>
                  </a:txBody>
                  <a:tcPr marL="82296" marR="82296" marT="18288" marB="18288" anchor="ctr">
                    <a:solidFill>
                      <a:srgbClr val="EDF0F5"/>
                    </a:solidFill>
                  </a:tcPr>
                </a:tc>
                <a:tc>
                  <a:txBody>
                    <a:bodyPr wrap="square"/>
                    <a:lstStyle/>
                    <a:p>
                      <a:pPr algn="r"/>
                      <a:r>
                        <a:rPr sz="1050" b="0">
                          <a:solidFill>
                            <a:srgbClr val="10131A"/>
                          </a:solidFill>
                          <a:latin typeface="Consolas"/>
                        </a:rPr>
                        <a:t>2</a:t>
                      </a:r>
                    </a:p>
                  </a:txBody>
                  <a:tcPr marL="82296" marR="82296" marT="18288" marB="18288" anchor="ctr">
                    <a:solidFill>
                      <a:srgbClr val="EDF0F5"/>
                    </a:solidFill>
                  </a:tcPr>
                </a:tc>
                <a:tc>
                  <a:txBody>
                    <a:bodyPr wrap="square"/>
                    <a:lstStyle/>
                    <a:p>
                      <a:pPr algn="r"/>
                      <a:r>
                        <a:rPr sz="1050" b="0">
                          <a:solidFill>
                            <a:srgbClr val="10131A"/>
                          </a:solidFill>
                          <a:latin typeface="Consolas"/>
                        </a:rPr>
                        <a:t>352</a:t>
                      </a:r>
                    </a:p>
                  </a:txBody>
                  <a:tcPr marL="82296" marR="82296" marT="18288" marB="18288" anchor="ctr">
                    <a:solidFill>
                      <a:srgbClr val="EDF0F5"/>
                    </a:solidFill>
                  </a:tcPr>
                </a:tc>
                <a:tc>
                  <a:txBody>
                    <a:bodyPr wrap="square"/>
                    <a:lstStyle/>
                    <a:p>
                      <a:pPr algn="r"/>
                      <a:r>
                        <a:rPr sz="1050" b="0">
                          <a:solidFill>
                            <a:srgbClr val="10131A"/>
                          </a:solidFill>
                          <a:latin typeface="Consolas"/>
                        </a:rPr>
                        <a:t>2,112</a:t>
                      </a:r>
                    </a:p>
                  </a:txBody>
                  <a:tcPr marL="82296" marR="82296" marT="18288" marB="18288" anchor="ctr">
                    <a:solidFill>
                      <a:srgbClr val="EDF0F5"/>
                    </a:solidFill>
                  </a:tcPr>
                </a:tc>
                <a:tc>
                  <a:txBody>
                    <a:bodyPr wrap="square"/>
                    <a:lstStyle/>
                    <a:p>
                      <a:pPr algn="l"/>
                      <a:r>
                        <a:rPr sz="1050" b="0">
                          <a:solidFill>
                            <a:srgbClr val="10131A"/>
                          </a:solidFill>
                          <a:latin typeface="Calibri"/>
                        </a:rPr>
                        <a:t>the API, sealing, the delivery worker</a:t>
                      </a:r>
                    </a:p>
                  </a:txBody>
                  <a:tcPr marL="82296" marR="82296" marT="18288" marB="18288" anchor="ctr">
                    <a:solidFill>
                      <a:srgbClr val="EDF0F5"/>
                    </a:solidFill>
                  </a:tcPr>
                </a:tc>
              </a:tr>
              <a:tr h="274320">
                <a:tc>
                  <a:txBody>
                    <a:bodyPr wrap="square"/>
                    <a:lstStyle/>
                    <a:p>
                      <a:pPr algn="l"/>
                      <a:r>
                        <a:rPr sz="1050" b="0">
                          <a:solidFill>
                            <a:srgbClr val="10131A"/>
                          </a:solidFill>
                          <a:latin typeface="Calibri"/>
                        </a:rPr>
                        <a:t>Admin web engineer</a:t>
                      </a:r>
                    </a:p>
                  </a:txBody>
                  <a:tcPr marL="82296" marR="82296" marT="18288" marB="18288" anchor="ctr">
                    <a:solidFill>
                      <a:srgbClr val="FFFFFF"/>
                    </a:solidFill>
                  </a:tcPr>
                </a:tc>
                <a:tc>
                  <a:txBody>
                    <a:bodyPr wrap="square"/>
                    <a:lstStyle/>
                    <a:p>
                      <a:pPr algn="r"/>
                      <a:r>
                        <a:rPr sz="1050" b="0">
                          <a:solidFill>
                            <a:srgbClr val="10131A"/>
                          </a:solidFill>
                          <a:latin typeface="Consolas"/>
                        </a:rPr>
                        <a:t>1</a:t>
                      </a:r>
                    </a:p>
                  </a:txBody>
                  <a:tcPr marL="82296" marR="82296" marT="18288" marB="18288" anchor="ctr">
                    <a:solidFill>
                      <a:srgbClr val="FFFFFF"/>
                    </a:solidFill>
                  </a:tcPr>
                </a:tc>
                <a:tc>
                  <a:txBody>
                    <a:bodyPr wrap="square"/>
                    <a:lstStyle/>
                    <a:p>
                      <a:pPr algn="r"/>
                      <a:r>
                        <a:rPr sz="1050" b="0">
                          <a:solidFill>
                            <a:srgbClr val="10131A"/>
                          </a:solidFill>
                          <a:latin typeface="Consolas"/>
                        </a:rPr>
                        <a:t>176</a:t>
                      </a:r>
                    </a:p>
                  </a:txBody>
                  <a:tcPr marL="82296" marR="82296" marT="18288" marB="18288" anchor="ctr">
                    <a:solidFill>
                      <a:srgbClr val="FFFFFF"/>
                    </a:solidFill>
                  </a:tcPr>
                </a:tc>
                <a:tc>
                  <a:txBody>
                    <a:bodyPr wrap="square"/>
                    <a:lstStyle/>
                    <a:p>
                      <a:pPr algn="r"/>
                      <a:r>
                        <a:rPr sz="1050" b="0">
                          <a:solidFill>
                            <a:srgbClr val="10131A"/>
                          </a:solidFill>
                          <a:latin typeface="Consolas"/>
                        </a:rPr>
                        <a:t>1,056</a:t>
                      </a:r>
                    </a:p>
                  </a:txBody>
                  <a:tcPr marL="82296" marR="82296" marT="18288" marB="18288" anchor="ctr">
                    <a:solidFill>
                      <a:srgbClr val="FFFFFF"/>
                    </a:solidFill>
                  </a:tcPr>
                </a:tc>
                <a:tc>
                  <a:txBody>
                    <a:bodyPr wrap="square"/>
                    <a:lstStyle/>
                    <a:p>
                      <a:pPr algn="l"/>
                      <a:r>
                        <a:rPr sz="1050" b="0">
                          <a:solidFill>
                            <a:srgbClr val="10131A"/>
                          </a:solidFill>
                          <a:latin typeface="Calibri"/>
                        </a:rPr>
                        <a:t>the admin panel and operations views</a:t>
                      </a:r>
                    </a:p>
                  </a:txBody>
                  <a:tcPr marL="82296" marR="82296" marT="18288" marB="18288" anchor="ctr">
                    <a:solidFill>
                      <a:srgbClr val="FFFFFF"/>
                    </a:solidFill>
                  </a:tcPr>
                </a:tc>
              </a:tr>
              <a:tr h="274320">
                <a:tc>
                  <a:txBody>
                    <a:bodyPr wrap="square"/>
                    <a:lstStyle/>
                    <a:p>
                      <a:pPr algn="l"/>
                      <a:r>
                        <a:rPr sz="1050" b="0">
                          <a:solidFill>
                            <a:srgbClr val="10131A"/>
                          </a:solidFill>
                          <a:latin typeface="Calibri"/>
                        </a:rPr>
                        <a:t>UI designer</a:t>
                      </a:r>
                    </a:p>
                  </a:txBody>
                  <a:tcPr marL="82296" marR="82296" marT="18288" marB="18288" anchor="ctr">
                    <a:solidFill>
                      <a:srgbClr val="EDF0F5"/>
                    </a:solidFill>
                  </a:tcPr>
                </a:tc>
                <a:tc>
                  <a:txBody>
                    <a:bodyPr wrap="square"/>
                    <a:lstStyle/>
                    <a:p>
                      <a:pPr algn="r"/>
                      <a:r>
                        <a:rPr sz="1050" b="0">
                          <a:solidFill>
                            <a:srgbClr val="10131A"/>
                          </a:solidFill>
                          <a:latin typeface="Consolas"/>
                        </a:rPr>
                        <a:t>1</a:t>
                      </a:r>
                    </a:p>
                  </a:txBody>
                  <a:tcPr marL="82296" marR="82296" marT="18288" marB="18288" anchor="ctr">
                    <a:solidFill>
                      <a:srgbClr val="EDF0F5"/>
                    </a:solidFill>
                  </a:tcPr>
                </a:tc>
                <a:tc>
                  <a:txBody>
                    <a:bodyPr wrap="square"/>
                    <a:lstStyle/>
                    <a:p>
                      <a:pPr algn="r"/>
                      <a:r>
                        <a:rPr sz="1050" b="0">
                          <a:solidFill>
                            <a:srgbClr val="10131A"/>
                          </a:solidFill>
                          <a:latin typeface="Consolas"/>
                        </a:rPr>
                        <a:t>176</a:t>
                      </a:r>
                    </a:p>
                  </a:txBody>
                  <a:tcPr marL="82296" marR="82296" marT="18288" marB="18288" anchor="ctr">
                    <a:solidFill>
                      <a:srgbClr val="EDF0F5"/>
                    </a:solidFill>
                  </a:tcPr>
                </a:tc>
                <a:tc>
                  <a:txBody>
                    <a:bodyPr wrap="square"/>
                    <a:lstStyle/>
                    <a:p>
                      <a:pPr algn="r"/>
                      <a:r>
                        <a:rPr sz="1050" b="0">
                          <a:solidFill>
                            <a:srgbClr val="10131A"/>
                          </a:solidFill>
                          <a:latin typeface="Consolas"/>
                        </a:rPr>
                        <a:t>1,056</a:t>
                      </a:r>
                    </a:p>
                  </a:txBody>
                  <a:tcPr marL="82296" marR="82296" marT="18288" marB="18288" anchor="ctr">
                    <a:solidFill>
                      <a:srgbClr val="EDF0F5"/>
                    </a:solidFill>
                  </a:tcPr>
                </a:tc>
                <a:tc>
                  <a:txBody>
                    <a:bodyPr wrap="square"/>
                    <a:lstStyle/>
                    <a:p>
                      <a:pPr algn="l"/>
                      <a:r>
                        <a:rPr sz="1050" b="0">
                          <a:solidFill>
                            <a:srgbClr val="10131A"/>
                          </a:solidFill>
                          <a:latin typeface="Calibri"/>
                        </a:rPr>
                        <a:t>every screen, before it is built</a:t>
                      </a:r>
                    </a:p>
                  </a:txBody>
                  <a:tcPr marL="82296" marR="82296" marT="18288" marB="18288" anchor="ctr">
                    <a:solidFill>
                      <a:srgbClr val="EDF0F5"/>
                    </a:solidFill>
                  </a:tcPr>
                </a:tc>
              </a:tr>
              <a:tr h="274320">
                <a:tc>
                  <a:txBody>
                    <a:bodyPr wrap="square"/>
                    <a:lstStyle/>
                    <a:p>
                      <a:pPr algn="l"/>
                      <a:r>
                        <a:rPr sz="1050" b="0">
                          <a:solidFill>
                            <a:srgbClr val="10131A"/>
                          </a:solidFill>
                          <a:latin typeface="Calibri"/>
                        </a:rPr>
                        <a:t>QA engineer</a:t>
                      </a:r>
                    </a:p>
                  </a:txBody>
                  <a:tcPr marL="82296" marR="82296" marT="18288" marB="18288" anchor="ctr">
                    <a:solidFill>
                      <a:srgbClr val="FFFFFF"/>
                    </a:solidFill>
                  </a:tcPr>
                </a:tc>
                <a:tc>
                  <a:txBody>
                    <a:bodyPr wrap="square"/>
                    <a:lstStyle/>
                    <a:p>
                      <a:pPr algn="r"/>
                      <a:r>
                        <a:rPr sz="1050" b="0">
                          <a:solidFill>
                            <a:srgbClr val="10131A"/>
                          </a:solidFill>
                          <a:latin typeface="Consolas"/>
                        </a:rPr>
                        <a:t>1</a:t>
                      </a:r>
                    </a:p>
                  </a:txBody>
                  <a:tcPr marL="82296" marR="82296" marT="18288" marB="18288" anchor="ctr">
                    <a:solidFill>
                      <a:srgbClr val="FFFFFF"/>
                    </a:solidFill>
                  </a:tcPr>
                </a:tc>
                <a:tc>
                  <a:txBody>
                    <a:bodyPr wrap="square"/>
                    <a:lstStyle/>
                    <a:p>
                      <a:pPr algn="r"/>
                      <a:r>
                        <a:rPr sz="1050" b="0">
                          <a:solidFill>
                            <a:srgbClr val="10131A"/>
                          </a:solidFill>
                          <a:latin typeface="Consolas"/>
                        </a:rPr>
                        <a:t>176</a:t>
                      </a:r>
                    </a:p>
                  </a:txBody>
                  <a:tcPr marL="82296" marR="82296" marT="18288" marB="18288" anchor="ctr">
                    <a:solidFill>
                      <a:srgbClr val="FFFFFF"/>
                    </a:solidFill>
                  </a:tcPr>
                </a:tc>
                <a:tc>
                  <a:txBody>
                    <a:bodyPr wrap="square"/>
                    <a:lstStyle/>
                    <a:p>
                      <a:pPr algn="r"/>
                      <a:r>
                        <a:rPr sz="1050" b="0">
                          <a:solidFill>
                            <a:srgbClr val="10131A"/>
                          </a:solidFill>
                          <a:latin typeface="Consolas"/>
                        </a:rPr>
                        <a:t>1,056</a:t>
                      </a:r>
                    </a:p>
                  </a:txBody>
                  <a:tcPr marL="82296" marR="82296" marT="18288" marB="18288" anchor="ctr">
                    <a:solidFill>
                      <a:srgbClr val="FFFFFF"/>
                    </a:solidFill>
                  </a:tcPr>
                </a:tc>
                <a:tc>
                  <a:txBody>
                    <a:bodyPr wrap="square"/>
                    <a:lstStyle/>
                    <a:p>
                      <a:pPr algn="l"/>
                      <a:r>
                        <a:rPr sz="1050" b="0">
                          <a:solidFill>
                            <a:srgbClr val="10131A"/>
                          </a:solidFill>
                          <a:latin typeface="Calibri"/>
                        </a:rPr>
                        <a:t>test plans, devices, release sign-off</a:t>
                      </a:r>
                    </a:p>
                  </a:txBody>
                  <a:tcPr marL="82296" marR="82296" marT="18288" marB="18288" anchor="ctr">
                    <a:solidFill>
                      <a:srgbClr val="FFFFFF"/>
                    </a:solidFill>
                  </a:tcPr>
                </a:tc>
              </a:tr>
              <a:tr h="274320">
                <a:tc>
                  <a:txBody>
                    <a:bodyPr wrap="square"/>
                    <a:lstStyle/>
                    <a:p>
                      <a:pPr algn="l"/>
                      <a:r>
                        <a:rPr sz="1050" b="1">
                          <a:solidFill>
                            <a:srgbClr val="10131A"/>
                          </a:solidFill>
                          <a:latin typeface="Calibri"/>
                        </a:rPr>
                        <a:t>Total</a:t>
                      </a:r>
                    </a:p>
                  </a:txBody>
                  <a:tcPr marL="82296" marR="82296" marT="18288" marB="18288" anchor="ctr">
                    <a:solidFill>
                      <a:srgbClr val="FFF0EE"/>
                    </a:solidFill>
                  </a:tcPr>
                </a:tc>
                <a:tc>
                  <a:txBody>
                    <a:bodyPr wrap="square"/>
                    <a:lstStyle/>
                    <a:p>
                      <a:pPr algn="r"/>
                      <a:r>
                        <a:rPr sz="1050" b="1">
                          <a:solidFill>
                            <a:srgbClr val="10131A"/>
                          </a:solidFill>
                          <a:latin typeface="Consolas"/>
                        </a:rPr>
                        <a:t>8</a:t>
                      </a:r>
                    </a:p>
                  </a:txBody>
                  <a:tcPr marL="82296" marR="82296" marT="18288" marB="18288" anchor="ctr">
                    <a:solidFill>
                      <a:srgbClr val="FFF0EE"/>
                    </a:solidFill>
                  </a:tcPr>
                </a:tc>
                <a:tc>
                  <a:txBody>
                    <a:bodyPr wrap="square"/>
                    <a:lstStyle/>
                    <a:p>
                      <a:pPr algn="r"/>
                      <a:r>
                        <a:rPr sz="1050" b="1">
                          <a:solidFill>
                            <a:srgbClr val="10131A"/>
                          </a:solidFill>
                          <a:latin typeface="Consolas"/>
                        </a:rPr>
                        <a:t>1,408</a:t>
                      </a:r>
                    </a:p>
                  </a:txBody>
                  <a:tcPr marL="82296" marR="82296" marT="18288" marB="18288" anchor="ctr">
                    <a:solidFill>
                      <a:srgbClr val="FFF0EE"/>
                    </a:solidFill>
                  </a:tcPr>
                </a:tc>
                <a:tc>
                  <a:txBody>
                    <a:bodyPr wrap="square"/>
                    <a:lstStyle/>
                    <a:p>
                      <a:pPr algn="r"/>
                      <a:r>
                        <a:rPr sz="1050" b="1">
                          <a:solidFill>
                            <a:srgbClr val="10131A"/>
                          </a:solidFill>
                          <a:latin typeface="Consolas"/>
                        </a:rPr>
                        <a:t>8,448</a:t>
                      </a:r>
                    </a:p>
                  </a:txBody>
                  <a:tcPr marL="82296" marR="82296" marT="18288" marB="18288" anchor="ctr">
                    <a:solidFill>
                      <a:srgbClr val="FFF0EE"/>
                    </a:solidFill>
                  </a:tcPr>
                </a:tc>
                <a:tc>
                  <a:txBody>
                    <a:bodyPr wrap="square"/>
                    <a:lstStyle/>
                    <a:p>
                      <a:pPr algn="l"/>
                      <a:r>
                        <a:rPr sz="1050" b="1">
                          <a:solidFill>
                            <a:srgbClr val="10131A"/>
                          </a:solidFill>
                          <a:latin typeface="Calibri"/>
                        </a:rPr>
                        <a:t>—</a:t>
                      </a:r>
                    </a:p>
                  </a:txBody>
                  <a:tcPr marL="82296" marR="82296" marT="18288" marB="18288" anchor="ctr">
                    <a:solidFill>
                      <a:srgbClr val="FFF0EE"/>
                    </a:solidFill>
                  </a:tcPr>
                </a:tc>
              </a:tr>
            </a:tbl>
          </a:graphicData>
        </a:graphic>
      </p:graphicFrame>
      <p:sp>
        <p:nvSpPr>
          <p:cNvPr id="11" name="Rectangle 10"/>
          <p:cNvSpPr/>
          <p:nvPr/>
        </p:nvSpPr>
        <p:spPr>
          <a:xfrm>
            <a:off x="658368" y="5266944"/>
            <a:ext cx="5300319" cy="1024128"/>
          </a:xfrm>
          <a:prstGeom prst="rect">
            <a:avLst/>
          </a:prstGeom>
          <a:solidFill>
            <a:srgbClr val="FFFFFF"/>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5266944"/>
            <a:ext cx="41148" cy="1024128"/>
          </a:xfrm>
          <a:prstGeom prst="rect">
            <a:avLst/>
          </a:prstGeom>
          <a:solidFill>
            <a:srgbClr val="FF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 y="5394959"/>
            <a:ext cx="4897983" cy="219456"/>
          </a:xfrm>
          <a:prstGeom prst="rect">
            <a:avLst/>
          </a:prstGeom>
          <a:noFill/>
        </p:spPr>
        <p:txBody>
          <a:bodyPr wrap="square" lIns="0" rIns="0" tIns="0" bIns="0" anchor="t">
            <a:spAutoFit/>
          </a:bodyPr>
          <a:lstStyle/>
          <a:p>
            <a:pPr algn="l"/>
            <a:r>
              <a:rPr sz="950" b="1">
                <a:solidFill>
                  <a:srgbClr val="AF3327"/>
                </a:solidFill>
                <a:latin typeface="Consolas"/>
              </a:rPr>
              <a:t>HOW THE NUMBER IS BUILT</a:t>
            </a:r>
          </a:p>
        </p:txBody>
      </p:sp>
      <p:sp>
        <p:nvSpPr>
          <p:cNvPr id="14" name="TextBox 13"/>
          <p:cNvSpPr txBox="1"/>
          <p:nvPr/>
        </p:nvSpPr>
        <p:spPr>
          <a:xfrm>
            <a:off x="859536" y="5650992"/>
            <a:ext cx="4897983" cy="512064"/>
          </a:xfrm>
          <a:prstGeom prst="rect">
            <a:avLst/>
          </a:prstGeom>
          <a:noFill/>
        </p:spPr>
        <p:txBody>
          <a:bodyPr wrap="square" lIns="0" rIns="0" tIns="0" bIns="0" anchor="t">
            <a:spAutoFit/>
          </a:bodyPr>
          <a:lstStyle/>
          <a:p>
            <a:pPr algn="l">
              <a:lnSpc>
                <a:spcPct val="128000"/>
              </a:lnSpc>
            </a:pPr>
            <a:r>
              <a:rPr sz="1100" b="0">
                <a:solidFill>
                  <a:srgbClr val="38414F"/>
                </a:solidFill>
                <a:latin typeface="Calibri"/>
              </a:rPr>
              <a:t>Twenty-two days is the average working month — 261 working days in a year. Public holidays and personal leave sit inside that average rather than being deducted again.</a:t>
            </a:r>
          </a:p>
        </p:txBody>
      </p:sp>
      <p:sp>
        <p:nvSpPr>
          <p:cNvPr id="15" name="Rectangle 14"/>
          <p:cNvSpPr/>
          <p:nvPr/>
        </p:nvSpPr>
        <p:spPr>
          <a:xfrm>
            <a:off x="6233007" y="5266944"/>
            <a:ext cx="5300319" cy="1024128"/>
          </a:xfrm>
          <a:prstGeom prst="rect">
            <a:avLst/>
          </a:prstGeom>
          <a:solidFill>
            <a:srgbClr val="E6F2F0"/>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3007" y="5266944"/>
            <a:ext cx="41148" cy="1024128"/>
          </a:xfrm>
          <a:prstGeom prst="rect">
            <a:avLst/>
          </a:prstGeom>
          <a:solidFill>
            <a:srgbClr val="0E6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34175" y="5394959"/>
            <a:ext cx="4897983" cy="219456"/>
          </a:xfrm>
          <a:prstGeom prst="rect">
            <a:avLst/>
          </a:prstGeom>
          <a:noFill/>
        </p:spPr>
        <p:txBody>
          <a:bodyPr wrap="square" lIns="0" rIns="0" tIns="0" bIns="0" anchor="t">
            <a:spAutoFit/>
          </a:bodyPr>
          <a:lstStyle/>
          <a:p>
            <a:pPr algn="l"/>
            <a:r>
              <a:rPr sz="950" b="1">
                <a:solidFill>
                  <a:srgbClr val="0E6A60"/>
                </a:solidFill>
                <a:latin typeface="Consolas"/>
              </a:rPr>
              <a:t>WHAT THE 8,448 HOURS EXCLUDES</a:t>
            </a:r>
          </a:p>
        </p:txBody>
      </p:sp>
      <p:sp>
        <p:nvSpPr>
          <p:cNvPr id="18" name="TextBox 17"/>
          <p:cNvSpPr txBox="1"/>
          <p:nvPr/>
        </p:nvSpPr>
        <p:spPr>
          <a:xfrm>
            <a:off x="6434175" y="5650992"/>
            <a:ext cx="4897983" cy="512064"/>
          </a:xfrm>
          <a:prstGeom prst="rect">
            <a:avLst/>
          </a:prstGeom>
          <a:noFill/>
        </p:spPr>
        <p:txBody>
          <a:bodyPr wrap="square" lIns="0" rIns="0" tIns="0" bIns="0" anchor="t">
            <a:spAutoFit/>
          </a:bodyPr>
          <a:lstStyle/>
          <a:p>
            <a:pPr algn="l">
              <a:lnSpc>
                <a:spcPct val="128000"/>
              </a:lnSpc>
            </a:pPr>
            <a:r>
              <a:rPr sz="1100" b="0">
                <a:solidFill>
                  <a:srgbClr val="38414F"/>
                </a:solidFill>
                <a:latin typeface="Calibri"/>
              </a:rPr>
              <a:t>Time spent waiting on store review, the database and interface foundations already built, and anything agreed after month 6.</a:t>
            </a:r>
          </a:p>
        </p:txBody>
      </p:sp>
      <p:sp>
        <p:nvSpPr>
          <p:cNvPr id="19" name="TextBox 18"/>
          <p:cNvSpPr txBox="1"/>
          <p:nvPr/>
        </p:nvSpPr>
        <p:spPr>
          <a:xfrm>
            <a:off x="658368" y="6419088"/>
            <a:ext cx="8699967" cy="201168"/>
          </a:xfrm>
          <a:prstGeom prst="rect">
            <a:avLst/>
          </a:prstGeom>
          <a:noFill/>
        </p:spPr>
        <p:txBody>
          <a:bodyPr wrap="square" lIns="0" rIns="0" tIns="0" bIns="0" anchor="t">
            <a:spAutoFit/>
          </a:bodyPr>
          <a:lstStyle/>
          <a:p>
            <a:pPr algn="l"/>
            <a:r>
              <a:rPr sz="950" b="0">
                <a:solidFill>
                  <a:srgbClr val="5C6675"/>
                </a:solidFill>
                <a:latin typeface="Consolas"/>
              </a:rPr>
              <a:t>Development effort</a:t>
            </a:r>
          </a:p>
        </p:txBody>
      </p:sp>
      <p:sp>
        <p:nvSpPr>
          <p:cNvPr id="20" name="TextBox 19"/>
          <p:cNvSpPr txBox="1"/>
          <p:nvPr/>
        </p:nvSpPr>
        <p:spPr>
          <a:xfrm>
            <a:off x="10618927" y="6419088"/>
            <a:ext cx="914400" cy="201168"/>
          </a:xfrm>
          <a:prstGeom prst="rect">
            <a:avLst/>
          </a:prstGeom>
          <a:noFill/>
        </p:spPr>
        <p:txBody>
          <a:bodyPr wrap="square" lIns="0" rIns="0" tIns="0" bIns="0" anchor="t">
            <a:spAutoFit/>
          </a:bodyPr>
          <a:lstStyle/>
          <a:p>
            <a:pPr algn="r"/>
            <a:r>
              <a:rPr sz="950" b="0">
                <a:solidFill>
                  <a:srgbClr val="5C6675"/>
                </a:solidFill>
                <a:latin typeface="Consolas"/>
              </a:rPr>
              <a:t>14 / 16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pic>
        <p:nvPicPr>
          <p:cNvPr id="2" name="Picture 1" descr="NFCLogo.png"/>
          <p:cNvPicPr>
            <a:picLocks noChangeAspect="1"/>
          </p:cNvPicPr>
          <p:nvPr/>
        </p:nvPicPr>
        <p:blipFill>
          <a:blip r:embed="rId2"/>
          <a:stretch>
            <a:fillRect/>
          </a:stretch>
        </p:blipFill>
        <p:spPr>
          <a:xfrm>
            <a:off x="11206068" y="274320"/>
            <a:ext cx="327259" cy="365760"/>
          </a:xfrm>
          <a:prstGeom prst="rect">
            <a:avLst/>
          </a:prstGeom>
        </p:spPr>
      </p:pic>
      <p:sp>
        <p:nvSpPr>
          <p:cNvPr id="3" name="TextBox 2"/>
          <p:cNvSpPr txBox="1"/>
          <p:nvPr/>
        </p:nvSpPr>
        <p:spPr>
          <a:xfrm>
            <a:off x="658368" y="402336"/>
            <a:ext cx="10874959" cy="219456"/>
          </a:xfrm>
          <a:prstGeom prst="rect">
            <a:avLst/>
          </a:prstGeom>
          <a:noFill/>
        </p:spPr>
        <p:txBody>
          <a:bodyPr wrap="square" lIns="0" rIns="0" tIns="0" bIns="0" anchor="t">
            <a:spAutoFit/>
          </a:bodyPr>
          <a:lstStyle/>
          <a:p>
            <a:pPr algn="l"/>
            <a:r>
              <a:rPr sz="1050" b="1">
                <a:solidFill>
                  <a:srgbClr val="AF3327"/>
                </a:solidFill>
                <a:latin typeface="Consolas"/>
              </a:rPr>
              <a:t>PLANS AND PRICES</a:t>
            </a:r>
          </a:p>
        </p:txBody>
      </p:sp>
      <p:sp>
        <p:nvSpPr>
          <p:cNvPr id="4" name="TextBox 3"/>
          <p:cNvSpPr txBox="1"/>
          <p:nvPr/>
        </p:nvSpPr>
        <p:spPr>
          <a:xfrm>
            <a:off x="658368" y="676656"/>
            <a:ext cx="10874959" cy="566928"/>
          </a:xfrm>
          <a:prstGeom prst="rect">
            <a:avLst/>
          </a:prstGeom>
          <a:noFill/>
        </p:spPr>
        <p:txBody>
          <a:bodyPr wrap="square" lIns="0" rIns="0" tIns="0" bIns="0" anchor="t">
            <a:spAutoFit/>
          </a:bodyPr>
          <a:lstStyle/>
          <a:p>
            <a:pPr algn="l">
              <a:lnSpc>
                <a:spcPct val="102000"/>
              </a:lnSpc>
            </a:pPr>
            <a:r>
              <a:rPr sz="2600" b="0">
                <a:solidFill>
                  <a:srgbClr val="10131A"/>
                </a:solidFill>
                <a:latin typeface="Georgia"/>
              </a:rPr>
              <a:t>Free, Premium and Family</a:t>
            </a:r>
          </a:p>
        </p:txBody>
      </p:sp>
      <p:sp>
        <p:nvSpPr>
          <p:cNvPr id="5" name="TextBox 4"/>
          <p:cNvSpPr txBox="1"/>
          <p:nvPr/>
        </p:nvSpPr>
        <p:spPr>
          <a:xfrm>
            <a:off x="658368" y="1280160"/>
            <a:ext cx="9787463" cy="384048"/>
          </a:xfrm>
          <a:prstGeom prst="rect">
            <a:avLst/>
          </a:prstGeom>
          <a:noFill/>
        </p:spPr>
        <p:txBody>
          <a:bodyPr wrap="square" lIns="0" rIns="0" tIns="0" bIns="0" anchor="t">
            <a:spAutoFit/>
          </a:bodyPr>
          <a:lstStyle/>
          <a:p>
            <a:pPr algn="l">
              <a:lnSpc>
                <a:spcPct val="124000"/>
              </a:lnSpc>
            </a:pPr>
            <a:r>
              <a:rPr sz="1250" b="0">
                <a:solidFill>
                  <a:srgbClr val="5C6675"/>
                </a:solidFill>
                <a:latin typeface="Calibri"/>
              </a:rPr>
              <a:t>Every plan is limited by storage and capsule horizon — never by a count of memories. The wall is hit once, late, when upgrading already feels rational.</a:t>
            </a:r>
          </a:p>
        </p:txBody>
      </p:sp>
      <p:sp>
        <p:nvSpPr>
          <p:cNvPr id="6" name="Rectangle 5"/>
          <p:cNvSpPr/>
          <p:nvPr/>
        </p:nvSpPr>
        <p:spPr>
          <a:xfrm>
            <a:off x="658368" y="1719072"/>
            <a:ext cx="822960" cy="32004"/>
          </a:xfrm>
          <a:prstGeom prst="rect">
            <a:avLst/>
          </a:prstGeom>
          <a:solidFill>
            <a:srgbClr val="FF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920239"/>
            <a:ext cx="3490874" cy="896112"/>
          </a:xfrm>
          <a:prstGeom prst="rect">
            <a:avLst/>
          </a:prstGeom>
          <a:solidFill>
            <a:srgbClr val="2C3B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2020823"/>
            <a:ext cx="3125114" cy="201168"/>
          </a:xfrm>
          <a:prstGeom prst="rect">
            <a:avLst/>
          </a:prstGeom>
          <a:noFill/>
        </p:spPr>
        <p:txBody>
          <a:bodyPr wrap="square" lIns="0" rIns="0" tIns="0" bIns="0" anchor="t">
            <a:spAutoFit/>
          </a:bodyPr>
          <a:lstStyle/>
          <a:p>
            <a:pPr algn="l"/>
            <a:r>
              <a:rPr sz="950" b="1">
                <a:solidFill>
                  <a:srgbClr val="FF6B5E"/>
                </a:solidFill>
                <a:latin typeface="Consolas"/>
              </a:rPr>
              <a:t>FREE</a:t>
            </a:r>
          </a:p>
        </p:txBody>
      </p:sp>
      <p:sp>
        <p:nvSpPr>
          <p:cNvPr id="9" name="TextBox 8"/>
          <p:cNvSpPr txBox="1"/>
          <p:nvPr/>
        </p:nvSpPr>
        <p:spPr>
          <a:xfrm>
            <a:off x="841247" y="2249423"/>
            <a:ext cx="3125114" cy="310896"/>
          </a:xfrm>
          <a:prstGeom prst="rect">
            <a:avLst/>
          </a:prstGeom>
          <a:noFill/>
        </p:spPr>
        <p:txBody>
          <a:bodyPr wrap="square" lIns="0" rIns="0" tIns="0" bIns="0" anchor="t">
            <a:spAutoFit/>
          </a:bodyPr>
          <a:lstStyle/>
          <a:p>
            <a:pPr algn="l"/>
            <a:r>
              <a:rPr sz="2100" b="0">
                <a:solidFill>
                  <a:srgbClr val="FFFFFF"/>
                </a:solidFill>
                <a:latin typeface="Georgia"/>
              </a:rPr>
              <a:t>$0</a:t>
            </a:r>
          </a:p>
        </p:txBody>
      </p:sp>
      <p:sp>
        <p:nvSpPr>
          <p:cNvPr id="10" name="TextBox 9"/>
          <p:cNvSpPr txBox="1"/>
          <p:nvPr/>
        </p:nvSpPr>
        <p:spPr>
          <a:xfrm>
            <a:off x="841247" y="2587751"/>
            <a:ext cx="3125114" cy="182880"/>
          </a:xfrm>
          <a:prstGeom prst="rect">
            <a:avLst/>
          </a:prstGeom>
          <a:noFill/>
        </p:spPr>
        <p:txBody>
          <a:bodyPr wrap="square" lIns="0" rIns="0" tIns="0" bIns="0" anchor="t">
            <a:spAutoFit/>
          </a:bodyPr>
          <a:lstStyle/>
          <a:p>
            <a:pPr algn="l"/>
            <a:r>
              <a:rPr sz="900" b="0">
                <a:solidFill>
                  <a:srgbClr val="949DAC"/>
                </a:solidFill>
                <a:latin typeface="Consolas"/>
              </a:rPr>
              <a:t>10 GB, kept for good</a:t>
            </a:r>
          </a:p>
        </p:txBody>
      </p:sp>
      <p:sp>
        <p:nvSpPr>
          <p:cNvPr id="11" name="Rectangle 10"/>
          <p:cNvSpPr/>
          <p:nvPr/>
        </p:nvSpPr>
        <p:spPr>
          <a:xfrm>
            <a:off x="4350410" y="1920239"/>
            <a:ext cx="3490874" cy="896112"/>
          </a:xfrm>
          <a:prstGeom prst="rect">
            <a:avLst/>
          </a:prstGeom>
          <a:solidFill>
            <a:srgbClr val="FF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33290" y="2020823"/>
            <a:ext cx="3125114" cy="201168"/>
          </a:xfrm>
          <a:prstGeom prst="rect">
            <a:avLst/>
          </a:prstGeom>
          <a:noFill/>
        </p:spPr>
        <p:txBody>
          <a:bodyPr wrap="square" lIns="0" rIns="0" tIns="0" bIns="0" anchor="t">
            <a:spAutoFit/>
          </a:bodyPr>
          <a:lstStyle/>
          <a:p>
            <a:pPr algn="l"/>
            <a:r>
              <a:rPr sz="950" b="1">
                <a:solidFill>
                  <a:srgbClr val="FFFFFF"/>
                </a:solidFill>
                <a:latin typeface="Consolas"/>
              </a:rPr>
              <a:t>PREMIUM</a:t>
            </a:r>
          </a:p>
        </p:txBody>
      </p:sp>
      <p:sp>
        <p:nvSpPr>
          <p:cNvPr id="13" name="TextBox 12"/>
          <p:cNvSpPr txBox="1"/>
          <p:nvPr/>
        </p:nvSpPr>
        <p:spPr>
          <a:xfrm>
            <a:off x="4533290" y="2249423"/>
            <a:ext cx="3125114" cy="310896"/>
          </a:xfrm>
          <a:prstGeom prst="rect">
            <a:avLst/>
          </a:prstGeom>
          <a:noFill/>
        </p:spPr>
        <p:txBody>
          <a:bodyPr wrap="square" lIns="0" rIns="0" tIns="0" bIns="0" anchor="t">
            <a:spAutoFit/>
          </a:bodyPr>
          <a:lstStyle/>
          <a:p>
            <a:pPr algn="l"/>
            <a:r>
              <a:rPr sz="2100" b="0">
                <a:solidFill>
                  <a:srgbClr val="FFFFFF"/>
                </a:solidFill>
                <a:latin typeface="Georgia"/>
              </a:rPr>
              <a:t>$7.99</a:t>
            </a:r>
          </a:p>
        </p:txBody>
      </p:sp>
      <p:sp>
        <p:nvSpPr>
          <p:cNvPr id="14" name="TextBox 13"/>
          <p:cNvSpPr txBox="1"/>
          <p:nvPr/>
        </p:nvSpPr>
        <p:spPr>
          <a:xfrm>
            <a:off x="4533290" y="2587751"/>
            <a:ext cx="3125114" cy="182880"/>
          </a:xfrm>
          <a:prstGeom prst="rect">
            <a:avLst/>
          </a:prstGeom>
          <a:noFill/>
        </p:spPr>
        <p:txBody>
          <a:bodyPr wrap="square" lIns="0" rIns="0" tIns="0" bIns="0" anchor="t">
            <a:spAutoFit/>
          </a:bodyPr>
          <a:lstStyle/>
          <a:p>
            <a:pPr algn="l"/>
            <a:r>
              <a:rPr sz="900" b="0">
                <a:solidFill>
                  <a:srgbClr val="FFFFFF"/>
                </a:solidFill>
                <a:latin typeface="Consolas"/>
              </a:rPr>
              <a:t>a month, or $63.99 a year  ·  250 GB</a:t>
            </a:r>
          </a:p>
        </p:txBody>
      </p:sp>
      <p:sp>
        <p:nvSpPr>
          <p:cNvPr id="15" name="Rectangle 14"/>
          <p:cNvSpPr/>
          <p:nvPr/>
        </p:nvSpPr>
        <p:spPr>
          <a:xfrm>
            <a:off x="8042452" y="1920239"/>
            <a:ext cx="3490874" cy="896112"/>
          </a:xfrm>
          <a:prstGeom prst="rect">
            <a:avLst/>
          </a:prstGeom>
          <a:solidFill>
            <a:srgbClr val="223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5332" y="2020823"/>
            <a:ext cx="3125114" cy="201168"/>
          </a:xfrm>
          <a:prstGeom prst="rect">
            <a:avLst/>
          </a:prstGeom>
          <a:noFill/>
        </p:spPr>
        <p:txBody>
          <a:bodyPr wrap="square" lIns="0" rIns="0" tIns="0" bIns="0" anchor="t">
            <a:spAutoFit/>
          </a:bodyPr>
          <a:lstStyle/>
          <a:p>
            <a:pPr algn="l"/>
            <a:r>
              <a:rPr sz="950" b="1">
                <a:solidFill>
                  <a:srgbClr val="FF6B5E"/>
                </a:solidFill>
                <a:latin typeface="Consolas"/>
              </a:rPr>
              <a:t>FAMILY</a:t>
            </a:r>
          </a:p>
        </p:txBody>
      </p:sp>
      <p:sp>
        <p:nvSpPr>
          <p:cNvPr id="17" name="TextBox 16"/>
          <p:cNvSpPr txBox="1"/>
          <p:nvPr/>
        </p:nvSpPr>
        <p:spPr>
          <a:xfrm>
            <a:off x="8225332" y="2249423"/>
            <a:ext cx="3125114" cy="310896"/>
          </a:xfrm>
          <a:prstGeom prst="rect">
            <a:avLst/>
          </a:prstGeom>
          <a:noFill/>
        </p:spPr>
        <p:txBody>
          <a:bodyPr wrap="square" lIns="0" rIns="0" tIns="0" bIns="0" anchor="t">
            <a:spAutoFit/>
          </a:bodyPr>
          <a:lstStyle/>
          <a:p>
            <a:pPr algn="l"/>
            <a:r>
              <a:rPr sz="2100" b="0">
                <a:solidFill>
                  <a:srgbClr val="FFFFFF"/>
                </a:solidFill>
                <a:latin typeface="Georgia"/>
              </a:rPr>
              <a:t>$14.99</a:t>
            </a:r>
          </a:p>
        </p:txBody>
      </p:sp>
      <p:sp>
        <p:nvSpPr>
          <p:cNvPr id="18" name="TextBox 17"/>
          <p:cNvSpPr txBox="1"/>
          <p:nvPr/>
        </p:nvSpPr>
        <p:spPr>
          <a:xfrm>
            <a:off x="8225332" y="2587751"/>
            <a:ext cx="3125114" cy="182880"/>
          </a:xfrm>
          <a:prstGeom prst="rect">
            <a:avLst/>
          </a:prstGeom>
          <a:noFill/>
        </p:spPr>
        <p:txBody>
          <a:bodyPr wrap="square" lIns="0" rIns="0" tIns="0" bIns="0" anchor="t">
            <a:spAutoFit/>
          </a:bodyPr>
          <a:lstStyle/>
          <a:p>
            <a:pPr algn="l"/>
            <a:r>
              <a:rPr sz="900" b="0">
                <a:solidFill>
                  <a:srgbClr val="949DAC"/>
                </a:solidFill>
                <a:latin typeface="Consolas"/>
              </a:rPr>
              <a:t>a month, or $119.99 a year  ·  2 TB pooled</a:t>
            </a:r>
          </a:p>
        </p:txBody>
      </p:sp>
      <p:graphicFrame>
        <p:nvGraphicFramePr>
          <p:cNvPr id="19" name="Table 18"/>
          <p:cNvGraphicFramePr>
            <a:graphicFrameLocks noGrp="1"/>
          </p:cNvGraphicFramePr>
          <p:nvPr/>
        </p:nvGraphicFramePr>
        <p:xfrm>
          <a:off x="658368" y="2980944"/>
          <a:ext cx="10872216" cy="2852928"/>
        </p:xfrm>
        <a:graphic>
          <a:graphicData uri="http://schemas.openxmlformats.org/drawingml/2006/table">
            <a:tbl>
              <a:tblPr>
                <a:tableStyleId>{5C22544A-7EE6-4342-B048-85BDC9FD1C3A}</a:tableStyleId>
              </a:tblPr>
              <a:tblGrid>
                <a:gridCol w="2788920"/>
                <a:gridCol w="2103120"/>
                <a:gridCol w="3017520"/>
                <a:gridCol w="2962656"/>
              </a:tblGrid>
              <a:tr h="292608">
                <a:tc>
                  <a:txBody>
                    <a:bodyPr wrap="square"/>
                    <a:lstStyle/>
                    <a:p>
                      <a:pPr algn="l"/>
                      <a:r>
                        <a:rPr sz="950" b="1">
                          <a:solidFill>
                            <a:srgbClr val="FFFFFF"/>
                          </a:solidFill>
                          <a:latin typeface="Calibri"/>
                        </a:rPr>
                        <a:t/>
                      </a:r>
                    </a:p>
                  </a:txBody>
                  <a:tcPr marL="82296" marR="82296" marT="18288" marB="18288" anchor="ctr">
                    <a:solidFill>
                      <a:srgbClr val="22304A"/>
                    </a:solidFill>
                  </a:tcPr>
                </a:tc>
                <a:tc>
                  <a:txBody>
                    <a:bodyPr wrap="square"/>
                    <a:lstStyle/>
                    <a:p>
                      <a:pPr algn="l"/>
                      <a:r>
                        <a:rPr sz="950" b="1">
                          <a:solidFill>
                            <a:srgbClr val="FFFFFF"/>
                          </a:solidFill>
                          <a:latin typeface="Calibri"/>
                        </a:rPr>
                        <a:t>Free</a:t>
                      </a:r>
                    </a:p>
                  </a:txBody>
                  <a:tcPr marL="82296" marR="82296" marT="18288" marB="18288" anchor="ctr">
                    <a:solidFill>
                      <a:srgbClr val="22304A"/>
                    </a:solidFill>
                  </a:tcPr>
                </a:tc>
                <a:tc>
                  <a:txBody>
                    <a:bodyPr wrap="square"/>
                    <a:lstStyle/>
                    <a:p>
                      <a:pPr algn="l"/>
                      <a:r>
                        <a:rPr sz="950" b="1">
                          <a:solidFill>
                            <a:srgbClr val="FFFFFF"/>
                          </a:solidFill>
                          <a:latin typeface="Calibri"/>
                        </a:rPr>
                        <a:t>Premium</a:t>
                      </a:r>
                    </a:p>
                  </a:txBody>
                  <a:tcPr marL="82296" marR="82296" marT="18288" marB="18288" anchor="ctr">
                    <a:solidFill>
                      <a:srgbClr val="22304A"/>
                    </a:solidFill>
                  </a:tcPr>
                </a:tc>
                <a:tc>
                  <a:txBody>
                    <a:bodyPr wrap="square"/>
                    <a:lstStyle/>
                    <a:p>
                      <a:pPr algn="l"/>
                      <a:r>
                        <a:rPr sz="950" b="1">
                          <a:solidFill>
                            <a:srgbClr val="FFFFFF"/>
                          </a:solidFill>
                          <a:latin typeface="Calibri"/>
                        </a:rPr>
                        <a:t>Family</a:t>
                      </a:r>
                    </a:p>
                  </a:txBody>
                  <a:tcPr marL="82296" marR="82296" marT="18288" marB="18288" anchor="ctr">
                    <a:solidFill>
                      <a:srgbClr val="22304A"/>
                    </a:solidFill>
                  </a:tcPr>
                </a:tc>
              </a:tr>
              <a:tr h="256032">
                <a:tc>
                  <a:txBody>
                    <a:bodyPr wrap="square"/>
                    <a:lstStyle/>
                    <a:p>
                      <a:pPr algn="l"/>
                      <a:r>
                        <a:rPr sz="1000" b="1">
                          <a:solidFill>
                            <a:srgbClr val="10131A"/>
                          </a:solidFill>
                          <a:latin typeface="Calibri"/>
                        </a:rPr>
                        <a:t>Storage</a:t>
                      </a:r>
                    </a:p>
                  </a:txBody>
                  <a:tcPr marL="82296" marR="82296" marT="18288" marB="18288" anchor="ctr">
                    <a:solidFill>
                      <a:srgbClr val="FFFFFF"/>
                    </a:solidFill>
                  </a:tcPr>
                </a:tc>
                <a:tc>
                  <a:txBody>
                    <a:bodyPr wrap="square"/>
                    <a:lstStyle/>
                    <a:p>
                      <a:pPr algn="l"/>
                      <a:r>
                        <a:rPr sz="1000" b="0">
                          <a:solidFill>
                            <a:srgbClr val="10131A"/>
                          </a:solidFill>
                          <a:latin typeface="Calibri"/>
                        </a:rPr>
                        <a:t>10 GB</a:t>
                      </a:r>
                    </a:p>
                  </a:txBody>
                  <a:tcPr marL="82296" marR="82296" marT="18288" marB="18288" anchor="ctr">
                    <a:solidFill>
                      <a:srgbClr val="FFFFFF"/>
                    </a:solidFill>
                  </a:tcPr>
                </a:tc>
                <a:tc>
                  <a:txBody>
                    <a:bodyPr wrap="square"/>
                    <a:lstStyle/>
                    <a:p>
                      <a:pPr algn="l"/>
                      <a:r>
                        <a:rPr sz="1000" b="0">
                          <a:solidFill>
                            <a:srgbClr val="AF3327"/>
                          </a:solidFill>
                          <a:latin typeface="Calibri"/>
                        </a:rPr>
                        <a:t>250 GB</a:t>
                      </a:r>
                    </a:p>
                  </a:txBody>
                  <a:tcPr marL="82296" marR="82296" marT="18288" marB="18288" anchor="ctr">
                    <a:solidFill>
                      <a:srgbClr val="FFFFFF"/>
                    </a:solidFill>
                  </a:tcPr>
                </a:tc>
                <a:tc>
                  <a:txBody>
                    <a:bodyPr wrap="square"/>
                    <a:lstStyle/>
                    <a:p>
                      <a:pPr algn="l"/>
                      <a:r>
                        <a:rPr sz="1000" b="0">
                          <a:solidFill>
                            <a:srgbClr val="AF3327"/>
                          </a:solidFill>
                          <a:latin typeface="Calibri"/>
                        </a:rPr>
                        <a:t>2 TB pooled</a:t>
                      </a:r>
                    </a:p>
                  </a:txBody>
                  <a:tcPr marL="82296" marR="82296" marT="18288" marB="18288" anchor="ctr">
                    <a:solidFill>
                      <a:srgbClr val="FFFFFF"/>
                    </a:solidFill>
                  </a:tcPr>
                </a:tc>
              </a:tr>
              <a:tr h="256032">
                <a:tc>
                  <a:txBody>
                    <a:bodyPr wrap="square"/>
                    <a:lstStyle/>
                    <a:p>
                      <a:pPr algn="l"/>
                      <a:r>
                        <a:rPr sz="1000" b="1">
                          <a:solidFill>
                            <a:srgbClr val="10131A"/>
                          </a:solidFill>
                          <a:latin typeface="Calibri"/>
                        </a:rPr>
                        <a:t>Memories created a month</a:t>
                      </a:r>
                    </a:p>
                  </a:txBody>
                  <a:tcPr marL="82296" marR="82296" marT="18288" marB="18288" anchor="ctr">
                    <a:solidFill>
                      <a:srgbClr val="EDF0F5"/>
                    </a:solidFill>
                  </a:tcPr>
                </a:tc>
                <a:tc>
                  <a:txBody>
                    <a:bodyPr wrap="square"/>
                    <a:lstStyle/>
                    <a:p>
                      <a:pPr algn="l"/>
                      <a:r>
                        <a:rPr sz="1000" b="0">
                          <a:solidFill>
                            <a:srgbClr val="10131A"/>
                          </a:solidFill>
                          <a:latin typeface="Calibri"/>
                        </a:rPr>
                        <a:t>unlimited</a:t>
                      </a:r>
                    </a:p>
                  </a:txBody>
                  <a:tcPr marL="82296" marR="82296" marT="18288" marB="18288" anchor="ctr">
                    <a:solidFill>
                      <a:srgbClr val="EDF0F5"/>
                    </a:solidFill>
                  </a:tcPr>
                </a:tc>
                <a:tc>
                  <a:txBody>
                    <a:bodyPr wrap="square"/>
                    <a:lstStyle/>
                    <a:p>
                      <a:pPr algn="l"/>
                      <a:r>
                        <a:rPr sz="1000" b="0">
                          <a:solidFill>
                            <a:srgbClr val="10131A"/>
                          </a:solidFill>
                          <a:latin typeface="Calibri"/>
                        </a:rPr>
                        <a:t>unlimited</a:t>
                      </a:r>
                    </a:p>
                  </a:txBody>
                  <a:tcPr marL="82296" marR="82296" marT="18288" marB="18288" anchor="ctr">
                    <a:solidFill>
                      <a:srgbClr val="EDF0F5"/>
                    </a:solidFill>
                  </a:tcPr>
                </a:tc>
                <a:tc>
                  <a:txBody>
                    <a:bodyPr wrap="square"/>
                    <a:lstStyle/>
                    <a:p>
                      <a:pPr algn="l"/>
                      <a:r>
                        <a:rPr sz="1000" b="0">
                          <a:solidFill>
                            <a:srgbClr val="10131A"/>
                          </a:solidFill>
                          <a:latin typeface="Calibri"/>
                        </a:rPr>
                        <a:t>unlimited</a:t>
                      </a:r>
                    </a:p>
                  </a:txBody>
                  <a:tcPr marL="82296" marR="82296" marT="18288" marB="18288" anchor="ctr">
                    <a:solidFill>
                      <a:srgbClr val="EDF0F5"/>
                    </a:solidFill>
                  </a:tcPr>
                </a:tc>
              </a:tr>
              <a:tr h="256032">
                <a:tc>
                  <a:txBody>
                    <a:bodyPr wrap="square"/>
                    <a:lstStyle/>
                    <a:p>
                      <a:pPr algn="l"/>
                      <a:r>
                        <a:rPr sz="1000" b="1">
                          <a:solidFill>
                            <a:srgbClr val="10131A"/>
                          </a:solidFill>
                          <a:latin typeface="Calibri"/>
                        </a:rPr>
                        <a:t>Originals kept, never compressed</a:t>
                      </a:r>
                    </a:p>
                  </a:txBody>
                  <a:tcPr marL="82296" marR="82296" marT="18288" marB="18288" anchor="ctr">
                    <a:solidFill>
                      <a:srgbClr val="FFFFFF"/>
                    </a:solidFill>
                  </a:tcPr>
                </a:tc>
                <a:tc>
                  <a:txBody>
                    <a:bodyPr wrap="square"/>
                    <a:lstStyle/>
                    <a:p>
                      <a:pPr algn="l"/>
                      <a:r>
                        <a:rPr sz="1000" b="0">
                          <a:solidFill>
                            <a:srgbClr val="10131A"/>
                          </a:solidFill>
                          <a:latin typeface="Calibri"/>
                        </a:rPr>
                        <a:t>yes</a:t>
                      </a:r>
                    </a:p>
                  </a:txBody>
                  <a:tcPr marL="82296" marR="82296" marT="18288" marB="18288" anchor="ctr">
                    <a:solidFill>
                      <a:srgbClr val="FFFFFF"/>
                    </a:solidFill>
                  </a:tcPr>
                </a:tc>
                <a:tc>
                  <a:txBody>
                    <a:bodyPr wrap="square"/>
                    <a:lstStyle/>
                    <a:p>
                      <a:pPr algn="l"/>
                      <a:r>
                        <a:rPr sz="1000" b="0">
                          <a:solidFill>
                            <a:srgbClr val="10131A"/>
                          </a:solidFill>
                          <a:latin typeface="Calibri"/>
                        </a:rPr>
                        <a:t>yes</a:t>
                      </a:r>
                    </a:p>
                  </a:txBody>
                  <a:tcPr marL="82296" marR="82296" marT="18288" marB="18288" anchor="ctr">
                    <a:solidFill>
                      <a:srgbClr val="FFFFFF"/>
                    </a:solidFill>
                  </a:tcPr>
                </a:tc>
                <a:tc>
                  <a:txBody>
                    <a:bodyPr wrap="square"/>
                    <a:lstStyle/>
                    <a:p>
                      <a:pPr algn="l"/>
                      <a:r>
                        <a:rPr sz="1000" b="0">
                          <a:solidFill>
                            <a:srgbClr val="10131A"/>
                          </a:solidFill>
                          <a:latin typeface="Calibri"/>
                        </a:rPr>
                        <a:t>yes</a:t>
                      </a:r>
                    </a:p>
                  </a:txBody>
                  <a:tcPr marL="82296" marR="82296" marT="18288" marB="18288" anchor="ctr">
                    <a:solidFill>
                      <a:srgbClr val="FFFFFF"/>
                    </a:solidFill>
                  </a:tcPr>
                </a:tc>
              </a:tr>
              <a:tr h="256032">
                <a:tc>
                  <a:txBody>
                    <a:bodyPr wrap="square"/>
                    <a:lstStyle/>
                    <a:p>
                      <a:pPr algn="l"/>
                      <a:r>
                        <a:rPr sz="1000" b="1">
                          <a:solidFill>
                            <a:srgbClr val="10131A"/>
                          </a:solidFill>
                          <a:latin typeface="Calibri"/>
                        </a:rPr>
                        <a:t>Video length per memory</a:t>
                      </a:r>
                    </a:p>
                  </a:txBody>
                  <a:tcPr marL="82296" marR="82296" marT="18288" marB="18288" anchor="ctr">
                    <a:solidFill>
                      <a:srgbClr val="EDF0F5"/>
                    </a:solidFill>
                  </a:tcPr>
                </a:tc>
                <a:tc>
                  <a:txBody>
                    <a:bodyPr wrap="square"/>
                    <a:lstStyle/>
                    <a:p>
                      <a:pPr algn="l"/>
                      <a:r>
                        <a:rPr sz="1000" b="0">
                          <a:solidFill>
                            <a:srgbClr val="10131A"/>
                          </a:solidFill>
                          <a:latin typeface="Calibri"/>
                        </a:rPr>
                        <a:t>5 min</a:t>
                      </a:r>
                    </a:p>
                  </a:txBody>
                  <a:tcPr marL="82296" marR="82296" marT="18288" marB="18288" anchor="ctr">
                    <a:solidFill>
                      <a:srgbClr val="EDF0F5"/>
                    </a:solidFill>
                  </a:tcPr>
                </a:tc>
                <a:tc>
                  <a:txBody>
                    <a:bodyPr wrap="square"/>
                    <a:lstStyle/>
                    <a:p>
                      <a:pPr algn="l"/>
                      <a:r>
                        <a:rPr sz="1000" b="0">
                          <a:solidFill>
                            <a:srgbClr val="10131A"/>
                          </a:solidFill>
                          <a:latin typeface="Calibri"/>
                        </a:rPr>
                        <a:t>30 min</a:t>
                      </a:r>
                    </a:p>
                  </a:txBody>
                  <a:tcPr marL="82296" marR="82296" marT="18288" marB="18288" anchor="ctr">
                    <a:solidFill>
                      <a:srgbClr val="EDF0F5"/>
                    </a:solidFill>
                  </a:tcPr>
                </a:tc>
                <a:tc>
                  <a:txBody>
                    <a:bodyPr wrap="square"/>
                    <a:lstStyle/>
                    <a:p>
                      <a:pPr algn="l"/>
                      <a:r>
                        <a:rPr sz="1000" b="0">
                          <a:solidFill>
                            <a:srgbClr val="10131A"/>
                          </a:solidFill>
                          <a:latin typeface="Calibri"/>
                        </a:rPr>
                        <a:t>30 min</a:t>
                      </a:r>
                    </a:p>
                  </a:txBody>
                  <a:tcPr marL="82296" marR="82296" marT="18288" marB="18288" anchor="ctr">
                    <a:solidFill>
                      <a:srgbClr val="EDF0F5"/>
                    </a:solidFill>
                  </a:tcPr>
                </a:tc>
              </a:tr>
              <a:tr h="256032">
                <a:tc>
                  <a:txBody>
                    <a:bodyPr wrap="square"/>
                    <a:lstStyle/>
                    <a:p>
                      <a:pPr algn="l"/>
                      <a:r>
                        <a:rPr sz="1000" b="1">
                          <a:solidFill>
                            <a:srgbClr val="10131A"/>
                          </a:solidFill>
                          <a:latin typeface="Calibri"/>
                        </a:rPr>
                        <a:t>Pending capsules at once</a:t>
                      </a:r>
                    </a:p>
                  </a:txBody>
                  <a:tcPr marL="82296" marR="82296" marT="18288" marB="18288" anchor="ctr">
                    <a:solidFill>
                      <a:srgbClr val="FFFFFF"/>
                    </a:solidFill>
                  </a:tcPr>
                </a:tc>
                <a:tc>
                  <a:txBody>
                    <a:bodyPr wrap="square"/>
                    <a:lstStyle/>
                    <a:p>
                      <a:pPr algn="l"/>
                      <a:r>
                        <a:rPr sz="1000" b="0">
                          <a:solidFill>
                            <a:srgbClr val="10131A"/>
                          </a:solidFill>
                          <a:latin typeface="Calibri"/>
                        </a:rPr>
                        <a:t>3</a:t>
                      </a:r>
                    </a:p>
                  </a:txBody>
                  <a:tcPr marL="82296" marR="82296" marT="18288" marB="18288" anchor="ctr">
                    <a:solidFill>
                      <a:srgbClr val="FFFFFF"/>
                    </a:solidFill>
                  </a:tcPr>
                </a:tc>
                <a:tc>
                  <a:txBody>
                    <a:bodyPr wrap="square"/>
                    <a:lstStyle/>
                    <a:p>
                      <a:pPr algn="l"/>
                      <a:r>
                        <a:rPr sz="1000" b="0">
                          <a:solidFill>
                            <a:srgbClr val="10131A"/>
                          </a:solidFill>
                          <a:latin typeface="Calibri"/>
                        </a:rPr>
                        <a:t>unlimited</a:t>
                      </a:r>
                    </a:p>
                  </a:txBody>
                  <a:tcPr marL="82296" marR="82296" marT="18288" marB="18288" anchor="ctr">
                    <a:solidFill>
                      <a:srgbClr val="FFFFFF"/>
                    </a:solidFill>
                  </a:tcPr>
                </a:tc>
                <a:tc>
                  <a:txBody>
                    <a:bodyPr wrap="square"/>
                    <a:lstStyle/>
                    <a:p>
                      <a:pPr algn="l"/>
                      <a:r>
                        <a:rPr sz="1000" b="0">
                          <a:solidFill>
                            <a:srgbClr val="10131A"/>
                          </a:solidFill>
                          <a:latin typeface="Calibri"/>
                        </a:rPr>
                        <a:t>unlimited</a:t>
                      </a:r>
                    </a:p>
                  </a:txBody>
                  <a:tcPr marL="82296" marR="82296" marT="18288" marB="18288" anchor="ctr">
                    <a:solidFill>
                      <a:srgbClr val="FFFFFF"/>
                    </a:solidFill>
                  </a:tcPr>
                </a:tc>
              </a:tr>
              <a:tr h="256032">
                <a:tc>
                  <a:txBody>
                    <a:bodyPr wrap="square"/>
                    <a:lstStyle/>
                    <a:p>
                      <a:pPr algn="l"/>
                      <a:r>
                        <a:rPr sz="1000" b="1">
                          <a:solidFill>
                            <a:srgbClr val="10131A"/>
                          </a:solidFill>
                          <a:latin typeface="Calibri"/>
                        </a:rPr>
                        <a:t>Capsule scheduling horizon</a:t>
                      </a:r>
                    </a:p>
                  </a:txBody>
                  <a:tcPr marL="82296" marR="82296" marT="18288" marB="18288" anchor="ctr">
                    <a:solidFill>
                      <a:srgbClr val="EDF0F5"/>
                    </a:solidFill>
                  </a:tcPr>
                </a:tc>
                <a:tc>
                  <a:txBody>
                    <a:bodyPr wrap="square"/>
                    <a:lstStyle/>
                    <a:p>
                      <a:pPr algn="l"/>
                      <a:r>
                        <a:rPr sz="1000" b="0">
                          <a:solidFill>
                            <a:srgbClr val="10131A"/>
                          </a:solidFill>
                          <a:latin typeface="Calibri"/>
                        </a:rPr>
                        <a:t>up to 12 months</a:t>
                      </a:r>
                    </a:p>
                  </a:txBody>
                  <a:tcPr marL="82296" marR="82296" marT="18288" marB="18288" anchor="ctr">
                    <a:solidFill>
                      <a:srgbClr val="EDF0F5"/>
                    </a:solidFill>
                  </a:tcPr>
                </a:tc>
                <a:tc>
                  <a:txBody>
                    <a:bodyPr wrap="square"/>
                    <a:lstStyle/>
                    <a:p>
                      <a:pPr algn="l"/>
                      <a:r>
                        <a:rPr sz="1000" b="0">
                          <a:solidFill>
                            <a:srgbClr val="10131A"/>
                          </a:solidFill>
                          <a:latin typeface="Calibri"/>
                        </a:rPr>
                        <a:t>unlimited, plus age milestones</a:t>
                      </a:r>
                    </a:p>
                  </a:txBody>
                  <a:tcPr marL="82296" marR="82296" marT="18288" marB="18288" anchor="ctr">
                    <a:solidFill>
                      <a:srgbClr val="EDF0F5"/>
                    </a:solidFill>
                  </a:tcPr>
                </a:tc>
                <a:tc>
                  <a:txBody>
                    <a:bodyPr wrap="square"/>
                    <a:lstStyle/>
                    <a:p>
                      <a:pPr algn="l"/>
                      <a:r>
                        <a:rPr sz="1000" b="0">
                          <a:solidFill>
                            <a:srgbClr val="10131A"/>
                          </a:solidFill>
                          <a:latin typeface="Calibri"/>
                        </a:rPr>
                        <a:t>unlimited, plus age milestones</a:t>
                      </a:r>
                    </a:p>
                  </a:txBody>
                  <a:tcPr marL="82296" marR="82296" marT="18288" marB="18288" anchor="ctr">
                    <a:solidFill>
                      <a:srgbClr val="EDF0F5"/>
                    </a:solidFill>
                  </a:tcPr>
                </a:tc>
              </a:tr>
              <a:tr h="256032">
                <a:tc>
                  <a:txBody>
                    <a:bodyPr wrap="square"/>
                    <a:lstStyle/>
                    <a:p>
                      <a:pPr algn="l"/>
                      <a:r>
                        <a:rPr sz="1000" b="1">
                          <a:solidFill>
                            <a:srgbClr val="10131A"/>
                          </a:solidFill>
                          <a:latin typeface="Calibri"/>
                        </a:rPr>
                        <a:t>Shared vaults</a:t>
                      </a:r>
                    </a:p>
                  </a:txBody>
                  <a:tcPr marL="82296" marR="82296" marT="18288" marB="18288" anchor="ctr">
                    <a:solidFill>
                      <a:srgbClr val="FFFFFF"/>
                    </a:solidFill>
                  </a:tcPr>
                </a:tc>
                <a:tc>
                  <a:txBody>
                    <a:bodyPr wrap="square"/>
                    <a:lstStyle/>
                    <a:p>
                      <a:pPr algn="l"/>
                      <a:r>
                        <a:rPr sz="1000" b="0">
                          <a:solidFill>
                            <a:srgbClr val="10131A"/>
                          </a:solidFill>
                          <a:latin typeface="Calibri"/>
                        </a:rPr>
                        <a:t>1, up to 3 members</a:t>
                      </a:r>
                    </a:p>
                  </a:txBody>
                  <a:tcPr marL="82296" marR="82296" marT="18288" marB="18288" anchor="ctr">
                    <a:solidFill>
                      <a:srgbClr val="FFFFFF"/>
                    </a:solidFill>
                  </a:tcPr>
                </a:tc>
                <a:tc>
                  <a:txBody>
                    <a:bodyPr wrap="square"/>
                    <a:lstStyle/>
                    <a:p>
                      <a:pPr algn="l"/>
                      <a:r>
                        <a:rPr sz="1000" b="0">
                          <a:solidFill>
                            <a:srgbClr val="10131A"/>
                          </a:solidFill>
                          <a:latin typeface="Calibri"/>
                        </a:rPr>
                        <a:t>5, up to 10 members</a:t>
                      </a:r>
                    </a:p>
                  </a:txBody>
                  <a:tcPr marL="82296" marR="82296" marT="18288" marB="18288" anchor="ctr">
                    <a:solidFill>
                      <a:srgbClr val="FFFFFF"/>
                    </a:solidFill>
                  </a:tcPr>
                </a:tc>
                <a:tc>
                  <a:txBody>
                    <a:bodyPr wrap="square"/>
                    <a:lstStyle/>
                    <a:p>
                      <a:pPr algn="l"/>
                      <a:r>
                        <a:rPr sz="1000" b="0">
                          <a:solidFill>
                            <a:srgbClr val="10131A"/>
                          </a:solidFill>
                          <a:latin typeface="Calibri"/>
                        </a:rPr>
                        <a:t>unlimited</a:t>
                      </a:r>
                    </a:p>
                  </a:txBody>
                  <a:tcPr marL="82296" marR="82296" marT="18288" marB="18288" anchor="ctr">
                    <a:solidFill>
                      <a:srgbClr val="FFFFFF"/>
                    </a:solidFill>
                  </a:tcPr>
                </a:tc>
              </a:tr>
              <a:tr h="256032">
                <a:tc>
                  <a:txBody>
                    <a:bodyPr wrap="square"/>
                    <a:lstStyle/>
                    <a:p>
                      <a:pPr algn="l"/>
                      <a:r>
                        <a:rPr sz="1000" b="1">
                          <a:solidFill>
                            <a:srgbClr val="10131A"/>
                          </a:solidFill>
                          <a:latin typeface="Calibri"/>
                        </a:rPr>
                        <a:t>Seats</a:t>
                      </a:r>
                    </a:p>
                  </a:txBody>
                  <a:tcPr marL="82296" marR="82296" marT="18288" marB="18288" anchor="ctr">
                    <a:solidFill>
                      <a:srgbClr val="EDF0F5"/>
                    </a:solidFill>
                  </a:tcPr>
                </a:tc>
                <a:tc>
                  <a:txBody>
                    <a:bodyPr wrap="square"/>
                    <a:lstStyle/>
                    <a:p>
                      <a:pPr algn="l"/>
                      <a:r>
                        <a:rPr sz="1000" b="0">
                          <a:solidFill>
                            <a:srgbClr val="10131A"/>
                          </a:solidFill>
                          <a:latin typeface="Calibri"/>
                        </a:rPr>
                        <a:t>1</a:t>
                      </a:r>
                    </a:p>
                  </a:txBody>
                  <a:tcPr marL="82296" marR="82296" marT="18288" marB="18288" anchor="ctr">
                    <a:solidFill>
                      <a:srgbClr val="EDF0F5"/>
                    </a:solidFill>
                  </a:tcPr>
                </a:tc>
                <a:tc>
                  <a:txBody>
                    <a:bodyPr wrap="square"/>
                    <a:lstStyle/>
                    <a:p>
                      <a:pPr algn="l"/>
                      <a:r>
                        <a:rPr sz="1000" b="0">
                          <a:solidFill>
                            <a:srgbClr val="10131A"/>
                          </a:solidFill>
                          <a:latin typeface="Calibri"/>
                        </a:rPr>
                        <a:t>1</a:t>
                      </a:r>
                    </a:p>
                  </a:txBody>
                  <a:tcPr marL="82296" marR="82296" marT="18288" marB="18288" anchor="ctr">
                    <a:solidFill>
                      <a:srgbClr val="EDF0F5"/>
                    </a:solidFill>
                  </a:tcPr>
                </a:tc>
                <a:tc>
                  <a:txBody>
                    <a:bodyPr wrap="square"/>
                    <a:lstStyle/>
                    <a:p>
                      <a:pPr algn="l"/>
                      <a:r>
                        <a:rPr sz="1000" b="0">
                          <a:solidFill>
                            <a:srgbClr val="10131A"/>
                          </a:solidFill>
                          <a:latin typeface="Calibri"/>
                        </a:rPr>
                        <a:t>6</a:t>
                      </a:r>
                    </a:p>
                  </a:txBody>
                  <a:tcPr marL="82296" marR="82296" marT="18288" marB="18288" anchor="ctr">
                    <a:solidFill>
                      <a:srgbClr val="EDF0F5"/>
                    </a:solidFill>
                  </a:tcPr>
                </a:tc>
              </a:tr>
              <a:tr h="256032">
                <a:tc>
                  <a:txBody>
                    <a:bodyPr wrap="square"/>
                    <a:lstStyle/>
                    <a:p>
                      <a:pPr algn="l"/>
                      <a:r>
                        <a:rPr sz="1000" b="1">
                          <a:solidFill>
                            <a:srgbClr val="10131A"/>
                          </a:solidFill>
                          <a:latin typeface="Calibri"/>
                        </a:rPr>
                        <a:t>Delivery channels</a:t>
                      </a:r>
                    </a:p>
                  </a:txBody>
                  <a:tcPr marL="82296" marR="82296" marT="18288" marB="18288" anchor="ctr">
                    <a:solidFill>
                      <a:srgbClr val="FFFFFF"/>
                    </a:solidFill>
                  </a:tcPr>
                </a:tc>
                <a:tc>
                  <a:txBody>
                    <a:bodyPr wrap="square"/>
                    <a:lstStyle/>
                    <a:p>
                      <a:pPr algn="l"/>
                      <a:r>
                        <a:rPr sz="1000" b="0">
                          <a:solidFill>
                            <a:srgbClr val="10131A"/>
                          </a:solidFill>
                          <a:latin typeface="Calibri"/>
                        </a:rPr>
                        <a:t>in-app and email</a:t>
                      </a:r>
                    </a:p>
                  </a:txBody>
                  <a:tcPr marL="82296" marR="82296" marT="18288" marB="18288" anchor="ctr">
                    <a:solidFill>
                      <a:srgbClr val="FFFFFF"/>
                    </a:solidFill>
                  </a:tcPr>
                </a:tc>
                <a:tc>
                  <a:txBody>
                    <a:bodyPr wrap="square"/>
                    <a:lstStyle/>
                    <a:p>
                      <a:pPr algn="l"/>
                      <a:r>
                        <a:rPr sz="1000" b="0">
                          <a:solidFill>
                            <a:srgbClr val="10131A"/>
                          </a:solidFill>
                          <a:latin typeface="Calibri"/>
                        </a:rPr>
                        <a:t>plus SMS, WhatsApp, priority</a:t>
                      </a:r>
                    </a:p>
                  </a:txBody>
                  <a:tcPr marL="82296" marR="82296" marT="18288" marB="18288" anchor="ctr">
                    <a:solidFill>
                      <a:srgbClr val="FFFFFF"/>
                    </a:solidFill>
                  </a:tcPr>
                </a:tc>
                <a:tc>
                  <a:txBody>
                    <a:bodyPr wrap="square"/>
                    <a:lstStyle/>
                    <a:p>
                      <a:pPr algn="l"/>
                      <a:r>
                        <a:rPr sz="1000" b="0">
                          <a:solidFill>
                            <a:srgbClr val="10131A"/>
                          </a:solidFill>
                          <a:latin typeface="Calibri"/>
                        </a:rPr>
                        <a:t>plus a backup guardian</a:t>
                      </a:r>
                    </a:p>
                  </a:txBody>
                  <a:tcPr marL="82296" marR="82296" marT="18288" marB="18288" anchor="ctr">
                    <a:solidFill>
                      <a:srgbClr val="FFFFFF"/>
                    </a:solidFill>
                  </a:tcPr>
                </a:tc>
              </a:tr>
              <a:tr h="256032">
                <a:tc>
                  <a:txBody>
                    <a:bodyPr wrap="square"/>
                    <a:lstStyle/>
                    <a:p>
                      <a:pPr algn="l"/>
                      <a:r>
                        <a:rPr sz="1000" b="1">
                          <a:solidFill>
                            <a:srgbClr val="10131A"/>
                          </a:solidFill>
                          <a:latin typeface="Calibri"/>
                        </a:rPr>
                        <a:t>Heirs</a:t>
                      </a:r>
                    </a:p>
                  </a:txBody>
                  <a:tcPr marL="82296" marR="82296" marT="18288" marB="18288" anchor="ctr">
                    <a:solidFill>
                      <a:srgbClr val="EDF0F5"/>
                    </a:solidFill>
                  </a:tcPr>
                </a:tc>
                <a:tc>
                  <a:txBody>
                    <a:bodyPr wrap="square"/>
                    <a:lstStyle/>
                    <a:p>
                      <a:pPr algn="l"/>
                      <a:r>
                        <a:rPr sz="1000" b="0">
                          <a:solidFill>
                            <a:srgbClr val="10131A"/>
                          </a:solidFill>
                          <a:latin typeface="Calibri"/>
                        </a:rPr>
                        <a:t>—</a:t>
                      </a:r>
                    </a:p>
                  </a:txBody>
                  <a:tcPr marL="82296" marR="82296" marT="18288" marB="18288" anchor="ctr">
                    <a:solidFill>
                      <a:srgbClr val="EDF0F5"/>
                    </a:solidFill>
                  </a:tcPr>
                </a:tc>
                <a:tc>
                  <a:txBody>
                    <a:bodyPr wrap="square"/>
                    <a:lstStyle/>
                    <a:p>
                      <a:pPr algn="l"/>
                      <a:r>
                        <a:rPr sz="1000" b="0">
                          <a:solidFill>
                            <a:srgbClr val="10131A"/>
                          </a:solidFill>
                          <a:latin typeface="Calibri"/>
                        </a:rPr>
                        <a:t>1</a:t>
                      </a:r>
                    </a:p>
                  </a:txBody>
                  <a:tcPr marL="82296" marR="82296" marT="18288" marB="18288" anchor="ctr">
                    <a:solidFill>
                      <a:srgbClr val="EDF0F5"/>
                    </a:solidFill>
                  </a:tcPr>
                </a:tc>
                <a:tc>
                  <a:txBody>
                    <a:bodyPr wrap="square"/>
                    <a:lstStyle/>
                    <a:p>
                      <a:pPr algn="l"/>
                      <a:r>
                        <a:rPr sz="1000" b="0">
                          <a:solidFill>
                            <a:srgbClr val="10131A"/>
                          </a:solidFill>
                          <a:latin typeface="Calibri"/>
                        </a:rPr>
                        <a:t>up to 5, with documents</a:t>
                      </a:r>
                    </a:p>
                  </a:txBody>
                  <a:tcPr marL="82296" marR="82296" marT="18288" marB="18288" anchor="ctr">
                    <a:solidFill>
                      <a:srgbClr val="EDF0F5"/>
                    </a:solidFill>
                  </a:tcPr>
                </a:tc>
              </a:tr>
            </a:tbl>
          </a:graphicData>
        </a:graphic>
      </p:graphicFrame>
      <p:sp>
        <p:nvSpPr>
          <p:cNvPr id="20" name="TextBox 19"/>
          <p:cNvSpPr txBox="1"/>
          <p:nvPr/>
        </p:nvSpPr>
        <p:spPr>
          <a:xfrm>
            <a:off x="658368" y="6419088"/>
            <a:ext cx="8699967" cy="201168"/>
          </a:xfrm>
          <a:prstGeom prst="rect">
            <a:avLst/>
          </a:prstGeom>
          <a:noFill/>
        </p:spPr>
        <p:txBody>
          <a:bodyPr wrap="square" lIns="0" rIns="0" tIns="0" bIns="0" anchor="t">
            <a:spAutoFit/>
          </a:bodyPr>
          <a:lstStyle/>
          <a:p>
            <a:pPr algn="l"/>
            <a:r>
              <a:rPr sz="950" b="0">
                <a:solidFill>
                  <a:srgbClr val="5C6675"/>
                </a:solidFill>
                <a:latin typeface="Consolas"/>
              </a:rPr>
              <a:t>Plans and prices</a:t>
            </a:r>
          </a:p>
        </p:txBody>
      </p:sp>
      <p:sp>
        <p:nvSpPr>
          <p:cNvPr id="21" name="TextBox 20"/>
          <p:cNvSpPr txBox="1"/>
          <p:nvPr/>
        </p:nvSpPr>
        <p:spPr>
          <a:xfrm>
            <a:off x="10618927" y="6419088"/>
            <a:ext cx="914400" cy="201168"/>
          </a:xfrm>
          <a:prstGeom prst="rect">
            <a:avLst/>
          </a:prstGeom>
          <a:noFill/>
        </p:spPr>
        <p:txBody>
          <a:bodyPr wrap="square" lIns="0" rIns="0" tIns="0" bIns="0" anchor="t">
            <a:spAutoFit/>
          </a:bodyPr>
          <a:lstStyle/>
          <a:p>
            <a:pPr algn="r"/>
            <a:r>
              <a:rPr sz="950" b="0">
                <a:solidFill>
                  <a:srgbClr val="5C6675"/>
                </a:solidFill>
                <a:latin typeface="Consolas"/>
              </a:rPr>
              <a:t>15 / 16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pic>
        <p:nvPicPr>
          <p:cNvPr id="2" name="Picture 1" descr="NFCLogo.png"/>
          <p:cNvPicPr>
            <a:picLocks noChangeAspect="1"/>
          </p:cNvPicPr>
          <p:nvPr/>
        </p:nvPicPr>
        <p:blipFill>
          <a:blip r:embed="rId2"/>
          <a:stretch>
            <a:fillRect/>
          </a:stretch>
        </p:blipFill>
        <p:spPr>
          <a:xfrm>
            <a:off x="11206068" y="274320"/>
            <a:ext cx="327259" cy="365760"/>
          </a:xfrm>
          <a:prstGeom prst="rect">
            <a:avLst/>
          </a:prstGeom>
        </p:spPr>
      </p:pic>
      <p:sp>
        <p:nvSpPr>
          <p:cNvPr id="3" name="TextBox 2"/>
          <p:cNvSpPr txBox="1"/>
          <p:nvPr/>
        </p:nvSpPr>
        <p:spPr>
          <a:xfrm>
            <a:off x="658368" y="402336"/>
            <a:ext cx="10874959" cy="219456"/>
          </a:xfrm>
          <a:prstGeom prst="rect">
            <a:avLst/>
          </a:prstGeom>
          <a:noFill/>
        </p:spPr>
        <p:txBody>
          <a:bodyPr wrap="square" lIns="0" rIns="0" tIns="0" bIns="0" anchor="t">
            <a:spAutoFit/>
          </a:bodyPr>
          <a:lstStyle/>
          <a:p>
            <a:pPr algn="l"/>
            <a:r>
              <a:rPr sz="1050" b="1">
                <a:solidFill>
                  <a:srgbClr val="AF3327"/>
                </a:solidFill>
                <a:latin typeface="Consolas"/>
              </a:rPr>
              <a:t>BOUNDARIES AND OPEN QUESTIONS</a:t>
            </a:r>
          </a:p>
        </p:txBody>
      </p:sp>
      <p:sp>
        <p:nvSpPr>
          <p:cNvPr id="4" name="TextBox 3"/>
          <p:cNvSpPr txBox="1"/>
          <p:nvPr/>
        </p:nvSpPr>
        <p:spPr>
          <a:xfrm>
            <a:off x="658368" y="676656"/>
            <a:ext cx="10874959" cy="566928"/>
          </a:xfrm>
          <a:prstGeom prst="rect">
            <a:avLst/>
          </a:prstGeom>
          <a:noFill/>
        </p:spPr>
        <p:txBody>
          <a:bodyPr wrap="square" lIns="0" rIns="0" tIns="0" bIns="0" anchor="t">
            <a:spAutoFit/>
          </a:bodyPr>
          <a:lstStyle/>
          <a:p>
            <a:pPr algn="l">
              <a:lnSpc>
                <a:spcPct val="102000"/>
              </a:lnSpc>
            </a:pPr>
            <a:r>
              <a:rPr sz="2600" b="0">
                <a:solidFill>
                  <a:srgbClr val="10131A"/>
                </a:solidFill>
                <a:latin typeface="Georgia"/>
              </a:rPr>
              <a:t>What we deliberately never build — and what is still undecided</a:t>
            </a:r>
          </a:p>
        </p:txBody>
      </p:sp>
      <p:sp>
        <p:nvSpPr>
          <p:cNvPr id="5" name="TextBox 4"/>
          <p:cNvSpPr txBox="1"/>
          <p:nvPr/>
        </p:nvSpPr>
        <p:spPr>
          <a:xfrm>
            <a:off x="658368" y="1280160"/>
            <a:ext cx="9787463" cy="384048"/>
          </a:xfrm>
          <a:prstGeom prst="rect">
            <a:avLst/>
          </a:prstGeom>
          <a:noFill/>
        </p:spPr>
        <p:txBody>
          <a:bodyPr wrap="square" lIns="0" rIns="0" tIns="0" bIns="0" anchor="t">
            <a:spAutoFit/>
          </a:bodyPr>
          <a:lstStyle/>
          <a:p>
            <a:pPr algn="l">
              <a:lnSpc>
                <a:spcPct val="124000"/>
              </a:lnSpc>
            </a:pPr>
            <a:r>
              <a:rPr sz="1250" b="0">
                <a:solidFill>
                  <a:srgbClr val="5C6675"/>
                </a:solidFill>
                <a:latin typeface="Calibri"/>
              </a:rPr>
              <a:t>A plan is as much about what is excluded as what is included. Everything below was considered and left out on purpose.</a:t>
            </a:r>
          </a:p>
        </p:txBody>
      </p:sp>
      <p:sp>
        <p:nvSpPr>
          <p:cNvPr id="6" name="Rectangle 5"/>
          <p:cNvSpPr/>
          <p:nvPr/>
        </p:nvSpPr>
        <p:spPr>
          <a:xfrm>
            <a:off x="658368" y="1719072"/>
            <a:ext cx="822960" cy="32004"/>
          </a:xfrm>
          <a:prstGeom prst="rect">
            <a:avLst/>
          </a:prstGeom>
          <a:solidFill>
            <a:srgbClr val="FF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920239"/>
            <a:ext cx="5291175" cy="2871216"/>
          </a:xfrm>
          <a:prstGeom prst="rect">
            <a:avLst/>
          </a:prstGeom>
          <a:solidFill>
            <a:srgbClr val="FFFFFF"/>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920239"/>
            <a:ext cx="5291175" cy="438912"/>
          </a:xfrm>
          <a:prstGeom prst="rect">
            <a:avLst/>
          </a:prstGeom>
          <a:solidFill>
            <a:srgbClr val="223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7" y="2029967"/>
            <a:ext cx="4888839" cy="237744"/>
          </a:xfrm>
          <a:prstGeom prst="rect">
            <a:avLst/>
          </a:prstGeom>
          <a:noFill/>
        </p:spPr>
        <p:txBody>
          <a:bodyPr wrap="square" lIns="0" rIns="0" tIns="0" bIns="0" anchor="t">
            <a:spAutoFit/>
          </a:bodyPr>
          <a:lstStyle/>
          <a:p>
            <a:pPr algn="l"/>
            <a:r>
              <a:rPr sz="1000" b="1">
                <a:solidFill>
                  <a:srgbClr val="FFFFFF"/>
                </a:solidFill>
                <a:latin typeface="Consolas"/>
              </a:rPr>
              <a:t>NOT BUILT, AT ANY STAGE</a:t>
            </a:r>
          </a:p>
        </p:txBody>
      </p:sp>
      <p:sp>
        <p:nvSpPr>
          <p:cNvPr id="10" name="Rectangle 9"/>
          <p:cNvSpPr/>
          <p:nvPr/>
        </p:nvSpPr>
        <p:spPr>
          <a:xfrm>
            <a:off x="841247" y="2569463"/>
            <a:ext cx="25603" cy="219456"/>
          </a:xfrm>
          <a:prstGeom prst="rect">
            <a:avLst/>
          </a:prstGeom>
          <a:solidFill>
            <a:srgbClr val="FF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9264" y="2523744"/>
            <a:ext cx="4742535" cy="201168"/>
          </a:xfrm>
          <a:prstGeom prst="rect">
            <a:avLst/>
          </a:prstGeom>
          <a:noFill/>
        </p:spPr>
        <p:txBody>
          <a:bodyPr wrap="square" lIns="0" rIns="0" tIns="0" bIns="0" anchor="t">
            <a:spAutoFit/>
          </a:bodyPr>
          <a:lstStyle/>
          <a:p>
            <a:pPr algn="l"/>
            <a:r>
              <a:rPr sz="1050" b="1">
                <a:solidFill>
                  <a:srgbClr val="10131A"/>
                </a:solidFill>
                <a:latin typeface="Calibri"/>
              </a:rPr>
              <a:t>Database sharding</a:t>
            </a:r>
          </a:p>
        </p:txBody>
      </p:sp>
      <p:sp>
        <p:nvSpPr>
          <p:cNvPr id="12" name="TextBox 11"/>
          <p:cNvSpPr txBox="1"/>
          <p:nvPr/>
        </p:nvSpPr>
        <p:spPr>
          <a:xfrm>
            <a:off x="969264" y="2706624"/>
            <a:ext cx="4742535" cy="182880"/>
          </a:xfrm>
          <a:prstGeom prst="rect">
            <a:avLst/>
          </a:prstGeom>
          <a:noFill/>
        </p:spPr>
        <p:txBody>
          <a:bodyPr wrap="square" lIns="0" rIns="0" tIns="0" bIns="0" anchor="t">
            <a:spAutoFit/>
          </a:bodyPr>
          <a:lstStyle/>
          <a:p>
            <a:pPr algn="l"/>
            <a:r>
              <a:rPr sz="950" b="0">
                <a:solidFill>
                  <a:srgbClr val="5C6675"/>
                </a:solidFill>
                <a:latin typeface="Calibri"/>
              </a:rPr>
              <a:t>not needed below several million users</a:t>
            </a:r>
          </a:p>
        </p:txBody>
      </p:sp>
      <p:sp>
        <p:nvSpPr>
          <p:cNvPr id="13" name="Rectangle 12"/>
          <p:cNvSpPr/>
          <p:nvPr/>
        </p:nvSpPr>
        <p:spPr>
          <a:xfrm>
            <a:off x="841247" y="2935223"/>
            <a:ext cx="25603" cy="219456"/>
          </a:xfrm>
          <a:prstGeom prst="rect">
            <a:avLst/>
          </a:prstGeom>
          <a:solidFill>
            <a:srgbClr val="FF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2889503"/>
            <a:ext cx="4742535" cy="201168"/>
          </a:xfrm>
          <a:prstGeom prst="rect">
            <a:avLst/>
          </a:prstGeom>
          <a:noFill/>
        </p:spPr>
        <p:txBody>
          <a:bodyPr wrap="square" lIns="0" rIns="0" tIns="0" bIns="0" anchor="t">
            <a:spAutoFit/>
          </a:bodyPr>
          <a:lstStyle/>
          <a:p>
            <a:pPr algn="l"/>
            <a:r>
              <a:rPr sz="1050" b="1">
                <a:solidFill>
                  <a:srgbClr val="10131A"/>
                </a:solidFill>
                <a:latin typeface="Calibri"/>
              </a:rPr>
              <a:t>Multiple database writers</a:t>
            </a:r>
          </a:p>
        </p:txBody>
      </p:sp>
      <p:sp>
        <p:nvSpPr>
          <p:cNvPr id="15" name="TextBox 14"/>
          <p:cNvSpPr txBox="1"/>
          <p:nvPr/>
        </p:nvSpPr>
        <p:spPr>
          <a:xfrm>
            <a:off x="969264" y="3072384"/>
            <a:ext cx="4742535" cy="182880"/>
          </a:xfrm>
          <a:prstGeom prst="rect">
            <a:avLst/>
          </a:prstGeom>
          <a:noFill/>
        </p:spPr>
        <p:txBody>
          <a:bodyPr wrap="square" lIns="0" rIns="0" tIns="0" bIns="0" anchor="t">
            <a:spAutoFit/>
          </a:bodyPr>
          <a:lstStyle/>
          <a:p>
            <a:pPr algn="l"/>
            <a:r>
              <a:rPr sz="950" b="0">
                <a:solidFill>
                  <a:srgbClr val="5C6675"/>
                </a:solidFill>
                <a:latin typeface="Calibri"/>
              </a:rPr>
              <a:t>would put the delivery promise at risk</a:t>
            </a:r>
          </a:p>
        </p:txBody>
      </p:sp>
      <p:sp>
        <p:nvSpPr>
          <p:cNvPr id="16" name="Rectangle 15"/>
          <p:cNvSpPr/>
          <p:nvPr/>
        </p:nvSpPr>
        <p:spPr>
          <a:xfrm>
            <a:off x="841247" y="3300983"/>
            <a:ext cx="25603" cy="219456"/>
          </a:xfrm>
          <a:prstGeom prst="rect">
            <a:avLst/>
          </a:prstGeom>
          <a:solidFill>
            <a:srgbClr val="FF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55263"/>
            <a:ext cx="4742535" cy="201168"/>
          </a:xfrm>
          <a:prstGeom prst="rect">
            <a:avLst/>
          </a:prstGeom>
          <a:noFill/>
        </p:spPr>
        <p:txBody>
          <a:bodyPr wrap="square" lIns="0" rIns="0" tIns="0" bIns="0" anchor="t">
            <a:spAutoFit/>
          </a:bodyPr>
          <a:lstStyle/>
          <a:p>
            <a:pPr algn="l"/>
            <a:r>
              <a:rPr sz="1050" b="1">
                <a:solidFill>
                  <a:srgbClr val="10131A"/>
                </a:solidFill>
                <a:latin typeface="Calibri"/>
              </a:rPr>
              <a:t>A container orchestration platform</a:t>
            </a:r>
          </a:p>
        </p:txBody>
      </p:sp>
      <p:sp>
        <p:nvSpPr>
          <p:cNvPr id="18" name="TextBox 17"/>
          <p:cNvSpPr txBox="1"/>
          <p:nvPr/>
        </p:nvSpPr>
        <p:spPr>
          <a:xfrm>
            <a:off x="969264" y="3438144"/>
            <a:ext cx="4742535" cy="182880"/>
          </a:xfrm>
          <a:prstGeom prst="rect">
            <a:avLst/>
          </a:prstGeom>
          <a:noFill/>
        </p:spPr>
        <p:txBody>
          <a:bodyPr wrap="square" lIns="0" rIns="0" tIns="0" bIns="0" anchor="t">
            <a:spAutoFit/>
          </a:bodyPr>
          <a:lstStyle/>
          <a:p>
            <a:pPr algn="l"/>
            <a:r>
              <a:rPr sz="950" b="0">
                <a:solidFill>
                  <a:srgbClr val="5C6675"/>
                </a:solidFill>
                <a:latin typeface="Calibri"/>
              </a:rPr>
              <a:t>buys complexity, not capacity, at this size</a:t>
            </a:r>
          </a:p>
        </p:txBody>
      </p:sp>
      <p:sp>
        <p:nvSpPr>
          <p:cNvPr id="19" name="Rectangle 18"/>
          <p:cNvSpPr/>
          <p:nvPr/>
        </p:nvSpPr>
        <p:spPr>
          <a:xfrm>
            <a:off x="841247" y="3666744"/>
            <a:ext cx="25603" cy="219456"/>
          </a:xfrm>
          <a:prstGeom prst="rect">
            <a:avLst/>
          </a:prstGeom>
          <a:solidFill>
            <a:srgbClr val="FF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3621024"/>
            <a:ext cx="4742535" cy="201168"/>
          </a:xfrm>
          <a:prstGeom prst="rect">
            <a:avLst/>
          </a:prstGeom>
          <a:noFill/>
        </p:spPr>
        <p:txBody>
          <a:bodyPr wrap="square" lIns="0" rIns="0" tIns="0" bIns="0" anchor="t">
            <a:spAutoFit/>
          </a:bodyPr>
          <a:lstStyle/>
          <a:p>
            <a:pPr algn="l"/>
            <a:r>
              <a:rPr sz="1050" b="1">
                <a:solidFill>
                  <a:srgbClr val="10131A"/>
                </a:solidFill>
                <a:latin typeface="Calibri"/>
              </a:rPr>
              <a:t>A separate message broker</a:t>
            </a:r>
          </a:p>
        </p:txBody>
      </p:sp>
      <p:sp>
        <p:nvSpPr>
          <p:cNvPr id="21" name="TextBox 20"/>
          <p:cNvSpPr txBox="1"/>
          <p:nvPr/>
        </p:nvSpPr>
        <p:spPr>
          <a:xfrm>
            <a:off x="969264" y="3803904"/>
            <a:ext cx="4742535" cy="182880"/>
          </a:xfrm>
          <a:prstGeom prst="rect">
            <a:avLst/>
          </a:prstGeom>
          <a:noFill/>
        </p:spPr>
        <p:txBody>
          <a:bodyPr wrap="square" lIns="0" rIns="0" tIns="0" bIns="0" anchor="t">
            <a:spAutoFit/>
          </a:bodyPr>
          <a:lstStyle/>
          <a:p>
            <a:pPr algn="l"/>
            <a:r>
              <a:rPr sz="950" b="0">
                <a:solidFill>
                  <a:srgbClr val="5C6675"/>
                </a:solidFill>
                <a:latin typeface="Calibri"/>
              </a:rPr>
              <a:t>the job queue is a database table, and stays one</a:t>
            </a:r>
          </a:p>
        </p:txBody>
      </p:sp>
      <p:sp>
        <p:nvSpPr>
          <p:cNvPr id="22" name="Rectangle 21"/>
          <p:cNvSpPr/>
          <p:nvPr/>
        </p:nvSpPr>
        <p:spPr>
          <a:xfrm>
            <a:off x="841247" y="4032503"/>
            <a:ext cx="25603" cy="219456"/>
          </a:xfrm>
          <a:prstGeom prst="rect">
            <a:avLst/>
          </a:prstGeom>
          <a:solidFill>
            <a:srgbClr val="FF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69264" y="3986783"/>
            <a:ext cx="4742535" cy="201168"/>
          </a:xfrm>
          <a:prstGeom prst="rect">
            <a:avLst/>
          </a:prstGeom>
          <a:noFill/>
        </p:spPr>
        <p:txBody>
          <a:bodyPr wrap="square" lIns="0" rIns="0" tIns="0" bIns="0" anchor="t">
            <a:spAutoFit/>
          </a:bodyPr>
          <a:lstStyle/>
          <a:p>
            <a:pPr algn="l"/>
            <a:r>
              <a:rPr sz="1050" b="1">
                <a:solidFill>
                  <a:srgbClr val="10131A"/>
                </a:solidFill>
                <a:latin typeface="Calibri"/>
              </a:rPr>
              <a:t>A service mesh</a:t>
            </a:r>
          </a:p>
        </p:txBody>
      </p:sp>
      <p:sp>
        <p:nvSpPr>
          <p:cNvPr id="24" name="TextBox 23"/>
          <p:cNvSpPr txBox="1"/>
          <p:nvPr/>
        </p:nvSpPr>
        <p:spPr>
          <a:xfrm>
            <a:off x="969264" y="4169663"/>
            <a:ext cx="4742535" cy="182880"/>
          </a:xfrm>
          <a:prstGeom prst="rect">
            <a:avLst/>
          </a:prstGeom>
          <a:noFill/>
        </p:spPr>
        <p:txBody>
          <a:bodyPr wrap="square" lIns="0" rIns="0" tIns="0" bIns="0" anchor="t">
            <a:spAutoFit/>
          </a:bodyPr>
          <a:lstStyle/>
          <a:p>
            <a:pPr algn="l"/>
            <a:r>
              <a:rPr sz="950" b="0">
                <a:solidFill>
                  <a:srgbClr val="5C6675"/>
                </a:solidFill>
                <a:latin typeface="Calibri"/>
              </a:rPr>
              <a:t>there are two services, not fifty</a:t>
            </a:r>
          </a:p>
        </p:txBody>
      </p:sp>
      <p:sp>
        <p:nvSpPr>
          <p:cNvPr id="25" name="Rectangle 24"/>
          <p:cNvSpPr/>
          <p:nvPr/>
        </p:nvSpPr>
        <p:spPr>
          <a:xfrm>
            <a:off x="841247" y="4398264"/>
            <a:ext cx="25603" cy="219456"/>
          </a:xfrm>
          <a:prstGeom prst="rect">
            <a:avLst/>
          </a:prstGeom>
          <a:solidFill>
            <a:srgbClr val="FF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9264" y="4352544"/>
            <a:ext cx="4742535" cy="201168"/>
          </a:xfrm>
          <a:prstGeom prst="rect">
            <a:avLst/>
          </a:prstGeom>
          <a:noFill/>
        </p:spPr>
        <p:txBody>
          <a:bodyPr wrap="square" lIns="0" rIns="0" tIns="0" bIns="0" anchor="t">
            <a:spAutoFit/>
          </a:bodyPr>
          <a:lstStyle/>
          <a:p>
            <a:pPr algn="l"/>
            <a:r>
              <a:rPr sz="1050" b="1">
                <a:solidFill>
                  <a:srgbClr val="10131A"/>
                </a:solidFill>
                <a:latin typeface="Calibri"/>
              </a:rPr>
              <a:t>Per-region media storage</a:t>
            </a:r>
          </a:p>
        </p:txBody>
      </p:sp>
      <p:sp>
        <p:nvSpPr>
          <p:cNvPr id="27" name="TextBox 26"/>
          <p:cNvSpPr txBox="1"/>
          <p:nvPr/>
        </p:nvSpPr>
        <p:spPr>
          <a:xfrm>
            <a:off x="969264" y="4535424"/>
            <a:ext cx="4742535" cy="182880"/>
          </a:xfrm>
          <a:prstGeom prst="rect">
            <a:avLst/>
          </a:prstGeom>
          <a:noFill/>
        </p:spPr>
        <p:txBody>
          <a:bodyPr wrap="square" lIns="0" rIns="0" tIns="0" bIns="0" anchor="t">
            <a:spAutoFit/>
          </a:bodyPr>
          <a:lstStyle/>
          <a:p>
            <a:pPr algn="l"/>
            <a:r>
              <a:rPr sz="950" b="0">
                <a:solidFill>
                  <a:srgbClr val="5C6675"/>
                </a:solidFill>
                <a:latin typeface="Calibri"/>
              </a:rPr>
              <a:t>would break links that must last decades</a:t>
            </a:r>
          </a:p>
        </p:txBody>
      </p:sp>
      <p:sp>
        <p:nvSpPr>
          <p:cNvPr id="28" name="Rectangle 27"/>
          <p:cNvSpPr/>
          <p:nvPr/>
        </p:nvSpPr>
        <p:spPr>
          <a:xfrm>
            <a:off x="6242151" y="1920239"/>
            <a:ext cx="5291175" cy="2871216"/>
          </a:xfrm>
          <a:prstGeom prst="rect">
            <a:avLst/>
          </a:prstGeom>
          <a:solidFill>
            <a:srgbClr val="FFFFFF"/>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42151" y="1920239"/>
            <a:ext cx="5291175" cy="438912"/>
          </a:xfrm>
          <a:prstGeom prst="rect">
            <a:avLst/>
          </a:prstGeom>
          <a:solidFill>
            <a:srgbClr val="FF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25031" y="2029967"/>
            <a:ext cx="4888839" cy="237744"/>
          </a:xfrm>
          <a:prstGeom prst="rect">
            <a:avLst/>
          </a:prstGeom>
          <a:noFill/>
        </p:spPr>
        <p:txBody>
          <a:bodyPr wrap="square" lIns="0" rIns="0" tIns="0" bIns="0" anchor="t">
            <a:spAutoFit/>
          </a:bodyPr>
          <a:lstStyle/>
          <a:p>
            <a:pPr algn="l"/>
            <a:r>
              <a:rPr sz="1000" b="1">
                <a:solidFill>
                  <a:srgbClr val="FFFFFF"/>
                </a:solidFill>
                <a:latin typeface="Consolas"/>
              </a:rPr>
              <a:t>STILL TO BE DECIDED</a:t>
            </a:r>
          </a:p>
        </p:txBody>
      </p:sp>
      <p:sp>
        <p:nvSpPr>
          <p:cNvPr id="31" name="Rectangle 30"/>
          <p:cNvSpPr/>
          <p:nvPr/>
        </p:nvSpPr>
        <p:spPr>
          <a:xfrm>
            <a:off x="6425031" y="2569463"/>
            <a:ext cx="25603" cy="219456"/>
          </a:xfrm>
          <a:prstGeom prst="rect">
            <a:avLst/>
          </a:prstGeom>
          <a:solidFill>
            <a:srgbClr val="223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53047" y="2523744"/>
            <a:ext cx="4742535" cy="201168"/>
          </a:xfrm>
          <a:prstGeom prst="rect">
            <a:avLst/>
          </a:prstGeom>
          <a:noFill/>
        </p:spPr>
        <p:txBody>
          <a:bodyPr wrap="square" lIns="0" rIns="0" tIns="0" bIns="0" anchor="t">
            <a:spAutoFit/>
          </a:bodyPr>
          <a:lstStyle/>
          <a:p>
            <a:pPr algn="l"/>
            <a:r>
              <a:rPr sz="1050" b="1">
                <a:solidFill>
                  <a:srgbClr val="10131A"/>
                </a:solidFill>
                <a:latin typeface="Calibri"/>
              </a:rPr>
              <a:t>European data residency</a:t>
            </a:r>
          </a:p>
        </p:txBody>
      </p:sp>
      <p:sp>
        <p:nvSpPr>
          <p:cNvPr id="33" name="TextBox 32"/>
          <p:cNvSpPr txBox="1"/>
          <p:nvPr/>
        </p:nvSpPr>
        <p:spPr>
          <a:xfrm>
            <a:off x="6553047" y="2706624"/>
            <a:ext cx="4742535" cy="182880"/>
          </a:xfrm>
          <a:prstGeom prst="rect">
            <a:avLst/>
          </a:prstGeom>
          <a:noFill/>
        </p:spPr>
        <p:txBody>
          <a:bodyPr wrap="square" lIns="0" rIns="0" tIns="0" bIns="0" anchor="t">
            <a:spAutoFit/>
          </a:bodyPr>
          <a:lstStyle/>
          <a:p>
            <a:pPr algn="l"/>
            <a:r>
              <a:rPr sz="950" b="0">
                <a:solidFill>
                  <a:srgbClr val="5C6675"/>
                </a:solidFill>
                <a:latin typeface="Calibri"/>
              </a:rPr>
              <a:t>legal question; decides when region three arrives</a:t>
            </a:r>
          </a:p>
        </p:txBody>
      </p:sp>
      <p:sp>
        <p:nvSpPr>
          <p:cNvPr id="34" name="Rectangle 33"/>
          <p:cNvSpPr/>
          <p:nvPr/>
        </p:nvSpPr>
        <p:spPr>
          <a:xfrm>
            <a:off x="6425031" y="2935223"/>
            <a:ext cx="25603" cy="219456"/>
          </a:xfrm>
          <a:prstGeom prst="rect">
            <a:avLst/>
          </a:prstGeom>
          <a:solidFill>
            <a:srgbClr val="223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53047" y="2889503"/>
            <a:ext cx="4742535" cy="201168"/>
          </a:xfrm>
          <a:prstGeom prst="rect">
            <a:avLst/>
          </a:prstGeom>
          <a:noFill/>
        </p:spPr>
        <p:txBody>
          <a:bodyPr wrap="square" lIns="0" rIns="0" tIns="0" bIns="0" anchor="t">
            <a:spAutoFit/>
          </a:bodyPr>
          <a:lstStyle/>
          <a:p>
            <a:pPr algn="l"/>
            <a:r>
              <a:rPr sz="1050" b="1">
                <a:solidFill>
                  <a:srgbClr val="10131A"/>
                </a:solidFill>
                <a:latin typeface="Calibri"/>
              </a:rPr>
              <a:t>When bulk photo import ships</a:t>
            </a:r>
          </a:p>
        </p:txBody>
      </p:sp>
      <p:sp>
        <p:nvSpPr>
          <p:cNvPr id="36" name="TextBox 35"/>
          <p:cNvSpPr txBox="1"/>
          <p:nvPr/>
        </p:nvSpPr>
        <p:spPr>
          <a:xfrm>
            <a:off x="6553047" y="3072384"/>
            <a:ext cx="4742535" cy="182880"/>
          </a:xfrm>
          <a:prstGeom prst="rect">
            <a:avLst/>
          </a:prstGeom>
          <a:noFill/>
        </p:spPr>
        <p:txBody>
          <a:bodyPr wrap="square" lIns="0" rIns="0" tIns="0" bIns="0" anchor="t">
            <a:spAutoFit/>
          </a:bodyPr>
          <a:lstStyle/>
          <a:p>
            <a:pPr algn="l"/>
            <a:r>
              <a:rPr sz="950" b="0">
                <a:solidFill>
                  <a:srgbClr val="5C6675"/>
                </a:solidFill>
                <a:latin typeface="Calibri"/>
              </a:rPr>
              <a:t>changes how fast the archive grows</a:t>
            </a:r>
          </a:p>
        </p:txBody>
      </p:sp>
      <p:sp>
        <p:nvSpPr>
          <p:cNvPr id="37" name="Rectangle 36"/>
          <p:cNvSpPr/>
          <p:nvPr/>
        </p:nvSpPr>
        <p:spPr>
          <a:xfrm>
            <a:off x="6425031" y="3300983"/>
            <a:ext cx="25603" cy="219456"/>
          </a:xfrm>
          <a:prstGeom prst="rect">
            <a:avLst/>
          </a:prstGeom>
          <a:solidFill>
            <a:srgbClr val="223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553047" y="3255263"/>
            <a:ext cx="4742535" cy="201168"/>
          </a:xfrm>
          <a:prstGeom prst="rect">
            <a:avLst/>
          </a:prstGeom>
          <a:noFill/>
        </p:spPr>
        <p:txBody>
          <a:bodyPr wrap="square" lIns="0" rIns="0" tIns="0" bIns="0" anchor="t">
            <a:spAutoFit/>
          </a:bodyPr>
          <a:lstStyle/>
          <a:p>
            <a:pPr algn="l"/>
            <a:r>
              <a:rPr sz="1050" b="1">
                <a:solidFill>
                  <a:srgbClr val="10131A"/>
                </a:solidFill>
                <a:latin typeface="Calibri"/>
              </a:rPr>
              <a:t>A fourth region for South-East Asia</a:t>
            </a:r>
          </a:p>
        </p:txBody>
      </p:sp>
      <p:sp>
        <p:nvSpPr>
          <p:cNvPr id="39" name="TextBox 38"/>
          <p:cNvSpPr txBox="1"/>
          <p:nvPr/>
        </p:nvSpPr>
        <p:spPr>
          <a:xfrm>
            <a:off x="6553047" y="3438144"/>
            <a:ext cx="4742535" cy="182880"/>
          </a:xfrm>
          <a:prstGeom prst="rect">
            <a:avLst/>
          </a:prstGeom>
          <a:noFill/>
        </p:spPr>
        <p:txBody>
          <a:bodyPr wrap="square" lIns="0" rIns="0" tIns="0" bIns="0" anchor="t">
            <a:spAutoFit/>
          </a:bodyPr>
          <a:lstStyle/>
          <a:p>
            <a:pPr algn="l"/>
            <a:r>
              <a:rPr sz="950" b="0">
                <a:solidFill>
                  <a:srgbClr val="5C6675"/>
                </a:solidFill>
                <a:latin typeface="Calibri"/>
              </a:rPr>
              <a:t>only if that audience passes 15% of users</a:t>
            </a:r>
          </a:p>
        </p:txBody>
      </p:sp>
      <p:sp>
        <p:nvSpPr>
          <p:cNvPr id="40" name="Rectangle 39"/>
          <p:cNvSpPr/>
          <p:nvPr/>
        </p:nvSpPr>
        <p:spPr>
          <a:xfrm>
            <a:off x="6425031" y="3666744"/>
            <a:ext cx="25603" cy="219456"/>
          </a:xfrm>
          <a:prstGeom prst="rect">
            <a:avLst/>
          </a:prstGeom>
          <a:solidFill>
            <a:srgbClr val="223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553047" y="3621024"/>
            <a:ext cx="4742535" cy="201168"/>
          </a:xfrm>
          <a:prstGeom prst="rect">
            <a:avLst/>
          </a:prstGeom>
          <a:noFill/>
        </p:spPr>
        <p:txBody>
          <a:bodyPr wrap="square" lIns="0" rIns="0" tIns="0" bIns="0" anchor="t">
            <a:spAutoFit/>
          </a:bodyPr>
          <a:lstStyle/>
          <a:p>
            <a:pPr algn="l"/>
            <a:r>
              <a:rPr sz="1050" b="1">
                <a:solidFill>
                  <a:srgbClr val="10131A"/>
                </a:solidFill>
                <a:latin typeface="Calibri"/>
              </a:rPr>
              <a:t>Owning the backup storage</a:t>
            </a:r>
          </a:p>
        </p:txBody>
      </p:sp>
      <p:sp>
        <p:nvSpPr>
          <p:cNvPr id="42" name="TextBox 41"/>
          <p:cNvSpPr txBox="1"/>
          <p:nvPr/>
        </p:nvSpPr>
        <p:spPr>
          <a:xfrm>
            <a:off x="6553047" y="3803904"/>
            <a:ext cx="4742535" cy="182880"/>
          </a:xfrm>
          <a:prstGeom prst="rect">
            <a:avLst/>
          </a:prstGeom>
          <a:noFill/>
        </p:spPr>
        <p:txBody>
          <a:bodyPr wrap="square" lIns="0" rIns="0" tIns="0" bIns="0" anchor="t">
            <a:spAutoFit/>
          </a:bodyPr>
          <a:lstStyle/>
          <a:p>
            <a:pPr algn="l"/>
            <a:r>
              <a:rPr sz="950" b="0">
                <a:solidFill>
                  <a:srgbClr val="5C6675"/>
                </a:solidFill>
                <a:latin typeface="Calibri"/>
              </a:rPr>
              <a:t>revisit once the archive passes 2 PB</a:t>
            </a:r>
          </a:p>
        </p:txBody>
      </p:sp>
      <p:sp>
        <p:nvSpPr>
          <p:cNvPr id="43" name="Rectangle 42"/>
          <p:cNvSpPr/>
          <p:nvPr/>
        </p:nvSpPr>
        <p:spPr>
          <a:xfrm>
            <a:off x="6425031" y="4032503"/>
            <a:ext cx="25603" cy="219456"/>
          </a:xfrm>
          <a:prstGeom prst="rect">
            <a:avLst/>
          </a:prstGeom>
          <a:solidFill>
            <a:srgbClr val="223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553047" y="3986783"/>
            <a:ext cx="4742535" cy="201168"/>
          </a:xfrm>
          <a:prstGeom prst="rect">
            <a:avLst/>
          </a:prstGeom>
          <a:noFill/>
        </p:spPr>
        <p:txBody>
          <a:bodyPr wrap="square" lIns="0" rIns="0" tIns="0" bIns="0" anchor="t">
            <a:spAutoFit/>
          </a:bodyPr>
          <a:lstStyle/>
          <a:p>
            <a:pPr algn="l"/>
            <a:r>
              <a:rPr sz="1050" b="1">
                <a:solidFill>
                  <a:srgbClr val="10131A"/>
                </a:solidFill>
                <a:latin typeface="Calibri"/>
              </a:rPr>
              <a:t>Search and reporting timing</a:t>
            </a:r>
          </a:p>
        </p:txBody>
      </p:sp>
      <p:sp>
        <p:nvSpPr>
          <p:cNvPr id="45" name="TextBox 44"/>
          <p:cNvSpPr txBox="1"/>
          <p:nvPr/>
        </p:nvSpPr>
        <p:spPr>
          <a:xfrm>
            <a:off x="6553047" y="4169663"/>
            <a:ext cx="4742535" cy="182880"/>
          </a:xfrm>
          <a:prstGeom prst="rect">
            <a:avLst/>
          </a:prstGeom>
          <a:noFill/>
        </p:spPr>
        <p:txBody>
          <a:bodyPr wrap="square" lIns="0" rIns="0" tIns="0" bIns="0" anchor="t">
            <a:spAutoFit/>
          </a:bodyPr>
          <a:lstStyle/>
          <a:p>
            <a:pPr algn="l"/>
            <a:r>
              <a:rPr sz="950" b="0">
                <a:solidFill>
                  <a:srgbClr val="5C6675"/>
                </a:solidFill>
                <a:latin typeface="Calibri"/>
              </a:rPr>
              <a:t>can move earlier if reporting is wanted sooner</a:t>
            </a:r>
          </a:p>
        </p:txBody>
      </p:sp>
      <p:sp>
        <p:nvSpPr>
          <p:cNvPr id="46" name="Rectangle 45"/>
          <p:cNvSpPr/>
          <p:nvPr/>
        </p:nvSpPr>
        <p:spPr>
          <a:xfrm>
            <a:off x="6425031" y="4398264"/>
            <a:ext cx="25603" cy="219456"/>
          </a:xfrm>
          <a:prstGeom prst="rect">
            <a:avLst/>
          </a:prstGeom>
          <a:solidFill>
            <a:srgbClr val="223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553047" y="4352544"/>
            <a:ext cx="4742535" cy="201168"/>
          </a:xfrm>
          <a:prstGeom prst="rect">
            <a:avLst/>
          </a:prstGeom>
          <a:noFill/>
        </p:spPr>
        <p:txBody>
          <a:bodyPr wrap="square" lIns="0" rIns="0" tIns="0" bIns="0" anchor="t">
            <a:spAutoFit/>
          </a:bodyPr>
          <a:lstStyle/>
          <a:p>
            <a:pPr algn="l"/>
            <a:r>
              <a:rPr sz="1050" b="1">
                <a:solidFill>
                  <a:srgbClr val="10131A"/>
                </a:solidFill>
                <a:latin typeface="Calibri"/>
              </a:rPr>
              <a:t>Cache layer</a:t>
            </a:r>
          </a:p>
        </p:txBody>
      </p:sp>
      <p:sp>
        <p:nvSpPr>
          <p:cNvPr id="48" name="TextBox 47"/>
          <p:cNvSpPr txBox="1"/>
          <p:nvPr/>
        </p:nvSpPr>
        <p:spPr>
          <a:xfrm>
            <a:off x="6553047" y="4535424"/>
            <a:ext cx="4742535" cy="182880"/>
          </a:xfrm>
          <a:prstGeom prst="rect">
            <a:avLst/>
          </a:prstGeom>
          <a:noFill/>
        </p:spPr>
        <p:txBody>
          <a:bodyPr wrap="square" lIns="0" rIns="0" tIns="0" bIns="0" anchor="t">
            <a:spAutoFit/>
          </a:bodyPr>
          <a:lstStyle/>
          <a:p>
            <a:pPr algn="l"/>
            <a:r>
              <a:rPr sz="950" b="0">
                <a:solidFill>
                  <a:srgbClr val="5C6675"/>
                </a:solidFill>
                <a:latin typeface="Calibri"/>
              </a:rPr>
              <a:t>measurement decides, not a date</a:t>
            </a:r>
          </a:p>
        </p:txBody>
      </p:sp>
      <p:sp>
        <p:nvSpPr>
          <p:cNvPr id="49" name="Rectangle 48"/>
          <p:cNvSpPr/>
          <p:nvPr/>
        </p:nvSpPr>
        <p:spPr>
          <a:xfrm>
            <a:off x="658368" y="4956048"/>
            <a:ext cx="10874959" cy="969264"/>
          </a:xfrm>
          <a:prstGeom prst="rect">
            <a:avLst/>
          </a:prstGeom>
          <a:solidFill>
            <a:srgbClr val="22304A"/>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96112" y="5093208"/>
            <a:ext cx="10362895" cy="237744"/>
          </a:xfrm>
          <a:prstGeom prst="rect">
            <a:avLst/>
          </a:prstGeom>
          <a:noFill/>
        </p:spPr>
        <p:txBody>
          <a:bodyPr wrap="square" lIns="0" rIns="0" tIns="0" bIns="0" anchor="t">
            <a:spAutoFit/>
          </a:bodyPr>
          <a:lstStyle/>
          <a:p>
            <a:pPr algn="l"/>
            <a:r>
              <a:rPr sz="950" b="1">
                <a:solidFill>
                  <a:srgbClr val="FF6B5E"/>
                </a:solidFill>
                <a:latin typeface="Consolas"/>
              </a:rPr>
              <a:t>THE PLAN IN ONE SENTENCE</a:t>
            </a:r>
          </a:p>
        </p:txBody>
      </p:sp>
      <p:sp>
        <p:nvSpPr>
          <p:cNvPr id="51" name="TextBox 50"/>
          <p:cNvSpPr txBox="1"/>
          <p:nvPr/>
        </p:nvSpPr>
        <p:spPr>
          <a:xfrm>
            <a:off x="896112" y="5358384"/>
            <a:ext cx="10362895" cy="493776"/>
          </a:xfrm>
          <a:prstGeom prst="rect">
            <a:avLst/>
          </a:prstGeom>
          <a:noFill/>
        </p:spPr>
        <p:txBody>
          <a:bodyPr wrap="square" lIns="0" rIns="0" tIns="0" bIns="0" anchor="t">
            <a:spAutoFit/>
          </a:bodyPr>
          <a:lstStyle/>
          <a:p>
            <a:pPr algn="l">
              <a:lnSpc>
                <a:spcPct val="128000"/>
              </a:lnSpc>
            </a:pPr>
            <a:r>
              <a:rPr sz="1350" b="0">
                <a:solidFill>
                  <a:srgbClr val="FFFFFF"/>
                </a:solidFill>
                <a:latin typeface="Calibri"/>
              </a:rPr>
              <a:t>Start on one server to find out whether people want this; then grow the same system through five stages to a million users, adding availability and locality as they are needed — and never replacing what already works.</a:t>
            </a:r>
          </a:p>
        </p:txBody>
      </p:sp>
      <p:sp>
        <p:nvSpPr>
          <p:cNvPr id="52" name="TextBox 51"/>
          <p:cNvSpPr txBox="1"/>
          <p:nvPr/>
        </p:nvSpPr>
        <p:spPr>
          <a:xfrm>
            <a:off x="658368" y="6419088"/>
            <a:ext cx="8699967" cy="201168"/>
          </a:xfrm>
          <a:prstGeom prst="rect">
            <a:avLst/>
          </a:prstGeom>
          <a:noFill/>
        </p:spPr>
        <p:txBody>
          <a:bodyPr wrap="square" lIns="0" rIns="0" tIns="0" bIns="0" anchor="t">
            <a:spAutoFit/>
          </a:bodyPr>
          <a:lstStyle/>
          <a:p>
            <a:pPr algn="l"/>
            <a:r>
              <a:rPr sz="950" b="0">
                <a:solidFill>
                  <a:srgbClr val="5C6675"/>
                </a:solidFill>
                <a:latin typeface="Consolas"/>
              </a:rPr>
              <a:t>Boundaries and open questions</a:t>
            </a:r>
          </a:p>
        </p:txBody>
      </p:sp>
      <p:sp>
        <p:nvSpPr>
          <p:cNvPr id="53" name="TextBox 52"/>
          <p:cNvSpPr txBox="1"/>
          <p:nvPr/>
        </p:nvSpPr>
        <p:spPr>
          <a:xfrm>
            <a:off x="10618927" y="6419088"/>
            <a:ext cx="914400" cy="201168"/>
          </a:xfrm>
          <a:prstGeom prst="rect">
            <a:avLst/>
          </a:prstGeom>
          <a:noFill/>
        </p:spPr>
        <p:txBody>
          <a:bodyPr wrap="square" lIns="0" rIns="0" tIns="0" bIns="0" anchor="t">
            <a:spAutoFit/>
          </a:bodyPr>
          <a:lstStyle/>
          <a:p>
            <a:pPr algn="r"/>
            <a:r>
              <a:rPr sz="950" b="0">
                <a:solidFill>
                  <a:srgbClr val="5C6675"/>
                </a:solidFill>
                <a:latin typeface="Consolas"/>
              </a:rPr>
              <a:t>16 / 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