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0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FF6B5E"/>
                </a:solidFill>
                <a:latin typeface="Consolas"/>
              </a:rPr>
              <a:t>MOMENTS &amp; MEMORIES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8917466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4600" b="0">
                <a:solidFill>
                  <a:srgbClr val="FFFFFF"/>
                </a:solidFill>
                <a:latin typeface="Georgia"/>
              </a:rPr>
              <a:t>Cost, plans and
commercial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035808"/>
            <a:ext cx="717747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500" b="0">
                <a:solidFill>
                  <a:srgbClr val="C3CAD6"/>
                </a:solidFill>
                <a:latin typeface="Calibri"/>
              </a:rPr>
              <a:t>What it costs to launch, what it costs at scale, when it pays for itself — and a lower-cost hosting alternative.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4041648"/>
            <a:ext cx="29260" cy="1170432"/>
          </a:xfrm>
          <a:prstGeom prst="rect">
            <a:avLst/>
          </a:prstGeom>
          <a:solidFill>
            <a:srgbClr val="FF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4059935"/>
            <a:ext cx="316778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700" b="0">
                <a:solidFill>
                  <a:srgbClr val="FFFFFF"/>
                </a:solidFill>
                <a:latin typeface="Georgia"/>
              </a:rPr>
              <a:t>$168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4681728"/>
            <a:ext cx="316778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6B5E"/>
                </a:solidFill>
                <a:latin typeface="Consolas"/>
              </a:rPr>
              <a:t>PER MONTH TO LAUNCH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4937760"/>
            <a:ext cx="316778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949DAC"/>
                </a:solidFill>
                <a:latin typeface="Calibri"/>
              </a:rPr>
              <a:t>1,000 users · $2,010 a year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83354" y="4041648"/>
            <a:ext cx="29260" cy="1170432"/>
          </a:xfrm>
          <a:prstGeom prst="rect">
            <a:avLst/>
          </a:prstGeom>
          <a:solidFill>
            <a:srgbClr val="FF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66234" y="4059935"/>
            <a:ext cx="316778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700" b="0">
                <a:solidFill>
                  <a:srgbClr val="FFFFFF"/>
                </a:solidFill>
                <a:latin typeface="Georgia"/>
              </a:rPr>
              <a:t>56%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6234" y="4681728"/>
            <a:ext cx="316778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6B5E"/>
                </a:solidFill>
                <a:latin typeface="Consolas"/>
              </a:rPr>
              <a:t>GROSS MARGIN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6234" y="4937760"/>
            <a:ext cx="316778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949DAC"/>
                </a:solidFill>
                <a:latin typeface="Calibri"/>
              </a:rPr>
              <a:t>flat from 100K users onward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08340" y="4041648"/>
            <a:ext cx="29260" cy="1170432"/>
          </a:xfrm>
          <a:prstGeom prst="rect">
            <a:avLst/>
          </a:prstGeom>
          <a:solidFill>
            <a:srgbClr val="FF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1220" y="4059935"/>
            <a:ext cx="316778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700" b="0">
                <a:solidFill>
                  <a:srgbClr val="FFFFFF"/>
                </a:solidFill>
                <a:latin typeface="Georgia"/>
              </a:rPr>
              <a:t>365K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1220" y="4681728"/>
            <a:ext cx="316778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6B5E"/>
                </a:solidFill>
                <a:latin typeface="Consolas"/>
              </a:rPr>
              <a:t>USERS TO BREAK EVEN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1220" y="4937760"/>
            <a:ext cx="316778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949DAC"/>
                </a:solidFill>
                <a:latin typeface="Calibri"/>
              </a:rPr>
              <a:t>month 29 · ~$540K capital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19963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48092"/>
                </a:solidFill>
                <a:latin typeface="Consolas"/>
              </a:rPr>
              <a:t>Prepared for client review  ·  all figures in USD at published list prices, before committed-use discounts  · 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AF3327"/>
                </a:solidFill>
                <a:latin typeface="Consolas"/>
              </a:rPr>
              <a:t>01 / SUBSCRIPTION PLANS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700" b="0">
                <a:solidFill>
                  <a:srgbClr val="10131A"/>
                </a:solidFill>
                <a:latin typeface="Georgia"/>
              </a:rPr>
              <a:t>Three plans, two at launch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16736"/>
            <a:ext cx="93524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5C6675"/>
                </a:solidFill>
                <a:latin typeface="Calibri"/>
              </a:rPr>
              <a:t>Limited by storage volume and how far ahead a capsule is scheduled — never by how many memories a person creates.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746504"/>
            <a:ext cx="822960" cy="32004"/>
          </a:xfrm>
          <a:prstGeom prst="rect">
            <a:avLst/>
          </a:prstGeom>
          <a:solidFill>
            <a:srgbClr val="FF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956815"/>
          <a:ext cx="9043413" cy="33787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88920"/>
                <a:gridCol w="2084831"/>
                <a:gridCol w="2084831"/>
                <a:gridCol w="2084831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Free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Premium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Family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0131A"/>
                          </a:solidFill>
                          <a:latin typeface="Calibri"/>
                        </a:rPr>
                        <a:t>Price per month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0131A"/>
                          </a:solidFill>
                          <a:latin typeface="Consolas"/>
                        </a:rPr>
                        <a:t>₹0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0131A"/>
                          </a:solidFill>
                          <a:latin typeface="Consolas"/>
                        </a:rPr>
                        <a:t>₹399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0131A"/>
                          </a:solidFill>
                          <a:latin typeface="Consolas"/>
                        </a:rPr>
                        <a:t>₹749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Price per year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₹3,199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₹5,999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Storage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10 GB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250 GB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1 TB pooled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Memories created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unlimited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unlimited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unlimited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Originals never compressed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yes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yes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yes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0131A"/>
                          </a:solidFill>
                          <a:latin typeface="Calibri"/>
                        </a:rPr>
                        <a:t>Pending capsules at once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0131A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0131A"/>
                          </a:solidFill>
                          <a:latin typeface="Consolas"/>
                        </a:rPr>
                        <a:t>unlimited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0131A"/>
                          </a:solidFill>
                          <a:latin typeface="Consolas"/>
                        </a:rPr>
                        <a:t>unlimited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0131A"/>
                          </a:solidFill>
                          <a:latin typeface="Calibri"/>
                        </a:rPr>
                        <a:t>Scheduling horizon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0131A"/>
                          </a:solidFill>
                          <a:latin typeface="Consolas"/>
                        </a:rPr>
                        <a:t>12 months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0131A"/>
                          </a:solidFill>
                          <a:latin typeface="Consolas"/>
                        </a:rPr>
                        <a:t>unlimited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0131A"/>
                          </a:solidFill>
                          <a:latin typeface="Consolas"/>
                        </a:rPr>
                        <a:t>unlimited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Age-milestone unlock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yes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yes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Delivery channels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in-app + email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+ SMS, WhatsApp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+ backup guardian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Seats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6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Release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R1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R1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after R1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9756648" y="1956815"/>
            <a:ext cx="1776679" cy="15179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756648" y="1956815"/>
            <a:ext cx="41148" cy="1517904"/>
          </a:xfrm>
          <a:prstGeom prst="rect">
            <a:avLst/>
          </a:prstGeom>
          <a:solidFill>
            <a:srgbClr val="FF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57816" y="2103120"/>
            <a:ext cx="137434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AF3327"/>
                </a:solidFill>
                <a:latin typeface="Consolas"/>
              </a:rPr>
              <a:t>THE CONVERSION EVENT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57816" y="2377439"/>
            <a:ext cx="1374343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38414F"/>
                </a:solidFill>
                <a:latin typeface="Calibri"/>
              </a:rPr>
              <a:t>The free plan is capped on ‘how far ahead’, not on volume. “This one needs to wait until 2044” is what converts — at the moment intent is highest.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756648" y="3602735"/>
            <a:ext cx="1776679" cy="1389888"/>
          </a:xfrm>
          <a:prstGeom prst="rect">
            <a:avLst/>
          </a:prstGeom>
          <a:solidFill>
            <a:srgbClr val="E6F2F0"/>
          </a:solidFill>
          <a:ln w="9525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756648" y="3602735"/>
            <a:ext cx="41148" cy="1389888"/>
          </a:xfrm>
          <a:prstGeom prst="rect">
            <a:avLst/>
          </a:prstGeom>
          <a:solidFill>
            <a:srgbClr val="0E6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57816" y="3749039"/>
            <a:ext cx="137434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0E6A60"/>
                </a:solidFill>
                <a:latin typeface="Consolas"/>
              </a:rPr>
              <a:t>WRITTEN INTO THE TERMS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57816" y="4023359"/>
            <a:ext cx="137434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38414F"/>
                </a:solidFill>
                <a:latin typeface="Calibri"/>
              </a:rPr>
              <a:t>A sealed capsule is never cancelled for non-payment, and memories are never deleted for non-payment.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756648" y="5120640"/>
            <a:ext cx="1776679" cy="115214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756648" y="5120640"/>
            <a:ext cx="41148" cy="1152144"/>
          </a:xfrm>
          <a:prstGeom prst="rect">
            <a:avLst/>
          </a:prstGeom>
          <a:solidFill>
            <a:srgbClr val="0E6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57816" y="5266944"/>
            <a:ext cx="137434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0E6A60"/>
                </a:solidFill>
                <a:latin typeface="Consolas"/>
              </a:rPr>
              <a:t>RECOMMENDED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57816" y="5541264"/>
            <a:ext cx="1374343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38414F"/>
                </a:solidFill>
                <a:latin typeface="Calibri"/>
              </a:rPr>
              <a:t>Launch Free + Premium only. Add Family once real storage-use data exists.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382512"/>
            <a:ext cx="869996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C6675"/>
                </a:solidFill>
                <a:latin typeface="Consolas"/>
              </a:rPr>
              <a:t>Plans &amp; limits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18927" y="638251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>
                <a:solidFill>
                  <a:srgbClr val="5C6675"/>
                </a:solidFill>
                <a:latin typeface="Consolas"/>
              </a:rPr>
              <a:t>01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AF3327"/>
                </a:solidFill>
                <a:latin typeface="Consolas"/>
              </a:rPr>
              <a:t>02 / PRICE BY COUNTRY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700" b="0">
                <a:solidFill>
                  <a:srgbClr val="10131A"/>
                </a:solidFill>
                <a:latin typeface="Georgia"/>
              </a:rPr>
              <a:t>Priced to local purchasing power, shown inclusive of tax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16736"/>
            <a:ext cx="93524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5C6675"/>
                </a:solidFill>
                <a:latin typeface="Calibri"/>
              </a:rPr>
              <a:t>Prices are set per market rather than converted from one figure. The net column is what actually reaches the business after indirect tax — and it is the number the margins use.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746504"/>
            <a:ext cx="822960" cy="32004"/>
          </a:xfrm>
          <a:prstGeom prst="rect">
            <a:avLst/>
          </a:prstGeom>
          <a:solidFill>
            <a:srgbClr val="FF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956815"/>
          <a:ext cx="10204704" cy="26883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48840"/>
                <a:gridCol w="1298448"/>
                <a:gridCol w="1481328"/>
                <a:gridCol w="1417320"/>
                <a:gridCol w="1298448"/>
                <a:gridCol w="1389888"/>
                <a:gridCol w="1170432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Market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Share of users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Premium / month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Premium / year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Indirect tax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Net per payer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Conversion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India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55%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₹399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₹3,199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18% GST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$3.33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6.0%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United States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12%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$7.99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$63.99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at checkout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$6.93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12.0%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EU &amp; UK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8%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€7.49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€59.99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~21% VAT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$5.80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11.0%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SE Asia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10%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$3.99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$31.99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10-12% VAT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$3.11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4.0%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MENA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5%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$7.99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$63.99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5-15% VAT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$6.30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9.0%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LATAM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5%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$4.49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$35.99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~16% IVA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$3.36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5.0%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Rest of world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5%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$7.99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$63.99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varies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$6.93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8.0%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0131A"/>
                          </a:solidFill>
                          <a:latin typeface="Calibri"/>
                        </a:rPr>
                        <a:t>Blended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0131A"/>
                          </a:solidFill>
                          <a:latin typeface="Consolas"/>
                        </a:rPr>
                        <a:t>100%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0131A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0131A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0131A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0131A"/>
                          </a:solidFill>
                          <a:latin typeface="Consolas"/>
                        </a:rPr>
                        <a:t>$4.74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0131A"/>
                          </a:solidFill>
                          <a:latin typeface="Consolas"/>
                        </a:rPr>
                        <a:t>7.1%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58368" y="4974336"/>
            <a:ext cx="53949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4974336"/>
            <a:ext cx="41148" cy="1188720"/>
          </a:xfrm>
          <a:prstGeom prst="rect">
            <a:avLst/>
          </a:prstGeom>
          <a:solidFill>
            <a:srgbClr val="FF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5120640"/>
            <a:ext cx="49926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AF3327"/>
                </a:solidFill>
                <a:latin typeface="Consolas"/>
              </a:rPr>
              <a:t>INDIRECT TAX COSTS 8% OF REVENUE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5394959"/>
            <a:ext cx="4992624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38414F"/>
                </a:solidFill>
                <a:latin typeface="Calibri"/>
              </a:rPr>
              <a:t>₹399 displayed is ₹338 received. Modelling the displayed price as net overstates revenue by $29,900 a month at one million users.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81928" y="4974336"/>
            <a:ext cx="5251399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1384" y="5120640"/>
            <a:ext cx="48399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AF3327"/>
                </a:solidFill>
                <a:latin typeface="Consolas"/>
              </a:rPr>
              <a:t>PAYMENT METHODS &amp; FEES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1384" y="5394959"/>
            <a:ext cx="483991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100" b="1">
                <a:solidFill>
                  <a:srgbClr val="38414F"/>
                </a:solidFill>
                <a:latin typeface="Calibri"/>
              </a:rPr>
              <a:t>India </a:t>
            </a:r>
            <a:r>
              <a:rPr sz="1100" b="0">
                <a:solidFill>
                  <a:srgbClr val="38414F"/>
                </a:solidFill>
                <a:latin typeface="Calibri"/>
              </a:rPr>
              <a:t>Razorpay · UPI AutoPay · 2.36%     </a:t>
            </a:r>
            <a:r>
              <a:rPr sz="1100" b="1">
                <a:solidFill>
                  <a:srgbClr val="38414F"/>
                </a:solidFill>
                <a:latin typeface="Calibri"/>
              </a:rPr>
              <a:t>US </a:t>
            </a:r>
            <a:r>
              <a:rPr sz="1100" b="0">
                <a:solidFill>
                  <a:srgbClr val="38414F"/>
                </a:solidFill>
                <a:latin typeface="Calibri"/>
              </a:rPr>
              <a:t>Stripe · 2.9% + $0.30</a:t>
            </a:r>
          </a:p>
          <a:p>
            <a:pPr algn="l">
              <a:lnSpc>
                <a:spcPct val="134000"/>
              </a:lnSpc>
            </a:pPr>
            <a:r>
              <a:rPr sz="1100" b="1">
                <a:solidFill>
                  <a:srgbClr val="38414F"/>
                </a:solidFill>
                <a:latin typeface="Calibri"/>
              </a:rPr>
              <a:t>EU </a:t>
            </a:r>
            <a:r>
              <a:rPr sz="1100" b="0">
                <a:solidFill>
                  <a:srgbClr val="38414F"/>
                </a:solidFill>
                <a:latin typeface="Calibri"/>
              </a:rPr>
              <a:t>SEPA Direct Debit · 0.35%     </a:t>
            </a:r>
            <a:r>
              <a:rPr sz="1100" b="1">
                <a:solidFill>
                  <a:srgbClr val="38414F"/>
                </a:solidFill>
                <a:latin typeface="Calibri"/>
              </a:rPr>
              <a:t>Blended </a:t>
            </a:r>
            <a:r>
              <a:rPr sz="1100" b="0">
                <a:solidFill>
                  <a:srgbClr val="38414F"/>
                </a:solidFill>
                <a:latin typeface="Calibri"/>
              </a:rPr>
              <a:t>~2.6% of revenue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82512"/>
            <a:ext cx="869996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C6675"/>
                </a:solidFill>
                <a:latin typeface="Consolas"/>
              </a:rPr>
              <a:t>Country pricing &amp; payments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18927" y="638251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>
                <a:solidFill>
                  <a:srgbClr val="5C6675"/>
                </a:solidFill>
                <a:latin typeface="Consolas"/>
              </a:rPr>
              <a:t>02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AF3327"/>
                </a:solidFill>
                <a:latin typeface="Consolas"/>
              </a:rPr>
              <a:t>03 / COST TO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700" b="0">
                <a:solidFill>
                  <a:srgbClr val="10131A"/>
                </a:solidFill>
                <a:latin typeface="Georgia"/>
              </a:rPr>
              <a:t>$168 a month for the first thousand users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16736"/>
            <a:ext cx="93524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5C6675"/>
                </a:solidFill>
                <a:latin typeface="Calibri"/>
              </a:rPr>
              <a:t>Four vendors take payment. One cloud region holds everything. No software licences anywhere in the stack.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746504"/>
            <a:ext cx="822960" cy="32004"/>
          </a:xfrm>
          <a:prstGeom prst="rect">
            <a:avLst/>
          </a:prstGeom>
          <a:solidFill>
            <a:srgbClr val="FF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956815"/>
          <a:ext cx="8183879" cy="37289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06040"/>
                <a:gridCol w="1691640"/>
                <a:gridCol w="1874519"/>
                <a:gridCol w="1005840"/>
                <a:gridCol w="100584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What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Quantity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Buy from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Monthly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Yearly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</a:tr>
              <a:tr h="24414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Web / API containers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2 · 0.25 vCPU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AWS Fargate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$21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$252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24414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Delivery-engine workers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2 · always on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AWS Fargate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$18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$216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</a:tr>
              <a:tr h="24414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Transcode pool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~83 vCPU-hr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AWS Fargate Spot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$4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$48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24414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Load balancer + 4 IPv4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AWS ALB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$37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$444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</a:tr>
              <a:tr h="24414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Database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1 writer · 0.5 ACU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AWS Aurora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$45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$540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24414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Media storage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730 GB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Cloudflare R2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$11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$132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</a:tr>
              <a:tr h="24414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Backup copy, 2nd vendor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584 GB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Backblaze B2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$4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$48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24414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CDN, WAF, SSL, DNS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1 zone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Cloudflare Pro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$25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$250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</a:tr>
              <a:tr h="24414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Bandwidth delivered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300 GB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Cloudflare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$0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$0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</a:tr>
              <a:tr h="24414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Email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8,000 / mo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Amazon SES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$1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$12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</a:tr>
              <a:tr h="24414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Domain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Cloudflare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$1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$12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24414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Monitoring, analytics, CI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all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free tiers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$0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$0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</a:tr>
              <a:tr h="24414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Software licences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$0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$0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</a:tr>
              <a:tr h="24414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0131A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013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0131A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0131A"/>
                          </a:solidFill>
                          <a:latin typeface="Consolas"/>
                        </a:rPr>
                        <a:t>$168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0131A"/>
                          </a:solidFill>
                          <a:latin typeface="Consolas"/>
                        </a:rPr>
                        <a:t>$2,010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025128" y="1975103"/>
            <a:ext cx="250819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5C6675"/>
                </a:solidFill>
                <a:latin typeface="Consolas"/>
              </a:rPr>
              <a:t>YEAR ONE, AS QUOTED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25128" y="2249423"/>
            <a:ext cx="250819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10131A"/>
                </a:solidFill>
                <a:latin typeface="Georgia"/>
              </a:rPr>
              <a:t>$2,010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25128" y="2801603"/>
            <a:ext cx="250819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100" b="0">
                <a:solidFill>
                  <a:srgbClr val="38414F"/>
                </a:solidFill>
                <a:latin typeface="Calibri"/>
              </a:rPr>
              <a:t>Budget $206 a month ($2,472 a year): the same accounts hold more next year than this year.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25128" y="3602735"/>
            <a:ext cx="2508199" cy="1298448"/>
          </a:xfrm>
          <a:prstGeom prst="rect">
            <a:avLst/>
          </a:prstGeom>
          <a:solidFill>
            <a:srgbClr val="E6F2F0"/>
          </a:solidFill>
          <a:ln w="9525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025128" y="3602735"/>
            <a:ext cx="41148" cy="1298448"/>
          </a:xfrm>
          <a:prstGeom prst="rect">
            <a:avLst/>
          </a:prstGeom>
          <a:solidFill>
            <a:srgbClr val="0E6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26296" y="3749039"/>
            <a:ext cx="21058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0E6A60"/>
                </a:solidFill>
                <a:latin typeface="Consolas"/>
              </a:rPr>
              <a:t>APPLY BEFORE LAUNCH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26296" y="4023359"/>
            <a:ext cx="2105863" cy="731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38414F"/>
                </a:solidFill>
                <a:latin typeface="Calibri"/>
              </a:rPr>
              <a:t>AWS spend is $127 a month. An AWS Activate credit of $5,000 covers roughly 24 months — leaving about $30 a month out of pocket.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25128" y="5010912"/>
            <a:ext cx="2508199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25128" y="5010912"/>
            <a:ext cx="41148" cy="1261872"/>
          </a:xfrm>
          <a:prstGeom prst="rect">
            <a:avLst/>
          </a:prstGeom>
          <a:solidFill>
            <a:srgbClr val="FF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26296" y="5157216"/>
            <a:ext cx="210586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AF3327"/>
                </a:solidFill>
                <a:latin typeface="Consolas"/>
              </a:rPr>
              <a:t>THE FREE PLAN’S 10 GB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26296" y="5431536"/>
            <a:ext cx="2105863" cy="6949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38414F"/>
                </a:solidFill>
                <a:latin typeface="Calibri"/>
              </a:rPr>
              <a:t>Charged on bytes actually stored, not on allowance granted. A free account at its full 10 GB cap costs 20¢ a month; a dormant one costs a fifth of a cent.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382512"/>
            <a:ext cx="869996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C6675"/>
                </a:solidFill>
                <a:latin typeface="Consolas"/>
              </a:rPr>
              <a:t>Launch stack · 1,000 users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18927" y="638251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>
                <a:solidFill>
                  <a:srgbClr val="5C6675"/>
                </a:solidFill>
                <a:latin typeface="Consolas"/>
              </a:rPr>
              <a:t>03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AF3327"/>
                </a:solidFill>
                <a:latin typeface="Consolas"/>
              </a:rPr>
              <a:t>04 / COST AS WE GROW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700" b="0">
                <a:solidFill>
                  <a:srgbClr val="10131A"/>
                </a:solidFill>
                <a:latin typeface="Georgia"/>
              </a:rPr>
              <a:t>Every line scales without a single migration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16736"/>
            <a:ext cx="93524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5C6675"/>
                </a:solidFill>
                <a:latin typeface="Calibri"/>
              </a:rPr>
              <a:t>The same components serve a thousand users and a million — resized, not replaced. Nothing in this table requires re-building anything.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746504"/>
            <a:ext cx="822960" cy="32004"/>
          </a:xfrm>
          <a:prstGeom prst="rect">
            <a:avLst/>
          </a:prstGeom>
          <a:solidFill>
            <a:srgbClr val="FF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956815"/>
          <a:ext cx="9006840" cy="25054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4480"/>
                <a:gridCol w="1298448"/>
                <a:gridCol w="1188720"/>
                <a:gridCol w="1691640"/>
                <a:gridCol w="1737360"/>
                <a:gridCol w="1536192"/>
              </a:tblGrid>
              <a:tr h="310896"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Users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Stored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Regions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Cost / month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Cost / year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Per user / mo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10131A"/>
                          </a:solidFill>
                          <a:latin typeface="Consolas"/>
                        </a:rPr>
                        <a:t>1,000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10131A"/>
                          </a:solidFill>
                          <a:latin typeface="Consolas"/>
                        </a:rPr>
                        <a:t>0.7 TB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10131A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10131A"/>
                          </a:solidFill>
                          <a:latin typeface="Consolas"/>
                        </a:rPr>
                        <a:t>$168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10131A"/>
                          </a:solidFill>
                          <a:latin typeface="Consolas"/>
                        </a:rPr>
                        <a:t>$2,010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10131A"/>
                          </a:solidFill>
                          <a:latin typeface="Consolas"/>
                        </a:rPr>
                        <a:t>$0.168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0131A"/>
                          </a:solidFill>
                          <a:latin typeface="Consolas"/>
                        </a:rPr>
                        <a:t>5,000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0131A"/>
                          </a:solidFill>
                          <a:latin typeface="Consolas"/>
                        </a:rPr>
                        <a:t>4.9 TB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0131A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0131A"/>
                          </a:solidFill>
                          <a:latin typeface="Consolas"/>
                        </a:rPr>
                        <a:t>$316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0131A"/>
                          </a:solidFill>
                          <a:latin typeface="Consolas"/>
                        </a:rPr>
                        <a:t>$3,790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0131A"/>
                          </a:solidFill>
                          <a:latin typeface="Consolas"/>
                        </a:rPr>
                        <a:t>$0.063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0131A"/>
                          </a:solidFill>
                          <a:latin typeface="Consolas"/>
                        </a:rPr>
                        <a:t>10,000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0131A"/>
                          </a:solidFill>
                          <a:latin typeface="Consolas"/>
                        </a:rPr>
                        <a:t>14 TB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0131A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0131A"/>
                          </a:solidFill>
                          <a:latin typeface="Consolas"/>
                        </a:rPr>
                        <a:t>$799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0131A"/>
                          </a:solidFill>
                          <a:latin typeface="Consolas"/>
                        </a:rPr>
                        <a:t>$9,588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0131A"/>
                          </a:solidFill>
                          <a:latin typeface="Consolas"/>
                        </a:rPr>
                        <a:t>$0.080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0131A"/>
                          </a:solidFill>
                          <a:latin typeface="Consolas"/>
                        </a:rPr>
                        <a:t>100,000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0131A"/>
                          </a:solidFill>
                          <a:latin typeface="Consolas"/>
                        </a:rPr>
                        <a:t>270 TB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0131A"/>
                          </a:solidFill>
                          <a:latin typeface="Consolas"/>
                        </a:rPr>
                        <a:t>1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0131A"/>
                          </a:solidFill>
                          <a:latin typeface="Consolas"/>
                        </a:rPr>
                        <a:t>$8,958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0131A"/>
                          </a:solidFill>
                          <a:latin typeface="Consolas"/>
                        </a:rPr>
                        <a:t>$107,496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0131A"/>
                          </a:solidFill>
                          <a:latin typeface="Consolas"/>
                        </a:rPr>
                        <a:t>$0.090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0131A"/>
                          </a:solidFill>
                          <a:latin typeface="Consolas"/>
                        </a:rPr>
                        <a:t>500,000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0131A"/>
                          </a:solidFill>
                          <a:latin typeface="Consolas"/>
                        </a:rPr>
                        <a:t>2.19 PB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0131A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0131A"/>
                          </a:solidFill>
                          <a:latin typeface="Consolas"/>
                        </a:rPr>
                        <a:t>$58,770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0131A"/>
                          </a:solidFill>
                          <a:latin typeface="Consolas"/>
                        </a:rPr>
                        <a:t>$705,240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10131A"/>
                          </a:solidFill>
                          <a:latin typeface="Consolas"/>
                        </a:rPr>
                        <a:t>$0.118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10131A"/>
                          </a:solidFill>
                          <a:latin typeface="Consolas"/>
                        </a:rPr>
                        <a:t>1,000,000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10131A"/>
                          </a:solidFill>
                          <a:latin typeface="Consolas"/>
                        </a:rPr>
                        <a:t>5.32 PB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10131A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10131A"/>
                          </a:solidFill>
                          <a:latin typeface="Consolas"/>
                        </a:rPr>
                        <a:t>$131,842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10131A"/>
                          </a:solidFill>
                          <a:latin typeface="Consolas"/>
                        </a:rPr>
                        <a:t>$1,582,104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10131A"/>
                          </a:solidFill>
                          <a:latin typeface="Consolas"/>
                        </a:rPr>
                        <a:t>$0.132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" y="4608575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AF3327"/>
                </a:solidFill>
                <a:latin typeface="Consolas"/>
              </a:rPr>
              <a:t>WHAT CHANGES ON THE WAY UP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4919471"/>
            <a:ext cx="29260" cy="310896"/>
          </a:xfrm>
          <a:prstGeom prst="rect">
            <a:avLst/>
          </a:prstGeom>
          <a:solidFill>
            <a:srgbClr val="0E6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4910327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0E6A60"/>
                </a:solidFill>
                <a:latin typeface="Calibri"/>
              </a:rPr>
              <a:t>Config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05456" y="4919471"/>
            <a:ext cx="886327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38414F"/>
                </a:solidFill>
                <a:latin typeface="Calibri"/>
              </a:rPr>
              <a:t>container size · database capacity · transcode concurrency · cold-storage rule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5303519"/>
            <a:ext cx="29260" cy="310896"/>
          </a:xfrm>
          <a:prstGeom prst="rect">
            <a:avLst/>
          </a:prstGeom>
          <a:solidFill>
            <a:srgbClr val="22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5294375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22304A"/>
                </a:solidFill>
                <a:latin typeface="Calibri"/>
              </a:rPr>
              <a:t>Added later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05456" y="5303519"/>
            <a:ext cx="886327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38414F"/>
                </a:solidFill>
                <a:latin typeface="Calibri"/>
              </a:rPr>
              <a:t>read replicas at 150K · 2nd region at 150K · 3rd at 500K · search &amp; analytics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5687567"/>
            <a:ext cx="29260" cy="310896"/>
          </a:xfrm>
          <a:prstGeom prst="rect">
            <a:avLst/>
          </a:prstGeom>
          <a:solidFill>
            <a:srgbClr val="0E6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5678423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0E6A60"/>
                </a:solidFill>
                <a:latin typeface="Calibri"/>
              </a:rPr>
              <a:t>No change at 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05456" y="5687567"/>
            <a:ext cx="886327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38414F"/>
                </a:solidFill>
                <a:latin typeface="Calibri"/>
              </a:rPr>
              <a:t>object storage — the same bucket holds 0.7 TB and 5.32 PB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6071615"/>
            <a:ext cx="29260" cy="310896"/>
          </a:xfrm>
          <a:prstGeom prst="rect">
            <a:avLst/>
          </a:prstGeom>
          <a:solidFill>
            <a:srgbClr val="5C66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6062471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5C6675"/>
                </a:solidFill>
                <a:latin typeface="Calibri"/>
              </a:rPr>
              <a:t>Never needed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05456" y="6071615"/>
            <a:ext cx="886327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38414F"/>
                </a:solidFill>
                <a:latin typeface="Calibri"/>
              </a:rPr>
              <a:t>sharding · multi-master · Kubernetes · message broker · service mesh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382512"/>
            <a:ext cx="869996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C6675"/>
                </a:solidFill>
                <a:latin typeface="Consolas"/>
              </a:rPr>
              <a:t>Cost scaling · 1K to 1M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18927" y="638251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>
                <a:solidFill>
                  <a:srgbClr val="5C6675"/>
                </a:solidFill>
                <a:latin typeface="Consolas"/>
              </a:rPr>
              <a:t>04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AF3327"/>
                </a:solidFill>
                <a:latin typeface="Consolas"/>
              </a:rPr>
              <a:t>05 / WHERE THE MONEY GOES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700" b="0">
                <a:solidFill>
                  <a:srgbClr val="10131A"/>
                </a:solidFill>
                <a:latin typeface="Georgia"/>
              </a:rPr>
              <a:t>Three quarters of the bill is storage that never goes 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16736"/>
            <a:ext cx="93524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5C6675"/>
                </a:solidFill>
                <a:latin typeface="Calibri"/>
              </a:rPr>
              <a:t>At one million users. Storage is the only line that does not fall when traffic falls — in an archive, nobody deletes anything.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746504"/>
            <a:ext cx="822960" cy="32004"/>
          </a:xfrm>
          <a:prstGeom prst="rect">
            <a:avLst/>
          </a:prstGeom>
          <a:solidFill>
            <a:srgbClr val="FF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011679"/>
            <a:ext cx="3794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0131A"/>
                </a:solidFill>
                <a:latin typeface="Calibri"/>
              </a:rPr>
              <a:t>Object storage — two copies, two vendors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98848" y="2011679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>
                <a:solidFill>
                  <a:srgbClr val="10131A"/>
                </a:solidFill>
                <a:latin typeface="Consolas"/>
              </a:rPr>
              <a:t>$96,514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614416" y="2043684"/>
            <a:ext cx="850392" cy="169164"/>
          </a:xfrm>
          <a:prstGeom prst="rect">
            <a:avLst/>
          </a:prstGeom>
          <a:solidFill>
            <a:srgbClr val="ED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14416" y="2043684"/>
            <a:ext cx="850392" cy="169164"/>
          </a:xfrm>
          <a:prstGeom prst="rect">
            <a:avLst/>
          </a:prstGeom>
          <a:solidFill>
            <a:srgbClr val="FF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14416" y="2244851"/>
            <a:ext cx="8503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C6675"/>
                </a:solidFill>
                <a:latin typeface="Consolas"/>
              </a:rPr>
              <a:t>73%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510027"/>
            <a:ext cx="3794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0131A"/>
                </a:solidFill>
                <a:latin typeface="Calibri"/>
              </a:rPr>
              <a:t>Database — 1 writer, 3 read replicas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848" y="2510027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10131A"/>
                </a:solidFill>
                <a:latin typeface="Consolas"/>
              </a:rPr>
              <a:t>$9,560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14416" y="2542032"/>
            <a:ext cx="850392" cy="169164"/>
          </a:xfrm>
          <a:prstGeom prst="rect">
            <a:avLst/>
          </a:prstGeom>
          <a:solidFill>
            <a:srgbClr val="ED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14416" y="2542032"/>
            <a:ext cx="81544" cy="169164"/>
          </a:xfrm>
          <a:prstGeom prst="rect">
            <a:avLst/>
          </a:prstGeom>
          <a:solidFill>
            <a:srgbClr val="22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14416" y="2743199"/>
            <a:ext cx="8503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C6675"/>
                </a:solidFill>
                <a:latin typeface="Consolas"/>
              </a:rPr>
              <a:t>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008376"/>
            <a:ext cx="3794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0131A"/>
                </a:solidFill>
                <a:latin typeface="Calibri"/>
              </a:rPr>
              <a:t>AI — captions, recaps, transcription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3008376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10131A"/>
                </a:solidFill>
                <a:latin typeface="Consolas"/>
              </a:rPr>
              <a:t>$7,400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14416" y="3040380"/>
            <a:ext cx="850392" cy="169164"/>
          </a:xfrm>
          <a:prstGeom prst="rect">
            <a:avLst/>
          </a:prstGeom>
          <a:solidFill>
            <a:srgbClr val="ED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14416" y="3040380"/>
            <a:ext cx="69895" cy="169164"/>
          </a:xfrm>
          <a:prstGeom prst="rect">
            <a:avLst/>
          </a:prstGeom>
          <a:solidFill>
            <a:srgbClr val="22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14416" y="3241548"/>
            <a:ext cx="8503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C6675"/>
                </a:solidFill>
                <a:latin typeface="Consolas"/>
              </a:rPr>
              <a:t>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3506724"/>
            <a:ext cx="3794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0131A"/>
                </a:solidFill>
                <a:latin typeface="Calibri"/>
              </a:rPr>
              <a:t>Compute — web, workers, transcode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8848" y="3506724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10131A"/>
                </a:solidFill>
                <a:latin typeface="Consolas"/>
              </a:rPr>
              <a:t>$7,168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14416" y="3538728"/>
            <a:ext cx="850392" cy="169164"/>
          </a:xfrm>
          <a:prstGeom prst="rect">
            <a:avLst/>
          </a:prstGeom>
          <a:solidFill>
            <a:srgbClr val="ED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14416" y="3538728"/>
            <a:ext cx="58246" cy="169164"/>
          </a:xfrm>
          <a:prstGeom prst="rect">
            <a:avLst/>
          </a:prstGeom>
          <a:solidFill>
            <a:srgbClr val="22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14416" y="3739896"/>
            <a:ext cx="8503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C6675"/>
                </a:solidFill>
                <a:latin typeface="Consolas"/>
              </a:rPr>
              <a:t>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4005072"/>
            <a:ext cx="3794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0131A"/>
                </a:solidFill>
                <a:latin typeface="Calibri"/>
              </a:rPr>
              <a:t>CDN, WAF and bot management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98848" y="4005072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10131A"/>
                </a:solidFill>
                <a:latin typeface="Consolas"/>
              </a:rPr>
              <a:t>$5,600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14416" y="4037076"/>
            <a:ext cx="850392" cy="169164"/>
          </a:xfrm>
          <a:prstGeom prst="rect">
            <a:avLst/>
          </a:prstGeom>
          <a:solidFill>
            <a:srgbClr val="ED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14416" y="4037076"/>
            <a:ext cx="46596" cy="169164"/>
          </a:xfrm>
          <a:prstGeom prst="rect">
            <a:avLst/>
          </a:prstGeom>
          <a:solidFill>
            <a:srgbClr val="22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14416" y="4238244"/>
            <a:ext cx="8503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C6675"/>
                </a:solidFill>
                <a:latin typeface="Consolas"/>
              </a:rPr>
              <a:t>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4503420"/>
            <a:ext cx="3794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0131A"/>
                </a:solidFill>
                <a:latin typeface="Calibri"/>
              </a:rPr>
              <a:t>Monitoring and analytics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98848" y="4503420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10131A"/>
                </a:solidFill>
                <a:latin typeface="Consolas"/>
              </a:rPr>
              <a:t>$3,000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14416" y="4535424"/>
            <a:ext cx="850392" cy="169164"/>
          </a:xfrm>
          <a:prstGeom prst="rect">
            <a:avLst/>
          </a:prstGeom>
          <a:solidFill>
            <a:srgbClr val="ED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14416" y="4535424"/>
            <a:ext cx="23298" cy="169164"/>
          </a:xfrm>
          <a:prstGeom prst="rect">
            <a:avLst/>
          </a:prstGeom>
          <a:solidFill>
            <a:srgbClr val="22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14416" y="4736592"/>
            <a:ext cx="8503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C6675"/>
                </a:solidFill>
                <a:latin typeface="Consolas"/>
              </a:rPr>
              <a:t>2%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5001768"/>
            <a:ext cx="3794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0131A"/>
                </a:solidFill>
                <a:latin typeface="Calibri"/>
              </a:rPr>
              <a:t>Email, SMS and WhatsApp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98848" y="5001768"/>
            <a:ext cx="960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10131A"/>
                </a:solidFill>
                <a:latin typeface="Consolas"/>
              </a:rPr>
              <a:t>$2,600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14416" y="5033772"/>
            <a:ext cx="850392" cy="169164"/>
          </a:xfrm>
          <a:prstGeom prst="rect">
            <a:avLst/>
          </a:prstGeom>
          <a:solidFill>
            <a:srgbClr val="ED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614416" y="5033772"/>
            <a:ext cx="23298" cy="169164"/>
          </a:xfrm>
          <a:prstGeom prst="rect">
            <a:avLst/>
          </a:prstGeom>
          <a:solidFill>
            <a:srgbClr val="22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14416" y="5234940"/>
            <a:ext cx="8503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C6675"/>
                </a:solidFill>
                <a:latin typeface="Consolas"/>
              </a:rPr>
              <a:t>2%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5596127"/>
            <a:ext cx="5806440" cy="402336"/>
          </a:xfrm>
          <a:prstGeom prst="rect">
            <a:avLst/>
          </a:prstGeom>
          <a:solidFill>
            <a:srgbClr val="22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4672" y="5687567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onsolas"/>
              </a:rPr>
              <a:t>TOTAL PER MONTH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24528" y="5650991"/>
            <a:ext cx="20848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500" b="1">
                <a:solidFill>
                  <a:srgbClr val="FFFFFF"/>
                </a:solidFill>
                <a:latin typeface="Georgia"/>
              </a:rPr>
              <a:t>$131,842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30568" y="1975103"/>
            <a:ext cx="47027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5C6675"/>
                </a:solidFill>
                <a:latin typeface="Consolas"/>
              </a:rPr>
              <a:t>BANDWIDTH DELIVERED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30568" y="2249423"/>
            <a:ext cx="47027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>
                <a:solidFill>
                  <a:srgbClr val="0E6A60"/>
                </a:solidFill>
                <a:latin typeface="Georgia"/>
              </a:rPr>
              <a:t>$0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30568" y="2860597"/>
            <a:ext cx="470275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100" b="0">
                <a:solidFill>
                  <a:srgbClr val="38414F"/>
                </a:solidFill>
                <a:latin typeface="Calibri"/>
              </a:rPr>
              <a:t>300 TB leaves the platform every month at no charge. On a conventional cloud that same egress is about $27,000 a month — more than compute, database, load balancing and monitoring added together.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830568" y="3840479"/>
            <a:ext cx="4702759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830568" y="3840479"/>
            <a:ext cx="41148" cy="1280160"/>
          </a:xfrm>
          <a:prstGeom prst="rect">
            <a:avLst/>
          </a:prstGeom>
          <a:solidFill>
            <a:srgbClr val="FF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031736" y="3986783"/>
            <a:ext cx="430042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AF3327"/>
                </a:solidFill>
                <a:latin typeface="Consolas"/>
              </a:rPr>
              <a:t>COST PER USER RISES, AND THAT IS NORMAL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31736" y="4261103"/>
            <a:ext cx="4300423" cy="7132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38414F"/>
                </a:solidFill>
                <a:latin typeface="Calibri"/>
              </a:rPr>
              <a:t>$0.080 at ten thousand users, $0.132 at a million. A member who joined two years ago costs more this month than in their first month.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30568" y="5248656"/>
            <a:ext cx="4702759" cy="749808"/>
          </a:xfrm>
          <a:prstGeom prst="rect">
            <a:avLst/>
          </a:prstGeom>
          <a:solidFill>
            <a:srgbClr val="E6F2F0"/>
          </a:solidFill>
          <a:ln w="9525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30568" y="5248656"/>
            <a:ext cx="41148" cy="749808"/>
          </a:xfrm>
          <a:prstGeom prst="rect">
            <a:avLst/>
          </a:prstGeom>
          <a:solidFill>
            <a:srgbClr val="0E6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31736" y="5394960"/>
            <a:ext cx="430042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0E6A60"/>
                </a:solidFill>
                <a:latin typeface="Consolas"/>
              </a:rPr>
              <a:t>NOT A SAVING TO TAKE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31736" y="5669280"/>
            <a:ext cx="4300423" cy="182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38414F"/>
                </a:solidFill>
                <a:latin typeface="Calibri"/>
              </a:rPr>
              <a:t>The second storage copy is 19% of the bill. It is what makes a twenty-year promise survivable.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8368" y="6382512"/>
            <a:ext cx="869996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C6675"/>
                </a:solidFill>
                <a:latin typeface="Consolas"/>
              </a:rPr>
              <a:t>Cost anatomy at 1M users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618927" y="638251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>
                <a:solidFill>
                  <a:srgbClr val="5C6675"/>
                </a:solidFill>
                <a:latin typeface="Consolas"/>
              </a:rPr>
              <a:t>05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AF3327"/>
                </a:solidFill>
                <a:latin typeface="Consolas"/>
              </a:rPr>
              <a:t>06 / UNIT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700" b="0">
                <a:solidFill>
                  <a:srgbClr val="10131A"/>
                </a:solidFill>
                <a:latin typeface="Georgia"/>
              </a:rPr>
              <a:t>56% gross margin, and it stays flat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16736"/>
            <a:ext cx="93524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5C6675"/>
                </a:solidFill>
                <a:latin typeface="Calibri"/>
              </a:rPr>
              <a:t>Cost to serve one paying member each month, by plan and market, against the net revenue that member actually produces.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746504"/>
            <a:ext cx="822960" cy="32004"/>
          </a:xfrm>
          <a:prstGeom prst="rect">
            <a:avLst/>
          </a:prstGeom>
          <a:solidFill>
            <a:srgbClr val="FF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956815"/>
          <a:ext cx="9774936" cy="2148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95728"/>
                <a:gridCol w="1170432"/>
                <a:gridCol w="932688"/>
                <a:gridCol w="804672"/>
                <a:gridCol w="731520"/>
                <a:gridCol w="960120"/>
                <a:gridCol w="786384"/>
                <a:gridCol w="1078992"/>
                <a:gridCol w="91440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Plan / market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Net revenue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Storage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Infra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AI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Channels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Fees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Total cost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Margin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Premium — United States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0131A"/>
                          </a:solidFill>
                          <a:latin typeface="Consolas"/>
                        </a:rPr>
                        <a:t>$6.93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$1.08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$0.09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$0.11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$0.02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$0.39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$1.69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0131A"/>
                          </a:solidFill>
                          <a:latin typeface="Consolas"/>
                        </a:rPr>
                        <a:t>76%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Premium — EU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0131A"/>
                          </a:solidFill>
                          <a:latin typeface="Consolas"/>
                        </a:rPr>
                        <a:t>$5.80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$1.08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$0.09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$0.11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$0.02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$0.28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$1.58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0131A"/>
                          </a:solidFill>
                          <a:latin typeface="Consolas"/>
                        </a:rPr>
                        <a:t>73%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Premium — India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0131A"/>
                          </a:solidFill>
                          <a:latin typeface="Consolas"/>
                        </a:rPr>
                        <a:t>$3.33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$1.08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$0.09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$0.11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$0.02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$0.08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$1.38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0131A"/>
                          </a:solidFill>
                          <a:latin typeface="Consolas"/>
                        </a:rPr>
                        <a:t>59%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Premium — SE Asia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0131A"/>
                          </a:solidFill>
                          <a:latin typeface="Consolas"/>
                        </a:rPr>
                        <a:t>$3.11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$1.08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$0.09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$0.11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$0.02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$0.16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$1.46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0131A"/>
                          </a:solidFill>
                          <a:latin typeface="Consolas"/>
                        </a:rPr>
                        <a:t>53%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Family — India, revised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0131A"/>
                          </a:solidFill>
                          <a:latin typeface="Consolas"/>
                        </a:rPr>
                        <a:t>$8.31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$3.25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$0.28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$0.32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$0.06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$0.20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$4.10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0131A"/>
                          </a:solidFill>
                          <a:latin typeface="Consolas"/>
                        </a:rPr>
                        <a:t>51%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Free member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0131A"/>
                          </a:solidFill>
                          <a:latin typeface="Consolas"/>
                        </a:rPr>
                        <a:t>$0.00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$0.03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$0.03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$0.00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$0.00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$0.06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0131A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58368" y="4288536"/>
            <a:ext cx="2517571" cy="1133856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4443983"/>
            <a:ext cx="217009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C6675"/>
                </a:solidFill>
                <a:latin typeface="Consolas"/>
              </a:rPr>
              <a:t>GROSS MARGIN AT SCALE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4700016"/>
            <a:ext cx="217009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0E6A60"/>
                </a:solidFill>
                <a:latin typeface="Georgia"/>
              </a:rPr>
              <a:t>56%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5138927"/>
            <a:ext cx="217009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8414F"/>
                </a:solidFill>
                <a:latin typeface="Calibri"/>
              </a:rPr>
              <a:t>flat from 100K users to 1M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77107" y="4288536"/>
            <a:ext cx="2517571" cy="1133856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59987" y="4443983"/>
            <a:ext cx="217009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C6675"/>
                </a:solidFill>
                <a:latin typeface="Consolas"/>
              </a:rPr>
              <a:t>NET REVENUE PER PAYER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59987" y="4700016"/>
            <a:ext cx="217009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10131A"/>
                </a:solidFill>
                <a:latin typeface="Georgia"/>
              </a:rPr>
              <a:t>$4.74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9987" y="5138927"/>
            <a:ext cx="217009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8414F"/>
                </a:solidFill>
                <a:latin typeface="Calibri"/>
              </a:rPr>
              <a:t>blended across all markets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5847" y="4288536"/>
            <a:ext cx="2517571" cy="1133856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8727" y="4443983"/>
            <a:ext cx="217009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C6675"/>
                </a:solidFill>
                <a:latin typeface="Consolas"/>
              </a:rPr>
              <a:t>COST TO SERVE A PAYER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8727" y="4700016"/>
            <a:ext cx="217009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10131A"/>
                </a:solidFill>
                <a:latin typeface="Georgia"/>
              </a:rPr>
              <a:t>$1.88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8727" y="5138927"/>
            <a:ext cx="217009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8414F"/>
                </a:solidFill>
                <a:latin typeface="Calibri"/>
              </a:rPr>
              <a:t>infrastructure plus fees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14587" y="4288536"/>
            <a:ext cx="2517571" cy="1133856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97467" y="4443983"/>
            <a:ext cx="217009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C6675"/>
                </a:solidFill>
                <a:latin typeface="Consolas"/>
              </a:rPr>
              <a:t>COST OF A FREE MEMBER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97467" y="4700016"/>
            <a:ext cx="217009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10131A"/>
                </a:solidFill>
                <a:latin typeface="Georgia"/>
              </a:rPr>
              <a:t>5.9¢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97467" y="5138927"/>
            <a:ext cx="217009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8414F"/>
                </a:solidFill>
                <a:latin typeface="Calibri"/>
              </a:rPr>
              <a:t>per month, all 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5541264"/>
            <a:ext cx="10874959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5541264"/>
            <a:ext cx="41148" cy="731520"/>
          </a:xfrm>
          <a:prstGeom prst="rect">
            <a:avLst/>
          </a:prstGeom>
          <a:solidFill>
            <a:srgbClr val="FF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" y="5687568"/>
            <a:ext cx="1047262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AF3327"/>
                </a:solidFill>
                <a:latin typeface="Consolas"/>
              </a:rPr>
              <a:t>THE FREE PLAN IS THE DISTRIBUTION CHANNEL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" y="5961888"/>
            <a:ext cx="1047262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38414F"/>
                </a:solidFill>
                <a:latin typeface="Calibri"/>
              </a:rPr>
              <a:t>At one million users, 929,000 free members cost $54,800 a month — funded by 71,000 payers. That is the intended trade: every delivered capsule introduces the product to somebody who never signed up for it.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382512"/>
            <a:ext cx="869996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C6675"/>
                </a:solidFill>
                <a:latin typeface="Consolas"/>
              </a:rPr>
              <a:t>Unit economics &amp; margin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18927" y="638251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>
                <a:solidFill>
                  <a:srgbClr val="5C6675"/>
                </a:solidFill>
                <a:latin typeface="Consolas"/>
              </a:rPr>
              <a:t>06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AF3327"/>
                </a:solidFill>
                <a:latin typeface="Consolas"/>
              </a:rPr>
              <a:t>07 / BREAK-EVEN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700" b="0">
                <a:solidFill>
                  <a:srgbClr val="10131A"/>
                </a:solidFill>
                <a:latin typeface="Georgia"/>
              </a:rPr>
              <a:t>Profitable at 365,000 users, in month 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16736"/>
            <a:ext cx="93524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5C6675"/>
                </a:solidFill>
                <a:latin typeface="Calibri"/>
              </a:rPr>
              <a:t>Revenue covers infrastructure, payment fees, the team and the cost of acquiring users. The figures below are the baseline plan.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746504"/>
            <a:ext cx="822960" cy="32004"/>
          </a:xfrm>
          <a:prstGeom prst="rect">
            <a:avLst/>
          </a:prstGeom>
          <a:solidFill>
            <a:srgbClr val="FF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956815"/>
            <a:ext cx="2517571" cy="13350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139696"/>
            <a:ext cx="217009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C6675"/>
                </a:solidFill>
                <a:latin typeface="Consolas"/>
              </a:rPr>
              <a:t>USERS — EXCLUDING GROWTH SPEND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414015"/>
            <a:ext cx="217009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0">
                <a:solidFill>
                  <a:srgbClr val="10131A"/>
                </a:solidFill>
                <a:latin typeface="Georgia"/>
              </a:rPr>
              <a:t>179,000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889503"/>
            <a:ext cx="217009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38414F"/>
                </a:solidFill>
                <a:latin typeface="Calibri"/>
              </a:rPr>
              <a:t>the product pays for itself if acquisition stops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77107" y="1956815"/>
            <a:ext cx="2517571" cy="1335024"/>
          </a:xfrm>
          <a:prstGeom prst="rect">
            <a:avLst/>
          </a:prstGeom>
          <a:solidFill>
            <a:srgbClr val="FFF0EE"/>
          </a:solidFill>
          <a:ln w="9525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9987" y="2139696"/>
            <a:ext cx="217009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AF3327"/>
                </a:solidFill>
                <a:latin typeface="Consolas"/>
              </a:rPr>
              <a:t>USERS — INCLUDING GROWTH SPEND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9987" y="2414015"/>
            <a:ext cx="217009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0">
                <a:solidFill>
                  <a:srgbClr val="10131A"/>
                </a:solidFill>
                <a:latin typeface="Georgia"/>
              </a:rPr>
              <a:t>365,000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59987" y="2889503"/>
            <a:ext cx="217009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38414F"/>
                </a:solidFill>
                <a:latin typeface="Calibri"/>
              </a:rPr>
              <a:t>the number to plan against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5847" y="1956815"/>
            <a:ext cx="2517571" cy="13350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8727" y="2139696"/>
            <a:ext cx="217009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C6675"/>
                </a:solidFill>
                <a:latin typeface="Consolas"/>
              </a:rPr>
              <a:t>FIRST PROFITABLE MONTH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8727" y="2414015"/>
            <a:ext cx="217009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0">
                <a:solidFill>
                  <a:srgbClr val="10131A"/>
                </a:solidFill>
                <a:latin typeface="Georgia"/>
              </a:rPr>
              <a:t>Month 29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8727" y="2889503"/>
            <a:ext cx="217009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38414F"/>
                </a:solidFill>
                <a:latin typeface="Calibri"/>
              </a:rPr>
              <a:t>on the modelled growth ramp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14587" y="1956815"/>
            <a:ext cx="2517571" cy="13350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97467" y="2139696"/>
            <a:ext cx="217009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C6675"/>
                </a:solidFill>
                <a:latin typeface="Consolas"/>
              </a:rPr>
              <a:t>CAPITAL REQUIRED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7467" y="2414015"/>
            <a:ext cx="2170099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0">
                <a:solidFill>
                  <a:srgbClr val="10131A"/>
                </a:solidFill>
                <a:latin typeface="Georgia"/>
              </a:rPr>
              <a:t>~$540,000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97467" y="2889503"/>
            <a:ext cx="217009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>
                <a:solidFill>
                  <a:srgbClr val="38414F"/>
                </a:solidFill>
                <a:latin typeface="Calibri"/>
              </a:rPr>
              <a:t>$420K peak drawdown + $120K build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3529583"/>
            <a:ext cx="108749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AF3327"/>
                </a:solidFill>
                <a:latin typeface="Consolas"/>
              </a:rPr>
              <a:t>PROFIT AND LOSS BY SCALE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58368" y="3822191"/>
          <a:ext cx="6793991" cy="19842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74519"/>
                <a:gridCol w="1207008"/>
                <a:gridCol w="1207008"/>
                <a:gridCol w="1207008"/>
                <a:gridCol w="1298448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Per month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10,000 users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100,000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500,000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1,000,000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0131A"/>
                          </a:solidFill>
                          <a:latin typeface="Calibri"/>
                        </a:rPr>
                        <a:t>Net revenue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0131A"/>
                          </a:solidFill>
                          <a:latin typeface="Consolas"/>
                        </a:rPr>
                        <a:t>$1,218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0131A"/>
                          </a:solidFill>
                          <a:latin typeface="Consolas"/>
                        </a:rPr>
                        <a:t>$21,650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0131A"/>
                          </a:solidFill>
                          <a:latin typeface="Consolas"/>
                        </a:rPr>
                        <a:t>$149,500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0131A"/>
                          </a:solidFill>
                          <a:latin typeface="Consolas"/>
                        </a:rPr>
                        <a:t>$331,800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Infrastructure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-$799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-$8,708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-$58,870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-$131,842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Payment fees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-$51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-$880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-$5,945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-$13,060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Team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-$17,000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-$21,000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-$32,000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-$45,000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Growth marketing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-$750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-$7,500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-$37,500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-$75,000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0131A"/>
                          </a:solidFill>
                          <a:latin typeface="Calibri"/>
                        </a:rPr>
                        <a:t>Net result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0131A"/>
                          </a:solidFill>
                          <a:latin typeface="Consolas"/>
                        </a:rPr>
                        <a:t>-$17,382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0131A"/>
                          </a:solidFill>
                          <a:latin typeface="Consolas"/>
                        </a:rPr>
                        <a:t>-$16,438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0131A"/>
                          </a:solidFill>
                          <a:latin typeface="Consolas"/>
                        </a:rPr>
                        <a:t>+$15,185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0131A"/>
                          </a:solidFill>
                          <a:latin typeface="Consolas"/>
                        </a:rPr>
                        <a:t>+$66,898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7744968" y="3529583"/>
            <a:ext cx="37883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AF3327"/>
                </a:solidFill>
                <a:latin typeface="Consolas"/>
              </a:rPr>
              <a:t>WHAT MOVES IT MOST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7744968" y="3822191"/>
          <a:ext cx="3785616" cy="19842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96896"/>
                <a:gridCol w="118872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Change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Break-even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0131A"/>
                          </a:solidFill>
                          <a:latin typeface="Calibri"/>
                        </a:rPr>
                        <a:t>Onboarding: more long-horizon attempts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131A"/>
                          </a:solidFill>
                          <a:latin typeface="Consolas"/>
                        </a:rPr>
                        <a:t>215,000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0131A"/>
                          </a:solidFill>
                          <a:latin typeface="Calibri"/>
                        </a:rPr>
                        <a:t>Add a ₹199 entry tier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131A"/>
                          </a:solidFill>
                          <a:latin typeface="Consolas"/>
                        </a:rPr>
                        <a:t>204,000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0131A"/>
                          </a:solidFill>
                          <a:latin typeface="Calibri"/>
                        </a:rPr>
                        <a:t>Price +10% across markets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131A"/>
                          </a:solidFill>
                          <a:latin typeface="Consolas"/>
                        </a:rPr>
                        <a:t>284,000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0131A"/>
                          </a:solidFill>
                          <a:latin typeface="Calibri"/>
                        </a:rPr>
                        <a:t>Referral-led — lower cost per user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131A"/>
                          </a:solidFill>
                          <a:latin typeface="Consolas"/>
                        </a:rPr>
                        <a:t>298,000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0131A"/>
                          </a:solidFill>
                          <a:latin typeface="Calibri"/>
                        </a:rPr>
                        <a:t>All four together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10131A"/>
                          </a:solidFill>
                          <a:latin typeface="Consolas"/>
                        </a:rPr>
                        <a:t>140,000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0131A"/>
                          </a:solidFill>
                          <a:latin typeface="Calibri"/>
                        </a:rPr>
                        <a:t>Conversion 1 point lower</a:t>
                      </a:r>
                    </a:p>
                  </a:txBody>
                  <a:tcPr marL="82296" marR="82296" marT="18288" marB="18288" anchor="ctr">
                    <a:solidFill>
                      <a:srgbClr val="FDF3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10131A"/>
                          </a:solidFill>
                          <a:latin typeface="Consolas"/>
                        </a:rPr>
                        <a:t>519,000</a:t>
                      </a:r>
                    </a:p>
                  </a:txBody>
                  <a:tcPr marL="82296" marR="82296" marT="18288" marB="18288" anchor="ctr">
                    <a:solidFill>
                      <a:srgbClr val="FDF3E2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58368" y="6382512"/>
            <a:ext cx="869996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C6675"/>
                </a:solidFill>
                <a:latin typeface="Consolas"/>
              </a:rPr>
              <a:t>Break-even &amp; sensitivity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18927" y="638251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>
                <a:solidFill>
                  <a:srgbClr val="5C6675"/>
                </a:solidFill>
                <a:latin typeface="Consolas"/>
              </a:rPr>
              <a:t>07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AF3327"/>
                </a:solidFill>
                <a:latin typeface="Consolas"/>
              </a:rPr>
              <a:t>08 / HOSTING, MAINTENANCE &amp; MARKETING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700" b="0">
                <a:solidFill>
                  <a:srgbClr val="10131A"/>
                </a:solidFill>
                <a:latin typeface="Georgia"/>
              </a:rPr>
              <a:t>Three-year cost of ownership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16736"/>
            <a:ext cx="93524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5C6675"/>
                </a:solidFill>
                <a:latin typeface="Calibri"/>
              </a:rPr>
              <a:t>What it costs to run the platform and to grow it, against the modelled user ramp. Hosting is billed on actual usage; maintenance is a fixed monthly commitment.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746504"/>
            <a:ext cx="822960" cy="32004"/>
          </a:xfrm>
          <a:prstGeom prst="rect">
            <a:avLst/>
          </a:prstGeom>
          <a:solidFill>
            <a:srgbClr val="FF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956815"/>
            <a:ext cx="6903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AF3327"/>
                </a:solidFill>
                <a:latin typeface="Consolas"/>
              </a:rPr>
              <a:t>COST TO RUN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2249423"/>
          <a:ext cx="7086600" cy="22311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95728"/>
                <a:gridCol w="1115568"/>
                <a:gridCol w="1170432"/>
                <a:gridCol w="1170432"/>
                <a:gridCol w="123444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Year 1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Year 2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Year 3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Three-year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Average users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10,900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118,900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436,100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Hosting, as recommended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$9,900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$118,740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$468,936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$597,576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Maintenance &amp; support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$33,408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$76,356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$124,080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$233,844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Third-party renewals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$85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$85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$85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$255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0131A"/>
                          </a:solidFill>
                          <a:latin typeface="Calibri"/>
                        </a:rPr>
                        <a:t>Cost to run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0131A"/>
                          </a:solidFill>
                          <a:latin typeface="Consolas"/>
                        </a:rPr>
                        <a:t>$43,393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0131A"/>
                          </a:solidFill>
                          <a:latin typeface="Consolas"/>
                        </a:rPr>
                        <a:t>$195,181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0131A"/>
                          </a:solidFill>
                          <a:latin typeface="Consolas"/>
                        </a:rPr>
                        <a:t>$593,101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0131A"/>
                          </a:solidFill>
                          <a:latin typeface="Consolas"/>
                        </a:rPr>
                        <a:t>$831,675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One-time build, Release 1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$120,000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$120,000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0131A"/>
                          </a:solidFill>
                          <a:latin typeface="Calibri"/>
                        </a:rPr>
                        <a:t>Total cost of ownership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0131A"/>
                          </a:solidFill>
                          <a:latin typeface="Consolas"/>
                        </a:rPr>
                        <a:t>$163,493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0131A"/>
                          </a:solidFill>
                          <a:latin typeface="Consolas"/>
                        </a:rPr>
                        <a:t>$195,181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0131A"/>
                          </a:solidFill>
                          <a:latin typeface="Consolas"/>
                        </a:rPr>
                        <a:t>$593,101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0131A"/>
                          </a:solidFill>
                          <a:latin typeface="Consolas"/>
                        </a:rPr>
                        <a:t>$951,775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4517136"/>
            <a:ext cx="6903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AF3327"/>
                </a:solidFill>
                <a:latin typeface="Consolas"/>
              </a:rPr>
              <a:t>MONTHLY BILLING VERSUS AN ANNUAL COMMITMENT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" y="4809744"/>
          <a:ext cx="7086600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8720"/>
                <a:gridCol w="1298448"/>
                <a:gridCol w="1691640"/>
                <a:gridCol w="868680"/>
                <a:gridCol w="2039112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Pay monthly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Annual commitment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Saving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Recommendation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Year 1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$9,900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$8,415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15%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stay monthly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Year 2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$129,552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$118,740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8%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commit in part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Year 3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$594,146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$468,936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21%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commit fully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0131A"/>
                          </a:solidFill>
                          <a:latin typeface="Calibri"/>
                        </a:rPr>
                        <a:t>Three-year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0131A"/>
                          </a:solidFill>
                          <a:latin typeface="Consolas"/>
                        </a:rPr>
                        <a:t>$733,598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0131A"/>
                          </a:solidFill>
                          <a:latin typeface="Consolas"/>
                        </a:rPr>
                        <a:t>$597,576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0131A"/>
                          </a:solidFill>
                          <a:latin typeface="Consolas"/>
                        </a:rPr>
                        <a:t>19%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0131A"/>
                          </a:solidFill>
                          <a:latin typeface="Calibri"/>
                        </a:rPr>
                        <a:t>staged, as above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019288" y="1956815"/>
            <a:ext cx="35140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AF3327"/>
                </a:solidFill>
                <a:latin typeface="Consolas"/>
              </a:rPr>
              <a:t>COST TO GROW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8019288" y="2249423"/>
          <a:ext cx="3511296" cy="19842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17320"/>
                <a:gridCol w="1005840"/>
                <a:gridCol w="1088136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Phase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Per month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Phase total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0131A"/>
                          </a:solidFill>
                          <a:latin typeface="Calibri"/>
                        </a:rPr>
                        <a:t>Pre-launch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$420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$841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0131A"/>
                          </a:solidFill>
                          <a:latin typeface="Calibri"/>
                        </a:rPr>
                        <a:t>1K → 10K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$2,500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$15,000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0131A"/>
                          </a:solidFill>
                          <a:latin typeface="Calibri"/>
                        </a:rPr>
                        <a:t>10K → 100K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$7,500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$90,000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0131A"/>
                          </a:solidFill>
                          <a:latin typeface="Calibri"/>
                        </a:rPr>
                        <a:t>100K → 500K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$37,500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$600,000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0131A"/>
                          </a:solidFill>
                          <a:latin typeface="Calibri"/>
                        </a:rPr>
                        <a:t>500K → 1M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$75,000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10131A"/>
                          </a:solidFill>
                          <a:latin typeface="Consolas"/>
                        </a:rPr>
                        <a:t>$750,000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0131A"/>
                          </a:solidFill>
                          <a:latin typeface="Calibri"/>
                        </a:rPr>
                        <a:t>To one million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0131A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10131A"/>
                          </a:solidFill>
                          <a:latin typeface="Consolas"/>
                        </a:rPr>
                        <a:t>$1,455,841</a:t>
                      </a:r>
                    </a:p>
                  </a:txBody>
                  <a:tcPr marL="82296" marR="82296" marT="18288" marB="18288" anchor="ctr">
                    <a:solidFill>
                      <a:srgbClr val="FFF0EE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8019288" y="4389120"/>
            <a:ext cx="3514039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19288" y="4389120"/>
            <a:ext cx="41148" cy="1170432"/>
          </a:xfrm>
          <a:prstGeom prst="rect">
            <a:avLst/>
          </a:prstGeom>
          <a:solidFill>
            <a:srgbClr val="FF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0456" y="4535424"/>
            <a:ext cx="311170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AF3327"/>
                </a:solidFill>
                <a:latin typeface="Consolas"/>
              </a:rPr>
              <a:t>ACQUISITION COST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0456" y="4809744"/>
            <a:ext cx="3111703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38414F"/>
                </a:solidFill>
                <a:latin typeface="Calibri"/>
              </a:rPr>
              <a:t>$1.46 blended per user. The cheapest channel is the product itself — every delivered capsule reaches somebody new at no cost.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19288" y="5596127"/>
            <a:ext cx="3514039" cy="731520"/>
          </a:xfrm>
          <a:prstGeom prst="rect">
            <a:avLst/>
          </a:prstGeom>
          <a:solidFill>
            <a:srgbClr val="E6F2F0"/>
          </a:solidFill>
          <a:ln w="9525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19288" y="5596127"/>
            <a:ext cx="41148" cy="731520"/>
          </a:xfrm>
          <a:prstGeom prst="rect">
            <a:avLst/>
          </a:prstGeom>
          <a:solidFill>
            <a:srgbClr val="0E6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0456" y="5742431"/>
            <a:ext cx="311170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0E6A60"/>
                </a:solidFill>
                <a:latin typeface="Consolas"/>
              </a:rPr>
              <a:t>NO SOFTWARE LICENCES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0456" y="6016751"/>
            <a:ext cx="311170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38414F"/>
                </a:solidFill>
                <a:latin typeface="Calibri"/>
              </a:rPr>
              <a:t>Nothing renews per seat or per core. The whole renewal list is a domain, cloud usage, and one SMS registration.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382512"/>
            <a:ext cx="869996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C6675"/>
                </a:solidFill>
                <a:latin typeface="Consolas"/>
              </a:rPr>
              <a:t>Three-year TCO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18927" y="638251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>
                <a:solidFill>
                  <a:srgbClr val="5C6675"/>
                </a:solidFill>
                <a:latin typeface="Consolas"/>
              </a:rPr>
              <a:t>08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8749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AF3327"/>
                </a:solidFill>
                <a:latin typeface="Consolas"/>
              </a:rPr>
              <a:t>09 / ALTERNATIVE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2700" b="0">
                <a:solidFill>
                  <a:srgbClr val="10131A"/>
                </a:solidFill>
                <a:latin typeface="Georgia"/>
              </a:rPr>
              <a:t>A lower-cost VPS option, and what it trades 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16736"/>
            <a:ext cx="93524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5C6675"/>
                </a:solidFill>
                <a:latin typeface="Calibri"/>
              </a:rPr>
              <a:t>If the priority is minimum cash outlay in year one, the platform can launch on virtual private servers instead. The saving is real; so is the cost of moving later.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746504"/>
            <a:ext cx="822960" cy="32004"/>
          </a:xfrm>
          <a:prstGeom prst="rect">
            <a:avLst/>
          </a:prstGeom>
          <a:solidFill>
            <a:srgbClr val="FF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956815"/>
          <a:ext cx="7406639" cy="23088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74519"/>
                <a:gridCol w="1993392"/>
                <a:gridCol w="1920240"/>
                <a:gridCol w="1618488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Recommended — AWS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VPS — lean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VPS — safer</a:t>
                      </a:r>
                    </a:p>
                  </a:txBody>
                  <a:tcPr marL="82296" marR="82296" marT="18288" marB="18288" anchor="ctr">
                    <a:solidFill>
                      <a:srgbClr val="22304A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Application server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Fargate, autoscaled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1 × VPS 3 vCPU/4 GB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2 × VPS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Database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Aurora, managed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self-managed, same box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managed MySQL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Media storage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R2 + Backblaze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R2 + Backblaze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R2 + Backblaze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10131A"/>
                          </a:solidFill>
                          <a:latin typeface="Calibri"/>
                        </a:rPr>
                        <a:t>CDN, WAF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Cloudflare Pro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Cloudflare Free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10131A"/>
                          </a:solidFill>
                          <a:latin typeface="Consolas"/>
                        </a:rPr>
                        <a:t>Cloudflare Pro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0131A"/>
                          </a:solidFill>
                          <a:latin typeface="Calibri"/>
                        </a:rPr>
                        <a:t>Cost per month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0131A"/>
                          </a:solidFill>
                          <a:latin typeface="Consolas"/>
                        </a:rPr>
                        <a:t>$168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0131A"/>
                          </a:solidFill>
                          <a:latin typeface="Consolas"/>
                        </a:rPr>
                        <a:t>$25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0131A"/>
                          </a:solidFill>
                          <a:latin typeface="Consolas"/>
                        </a:rPr>
                        <a:t>$70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0131A"/>
                          </a:solidFill>
                          <a:latin typeface="Calibri"/>
                        </a:rPr>
                        <a:t>Cost per year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0131A"/>
                          </a:solidFill>
                          <a:latin typeface="Consolas"/>
                        </a:rPr>
                        <a:t>$2,010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0131A"/>
                          </a:solidFill>
                          <a:latin typeface="Consolas"/>
                        </a:rPr>
                        <a:t>$300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0131A"/>
                          </a:solidFill>
                          <a:latin typeface="Consolas"/>
                        </a:rPr>
                        <a:t>$840</a:t>
                      </a:r>
                    </a:p>
                  </a:txBody>
                  <a:tcPr marL="82296" marR="82296" marT="18288" marB="18288" anchor="ctr">
                    <a:solidFill>
                      <a:srgbClr val="EDF0F5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0131A"/>
                          </a:solidFill>
                          <a:latin typeface="Calibri"/>
                        </a:rPr>
                        <a:t>Saving per year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0131A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0131A"/>
                          </a:solidFill>
                          <a:latin typeface="Consolas"/>
                        </a:rPr>
                        <a:t>$1,710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10131A"/>
                          </a:solidFill>
                          <a:latin typeface="Consolas"/>
                        </a:rPr>
                        <a:t>$1,170</a:t>
                      </a:r>
                    </a:p>
                  </a:txBody>
                  <a:tcPr marL="82296" marR="82296" marT="18288" marB="18288" anchor="ctr">
                    <a:solidFill>
                      <a:srgbClr val="E6F2F0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357616" y="1956815"/>
            <a:ext cx="3175711" cy="1097280"/>
          </a:xfrm>
          <a:prstGeom prst="rect">
            <a:avLst/>
          </a:prstGeom>
          <a:solidFill>
            <a:srgbClr val="E6F2F0"/>
          </a:solidFill>
          <a:ln w="9525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357616" y="1956815"/>
            <a:ext cx="41148" cy="1097280"/>
          </a:xfrm>
          <a:prstGeom prst="rect">
            <a:avLst/>
          </a:prstGeom>
          <a:solidFill>
            <a:srgbClr val="0E6A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58784" y="2103120"/>
            <a:ext cx="27733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0E6A60"/>
                </a:solidFill>
                <a:latin typeface="Consolas"/>
              </a:rPr>
              <a:t>WHERE VPS GENUINELY FITS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58784" y="2377439"/>
            <a:ext cx="2773375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38414F"/>
                </a:solidFill>
                <a:latin typeface="Calibri"/>
              </a:rPr>
              <a:t>A pilot or closed beta below roughly ten thousand users, to validate demand on the smallest possible outlay.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57616" y="3182111"/>
            <a:ext cx="3175711" cy="119786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57616" y="3182111"/>
            <a:ext cx="41148" cy="1197864"/>
          </a:xfrm>
          <a:prstGeom prst="rect">
            <a:avLst/>
          </a:prstGeom>
          <a:solidFill>
            <a:srgbClr val="FF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58784" y="3328415"/>
            <a:ext cx="27733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AF3327"/>
                </a:solidFill>
                <a:latin typeface="Consolas"/>
              </a:rPr>
              <a:t>OUR RECOMMENDATION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58784" y="3602735"/>
            <a:ext cx="2773375" cy="630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38414F"/>
                </a:solidFill>
                <a:latin typeface="Calibri"/>
              </a:rPr>
              <a:t>Start on the managed stack. The $1,710 saved in year one is repaid many times over by one migration — arriving exactly when the team is busiest.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498848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AF3327"/>
                </a:solidFill>
                <a:latin typeface="Consolas"/>
              </a:rPr>
              <a:t>WHAT THE SAVING COSTS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796028"/>
            <a:ext cx="29260" cy="201168"/>
          </a:xfrm>
          <a:prstGeom prst="rect">
            <a:avLst/>
          </a:prstGeom>
          <a:solidFill>
            <a:srgbClr val="FF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4754880"/>
            <a:ext cx="3931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0131A"/>
                </a:solidFill>
                <a:latin typeface="Calibri"/>
              </a:rPr>
              <a:t>Migration to AWS becomes unavoidable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64607" y="4764024"/>
            <a:ext cx="65315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8414F"/>
                </a:solidFill>
                <a:latin typeface="Calibri"/>
              </a:rPr>
              <a:t>at 50,000–200,000 users · 4–8 weeks of engineering · $16,000–$32,000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5097780"/>
            <a:ext cx="29260" cy="201168"/>
          </a:xfrm>
          <a:prstGeom prst="rect">
            <a:avLst/>
          </a:prstGeom>
          <a:solidFill>
            <a:srgbClr val="FF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" y="5056632"/>
            <a:ext cx="3931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0131A"/>
                </a:solidFill>
                <a:latin typeface="Calibri"/>
              </a:rPr>
              <a:t>The delivery guarantee sits on one machine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64607" y="5065776"/>
            <a:ext cx="65315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8414F"/>
                </a:solidFill>
                <a:latin typeface="Calibri"/>
              </a:rPr>
              <a:t>self-managed MySQL, hand-rolled backups, no point-in-time recovery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5399532"/>
            <a:ext cx="29260" cy="201168"/>
          </a:xfrm>
          <a:prstGeom prst="rect">
            <a:avLst/>
          </a:prstGeom>
          <a:solidFill>
            <a:srgbClr val="FF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59" y="5358384"/>
            <a:ext cx="3931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0131A"/>
                </a:solidFill>
                <a:latin typeface="Calibri"/>
              </a:rPr>
              <a:t>No zero-downtime deployment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4607" y="5367528"/>
            <a:ext cx="65315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8414F"/>
                </a:solidFill>
                <a:latin typeface="Calibri"/>
              </a:rPr>
              <a:t>no load-balancer target groups, so releases and rollbacks take the app offline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5701284"/>
            <a:ext cx="29260" cy="201168"/>
          </a:xfrm>
          <a:prstGeom prst="rect">
            <a:avLst/>
          </a:prstGeom>
          <a:solidFill>
            <a:srgbClr val="FF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59" y="5660136"/>
            <a:ext cx="3931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0131A"/>
                </a:solidFill>
                <a:latin typeface="Calibri"/>
              </a:rPr>
              <a:t>Scaling stops being a number change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64607" y="5669280"/>
            <a:ext cx="65315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8414F"/>
                </a:solidFill>
                <a:latin typeface="Calibri"/>
              </a:rPr>
              <a:t>resizing a VPS is a reboot, and storage is not replicated across zones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6003036"/>
            <a:ext cx="29260" cy="201168"/>
          </a:xfrm>
          <a:prstGeom prst="rect">
            <a:avLst/>
          </a:prstGeom>
          <a:solidFill>
            <a:srgbClr val="FF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59" y="5961888"/>
            <a:ext cx="3931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0131A"/>
                </a:solidFill>
                <a:latin typeface="Calibri"/>
              </a:rPr>
              <a:t>Operations become the team’s job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64607" y="5971032"/>
            <a:ext cx="65315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8414F"/>
                </a:solidFill>
                <a:latin typeface="Calibri"/>
              </a:rPr>
              <a:t>patching, monitoring, backup verification and quarterly restore drills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82512"/>
            <a:ext cx="869996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C6675"/>
                </a:solidFill>
                <a:latin typeface="Consolas"/>
              </a:rPr>
              <a:t>Alternative hosting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18927" y="638251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>
                <a:solidFill>
                  <a:srgbClr val="5C6675"/>
                </a:solidFill>
                <a:latin typeface="Consolas"/>
              </a:rPr>
              <a:t>09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